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art" id="{0025da46-dbd7-12b7-c105-ff5db90325ba}">
          <p14:sldIdLst>
            <p14:sldId id="256"/>
          </p14:sldIdLst>
        </p14:section>
        <p14:section name="Unternehmen" id="{75c84b40-97e3-dc44-00d2-576c17733ef3}">
          <p14:sldIdLst>
            <p14:sldId id="257"/>
            <p14:sldId id="258"/>
            <p14:sldId id="259"/>
          </p14:sldIdLst>
        </p14:section>
        <p14:section name="Homepage" id="{d4459560-07be-590b-150c-50a817349150}">
          <p14:sldIdLst>
            <p14:sldId id="260"/>
            <p14:sldId id="261"/>
          </p14:sldIdLst>
        </p14:section>
        <p14:section name="Abschluss" id="{8bbe3d33-4bef-4d64-dc9e-852b70d930d6}">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(ca. 30 Sekunden):
Wir sind die LootLager UG (haftungsbeschränkt). Wir verkaufen Gaming-Zubehör mit Custom Designs: Unsere Kunden bekommen ihr eigenes Design, entweder selbst hochgeladen oder von uns gestaltet. Unsere Marke heißt genauso wie die Firma: LootLager. Unser Slogan ist „Level up dein Setup.“ Als Rechtsform haben wir die UG (haftungsbeschränkt) gewählt: Wir haften nicht mit unserem Privatvermögen und brauchen kein großes Startkapital.
NACHFRAGE „Warum die UG?“:
Wir sind zwei Gründer und wollen nicht mit unserem Privatvermögen haften. Für eine GmbH fehlen uns die 25.000 € Stammkapital. Die UG gibt uns die beschränkte Haftung schon ab 1 € Stammkapital.
NACHFRAGE „Wer führt die Geschäfte?“:
Wir beide: Nick und Luca sind gemeinsam Geschäftsführer.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Wir verkaufen Gaming-Zubehör, das unsere Kunden selbst gestalten können. Man wählt ein Produkt aus, lädt ein eigenes Motiv hoch oder lässt es von uns gestalten, und wir produzieren und versenden es.
Unser Sortiment hat fünf Produkte: das XXL-Mauspad für 24,99 €, den Controller-Skin für 14,99 €, Custom Keycaps im 4er-Set für 19,99 €, das LED-Schild für 49,99 € und den Headset-Halter für 29,99 €.
Unsere Zielgruppe sind Gamer und Streamer zwischen 16 und 30, die ein einzigartiges Setup wollen.
SIND DIE PREISE ECHT?
Nein. Unsere Gründung ist fiktiv, deshalb haben wir uns die Preise ausgedacht. Alle Preise sind inklusive Mehrwertsteuer gemeint.
WOHER SIND DIE PRODUKTBILDER?
Die haben wir mit Gemini erstellt, einer KI von Google. Die Produkte gibt es noch nicht in echt, die Bilder zeigen, wie sie aussehen sollen.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„Loot“ ist in Videospielen die Beute, die man als Belohnung bekommt. „Lager“ steht für unseren Shop, in dem alles für dein Gaming-Setup bereitliegt. Der Name ist kurz, passt zu unserer Zielgruppe und ist durch das doppelte L leicht zu merken.
Logo: Die Truhe ist eine Loot-Kiste wie in Videospielen. Wer bei uns bestellt, bekommt seine Belohnung. Violett und Türkis sind typische Gaming-Farben. Das Logo haben wir mit ChatGPT erstellt.
NACHFRAGE „Unterschied Firma und Marke?“:
Die Firma ist der rechtliche Name unseres Unternehmens. Sie steht im Handelsregister und enthält die Rechtsform: LootLager UG (haftungsbeschränkt). Die Marke ist der Name, unter dem die Kunden unseren Shop und unsere Produkte kennen: LootLager. Bei uns heißen beide gleich, so erkennt man uns leichter wieder.
NACHFRAGE „Gibt es den Namen schon?“:
Unsere Gründung ist fiktiv, deshalb nehmen wir an, dass der Name frei ist. Eine kurze Websuche hat keinen Shop „LootLager“ gefunden. Bei einer echten Gründung würden wir im Handelsregister nach der Firma suchen und beim DPMA nach der Marke.
UNSERE DOMAIN:
Die Domain ist die Adresse, unter der man unseren Shop im Internet findet. Wir nehmen lootlager.de, also genau unseren Markennamen. So findet man uns leicht.
NACHFRAGE „Ist die Domain frei?“:
Nein, in echt ist lootlager.de schon vergeben. Das zeigt die Abfrage bei der DENIC (Stand 13.10.2026). Weil unsere Gründung fiktiv ist, tun wir so, als wäre sie frei. Online stellen können wir den Shop trotzdem: über die kostenlose Netlify-Adresse lootlager.netlify.app.
NACHFRAGE „Wie habt ihr das Logo gemacht?“:
Mit ChatGPT. Unser Prompt, gekürzt: „Erstelle ein Logo für unseren Onlineshop LootLager. Symbol: eine stilisierte, leicht geöffnete Schatztruhe wie eine Loot-Kiste aus Videospielen, aus der helles Licht strahlt. Schriftzug LootLager daneben, Loot in Violett, Lager in Türkis. Stil: flaches Vektor-Design, klare Formen, Hintergrund weiß, kein weiterer Text.“ Der ganze Prompt steht in unserer Planung in Abschnitt 4.
NACHFRAGE „Im Prompt stehen LED-Leisten und Controller-Ständer?“:
Stimmt. Das Logo war zuerst fertig, das Sortiment haben wir danach festgelegt. Das Logo zeigt nur die Truhe und kein Produkt, deshalb passt es weiterhin.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Als Rechtsform haben wir die UG (haftungsbeschränkt) gewählt. Dafür gibt es vier Gründe. Erstens: Die Haftung ist beschränkt. Bei Schulden haftet nur die Firma, nicht unser Privatvermögen. Zweitens: Wir brauchen wenig Startkapital. Eine UG kann man schon ab 1 € gründen, wir starten mit 1.000 €, jeder zahlt 500 € ein. Drittens: Die UG passt zu zwei Gründern. Wir halten je 50 % und führen die Geschäfte gemeinsam. Viertens: Wir können wachsen. Sobald das Stammkapital 25.000 € erreicht, können wir zur GmbH werden.
Es gibt auch Nachteile: Ein Viertel vom Gewinn müssen wir jedes Jahr zurücklegen. Notar und Handelsregister kosten Geld. Und Banken und Lieferanten vertrauen einer UG weniger als einer GmbH. Eine GmbH wäre die Alternative, aber dafür fehlen uns die 25.000 € Stammkapital.
WARUM DIE UG?
Wir sind zwei Gründer und wollen nicht mit unserem Privatvermögen haften. Für eine GmbH fehlen uns die 25.000 € Stammkapital. Die UG gibt uns die beschränkte Haftung schon ab 1 € Stammkapital.
WAS HEISST HAFTUNGSBESCHRÄNKT?
Wenn die Firma Schulden hat, haftet nur das Vermögen der Gesellschaft. Unser privates Geld ist geschützt.
WARUM KEINE GbR ODER OHG?
Dort haftet jeder Gesellschafter unbeschränkt mit seinem Privatvermögen, auch für die Schulden der anderen. Im Onlinehandel ist das zu riskant, z. B. bei Abmahnungen oder wenn wir auf Ware sitzen bleiben.
WARUM KEIN EINZELUNTERNEHMEN?
Ein Einzelunternehmen hat nur einen Inhaber, wir sind aber zu zweit. Außerdem haftet der Inhaber unbeschränkt.
WIE VIEL STAMMKAPITAL?
1.000 €. Nick und Luca sind die Gesellschafter und zahlen je 500 € ein.
WER FÜHRT DIE GESCHÄFTE?
Wir beide: Nick und Luca sind gemeinsam Geschäftsführer. Die Geschäftsführung bestimmen die Gesellschafter, und das sind bei uns auch wir zwei.
WIE GRÜNDET MAN EINE UG?
Gesellschaftsvertrag beim Notar → Stammkapital einzahlen → Eintrag ins Handelsregister → Gewerbe anmelden → Finanzamt.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Für unsere Homepage haben wir vier Möglichkeiten verglichen: Netlify, Claude Code, Shopify und Jimdo. Dafür haben wir in Excel eine Nutzwertanalyse gemacht. Die Datei heißt Nutzwertanalyse.xlsx.
Links stehen unsere sechs Kriterien. Jedes Kriterium hat eine Gewichtung, am wichtigsten sind uns die Kosten mit 25 %. Jeder Anbieter bekommt pro Kriterium 1 bis 10 Punkte. Excel multipliziert die Punkte mit der Gewichtung und zählt alles zusammen. Das macht die Formel SUMMENPRODUKT in der letzten Zeile.
Netlify hat mit 7,65 Punkten gewonnen, knapp vor Shopify mit 7,45 Punkten. Dann kommen Jimdo mit 6,85 und Claude Code mit 5,65 Punkten.
WAS SIND DIE VIER ANBIETER?
Netlify ist ein Hosting-Anbieter aus den USA: Man baut die Seite selbst und Netlify stellt sie ins Internet. Claude Code ist ein KI-Werkzeug von Anthropic, das Webseiten programmiert. Shopify ist ein Mietshop aus Kanada, bei dem alles fertig ist. Jimdo ist ein Homepage-Baukasten aus Hamburg.
WARUM HAT NETLIFY GEWONNEN?
Wegen der Kosten und der Freiheit beim Design. Der Free-Tarif kostet 0 € im Monat, und eine eigene Domain mit HTTPS ist dabei. Weil wir die Seite selbst bauen, sieht sie genau so aus, wie wir wollen. Das passt zu unserer Idee mit den Custom Designs.
CLAUDE CODE IST DOCH KEIN ANBIETER FÜR HOMEPAGES?
Stimmt. Claude Code programmiert die Seite, stellt sie aber nicht ins Internet. Deshalb gibt es bei „Domain und Hosting“ nur 1 Punkt. Wir haben es trotzdem verglichen, weil wir unsere Seite damit gebaut haben. Am Ende kombinieren wir beides: gebaut mit Claude Code, online bei Netlify.
WARUM NICHT SHOPIFY? DA IST DOCH ALLES FERTIG.
Stimmt, bei Warenkorb und Zahlung ist Shopify am besten, deshalb 10 Punkte. Aber Shopify kostet ab 25 € im Monat, und beim Design sind wir an die Vorlagen gebunden. Für einen echten Shop mit vielen Bestellungen wäre Shopify eine gute zweite Wahl.
WARUM NICHT JIMDO?
Jimdo ist einfach und aus Deutschland, deshalb gut beim Datenschutz. Aber beim Design und bei den Shop-Funktionen ist es eingeschränkt.
WIE KOMMT IHR AUF DIE PUNKTE?
Die Punkte haben wir selbst vergeben. Die Preise kommen von netlify.com und aus Preisvergleichen im Internet, Stand 13.10.2026.
NETLIFY BEKOMMT BEI DEN KOSTEN 10 PUNKTE. IHR BRAUCHT ABER CLAUDE CODE FÜR 21 €?
Stimmt, das Abo brauchen wir zum Bauen. Aber nur, solange wir an der Seite arbeiten. Danach können wir es kündigen, und die Seite läuft bei Netlify für 0 € weiter. Bei Shopify und Jimdo zahlen wir jeden Monat, solange es den Shop gibt.
WIE SICHER IST DAS ERGEBNIS?
Es ist knapp: 7,65 gegen 7,45 Punkte. Das Ergebnis hängt an unserer Gewichtung. Uns sind die Kosten am wichtigsten, weil wir wenig Startkapital haben. Wäre uns die Zahlung wichtiger als die Kosten, würde Shopify gewinnen: Mit 20 % für die Kosten und 20 % für Warenkorb und Zahlung hätte Shopify 7,70 Punkte und Netlify 7,35. Deshalb ist Shopify unsere zweite Wahl, sobald wir echte Bestellungen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Wir haben uns für Netlify entschieden. Netlify ist ein Hosting-Anbieter: Wir bauen die Seite selbst, und Netlify stellt sie ins Internet. Der Free-Tarif kostet nichts. Dazu bekommen wir eine kostenlose Adresse, nämlich lootlager.netlify.app, und können später unsere eigene Domain anschließen. HTTPS, also die sichere Verbindung, ist automatisch dabei.
Gebaut haben wir die Seite mit Claude Code, einer KI, die programmieren kann. Dadurch sind wir beim Design frei und nicht an einen Baukasten gebunden. Online geht die Seite, indem wir den Ordner bei Netlify hochladen oder unser GitHub-Projekt verbinden.
Rechts seht ihr unsere Startseite: oben das Logo, die Suche und der Warenkorb. Darunter der Slogan „Level up dein Setup.“ und der Button „Jetzt gestalten“. Dann kommen unsere fünf Produkte. Die Bilder dazu haben wir mit Gemini erstellt. Weiter unten kann man ein eigenes Motiv hochladen und sieht sofort eine Vorschau.
LIVE-DEMO (ca. 1 Minute, falls Internet und Zeit da sind):
1. Shop öffnen und zu „Eigenes Design“ gehen. 2. Produkt wählen, ein Bild hochladen, Gamertag eintippen: Die Vorschau ändert sich sofort. 3. „In den Warenkorb“ klicken und den Warenkorb öffnen. 4. „Zur Kasse“: Testdaten eintragen und auf „Zahlungspflichtig bestellen“ klicken. Ohne Internet geht es auch: im Projektordner shop/index.html doppelklicken.
HAT NETLIFY AUCH NACHTEILE?
Ja. Netlify ist kein fertiges Shopsystem. Den Warenkorb haben wir selbst gebaut, und eine echte Zahlung müssten wir noch einbauen, zum Beispiel mit PayPal oder Stripe. Netlify ist ein Unternehmen aus den USA. Die Seite wird zwar über ein weltweites Netz von Servern ausgeliefert, in Europa zum Beispiel aus Frankfurt. Trotzdem können Daten in die USA gehen, das müssen wir in der Datenschutzerklärung angeben. Und Rechtstexte wie AGB bekommen wir nicht mitgeliefert. Die würden wir bei einem Anbieter wie dem Händlerbund holen und nicht selbst schreiben, weil Fehler zu Abmahnungen führen können.
KANN MAN BEI EUCH WIRKLICH BESTELLEN?
Nein. Der Shop ist eine Demo für unser Schulprojekt. Man kann Produkte in den Warenkorb legen und an der Kasse eine Testbestellung durchspielen, mit Adresse und Zahlungsart. Am Ende kommt der Hinweis, dass nichts bestellt und nichts gespeichert wurde.
WAS KOSTET NETLIFY, WENN DER SHOP GRÖSSER WIRD?
Im Free-Tarif sind 300 Credits im Monat dabei. Jede Veröffentlichung kostet 15 Credits. Wenn das nicht mehr reicht, gibt es den Tarif Personal für 9 Dollar und Pro für 20 Dollar im Monat.
WARUM STEHT DA NICHT „30 TAGE RÜCKGABE“?
Weil die meisten Produkte nach Kundenwunsch bedruckt werden. Für Produkte mit eigenem Motiv oder Gamertag gibt es kein Widerrufsrecht (§ 312g Abs. 2 Nr. 1 BGB). Darauf müssen wir in der Widerrufsbelehrung hinweisen. Deshalb zeigen wir vor dem Kauf eine Design-Vorschau.
UND WENN ICH EIN PRODUKT MIT EUREM DESIGN KAUFE?
Dann gilt das normale Widerrufsrecht: Man kann den Kauf 14 Tage lang ohne Grund widerrufen. Die Ausnahme gilt nur für Produkte, die extra für einen Kunden angefertigt werden.
WELCHE PFLICHTSEITEN BRAUCHT EIN SHOP?
Impressum (§ 5 DDG), Datenschutzerklärung (DSGVO), AGB, Widerrufsbelehrung sowie Infos zu Versand und Zahlung. Auf unserer Seite stehen sie unten im Footer unter „Rechtliches“.
WARUM HEISST DER KNOPF „ZAHLUNGSPFLICHTIG BESTELLEN“?
Das ist die Button-Lösung aus § 312j Abs. 3 BGB. Der letzte Knopf muss eindeutig zeigen, dass es ab jetzt Geld kostet. Direkt darüber steht der Gesamtpreis mit Mehrwertsteuer und Versand.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Zum Schluss unser Fazit: Wir gründen die LootLager UG (haftungsbeschränkt) mit 1.000 € Stammkapital. Unsere Marke heißt LootLager, unser Slogan ist „Level up dein Setup.“ Unsere Domain ist lootlager.de. Den Shop haben wir mit Claude Code gebaut und stellen ihn mit Netlify ins Internet. Unser Logo haben wir mit ChatGPT erstellt, die Bilder mit Gemini.
Als Nächstes würden wir den Gesellschaftsvertrag beim Notar beurkunden lassen und das Stammkapital einzahlen. Dann melden wir uns beim Handelsregister, beim Gewerbeamt und beim Finanzamt an. Danach verbinden wir die Domain lootlager.de mit Netlify und melden die Marke beim DPMA an. Zum Schluss bauen wir die Zahlung ein, ergänzen die Rechtstexte, machen eine Testbestellung und starten mit Werbung auf Instagram und TikTok.
WARUM DIE MARKE ANMELDEN?
Damit niemand anderes den Namen LootLager für Gaming-Zubehör nutzen darf. Eine Marke beim DPMA gilt 10 Jahre und kann verlängert werden. Unser KI-Logo ist sonst kaum geschützt, weil rein KI-generierte Bilder meist kein Urheberrecht haben.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SPRECHTEXT:
Vielen Dank fürs Zuhören! Habt ihr noch Fragen?
Wer unseren Shop ausprobieren will: Der QR-Code führt zu lootlager.netlify.app. (Vorher prüfen, dass der Shop unter genau dieser Adresse online ist.)
WOHER SIND DIE BILDER?
Die Produktbilder, das Bild mit der Truhe auf der Startseite und dieses Bild vom Schreibtisch haben wir mit Gemini erstellt, einer KI von Google. Das Logo ist von ChatGPT. Die Prompts stehen in unserem Projekt im Ordner assets/ki-bilder.
GIBT ES DIE PRODUKTE SCHON?
Nein. Unsere Gründung ist fiktiv. Die Bilder zeigen, wie die Produkte aussehen sollen.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LL-Titel-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LL-Inhalt-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LL-Abschluss-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L Titel">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212848"/>
            <a:ext cx="6492240" cy="1463040"/>
          </a:xfrm>
          <a:prstGeom prst="rect">
            <a:avLst/>
          </a:prstGeom>
          <a:noFill/>
          <a:ln/>
        </p:spPr>
        <p:txBody>
          <a:bodyPr wrap="square" rtlCol="0"/>
          <a:lstStyle>
            <a:lvl1pPr algn="l" indent="0" marL="0">
              <a:buNone/>
              <a:defRPr lang="en-US" sz="5000" b="1" dirty="0">
                <a:solidFill>
                  <a:schemeClr val="bg1"/>
                </a:solidFill>
              </a:defRPr>
            </a:lvl1pPr>
          </a:lstStyle>
          <a:p>
            <a:pPr algn="l" indent="0" marL="0">
              <a:buNone/>
            </a:pPr>
            <a:endParaRPr lang="en-US" sz="5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L Inh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822960"/>
            <a:ext cx="11094415" cy="658368"/>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pic>
        <p:nvPicPr>
          <p:cNvPr id="3" name="Image 0" descr="LootLager-Truhe">    </p:cNvPr>
          <p:cNvPicPr>
            <a:picLocks noChangeAspect="1"/>
          </p:cNvPicPr>
          <p:nvPr/>
        </p:nvPicPr>
        <p:blipFill>
          <a:blip r:embed="rId1"/>
          <a:stretch>
            <a:fillRect/>
          </a:stretch>
        </p:blipFill>
        <p:spPr>
          <a:xfrm>
            <a:off x="548640" y="6382512"/>
            <a:ext cx="292608" cy="274320"/>
          </a:xfrm>
          <a:prstGeom prst="rect">
            <a:avLst/>
          </a:prstGeom>
        </p:spPr>
      </p:pic>
      <p:sp>
        <p:nvSpPr>
          <p:cNvPr id="4" name="Text 0"/>
          <p:cNvSpPr txBox="1"/>
          <p:nvPr/>
        </p:nvSpPr>
        <p:spPr>
          <a:xfrm>
            <a:off x="932688" y="6364224"/>
            <a:ext cx="5486400" cy="310896"/>
          </a:xfrm>
          <a:prstGeom prst="rect">
            <a:avLst/>
          </a:prstGeom>
          <a:noFill/>
          <a:ln/>
        </p:spPr>
        <p:txBody>
          <a:bodyPr wrap="square" lIns="0" tIns="0" rIns="0" bIns="0" rtlCol="0" anchor="ctr"/>
          <a:lstStyle/>
          <a:p>
            <a:pPr indent="0" marL="0">
              <a:buNone/>
            </a:pPr>
            <a:r>
              <a:rPr lang="en-US" sz="1000" dirty="0">
                <a:solidFill>
                  <a:schemeClr val="accent5"/>
                </a:solidFill>
              </a:rPr>
              <a:t>LootLager UG (haftungsbeschränkt)  ·  Gruppe 4</a:t>
            </a:r>
            <a:endParaRPr lang="en-US" sz="10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L Abschluss">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4389120" cy="91440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jpg"/><Relationship Id="rId7" Type="http://schemas.openxmlformats.org/officeDocument/2006/relationships/slideLayout" Target="../slideLayouts/slideLayout3.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3.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Karte"/>
          <p:cNvSpPr/>
          <p:nvPr/>
        </p:nvSpPr>
        <p:spPr>
          <a:xfrm>
            <a:off x="548640" y="548640"/>
            <a:ext cx="3108960" cy="868680"/>
          </a:xfrm>
          <a:prstGeom prst="roundRect">
            <a:avLst>
              <a:gd name="adj" fmla="val 18947"/>
            </a:avLst>
          </a:prstGeom>
          <a:solidFill>
            <a:schemeClr val="bg1"/>
          </a:solidFill>
          <a:ln/>
        </p:spPr>
      </p:sp>
      <p:pic>
        <p:nvPicPr>
          <p:cNvPr id="3" name="Firmenlogo" descr="Logo von LootLager: eine offene violette Schatztruhe neben dem Schriftzug LootLager">    </p:cNvPr>
          <p:cNvPicPr>
            <a:picLocks noChangeAspect="1"/>
          </p:cNvPicPr>
          <p:nvPr/>
        </p:nvPicPr>
        <p:blipFill>
          <a:blip r:embed="rId1"/>
          <a:stretch>
            <a:fillRect/>
          </a:stretch>
        </p:blipFill>
        <p:spPr>
          <a:xfrm>
            <a:off x="685800" y="598932"/>
            <a:ext cx="2834640" cy="772812"/>
          </a:xfrm>
          <a:prstGeom prst="rect">
            <a:avLst/>
          </a:prstGeom>
        </p:spPr>
      </p:pic>
      <p:sp>
        <p:nvSpPr>
          <p:cNvPr id="4" name="Kapitel"/>
          <p:cNvSpPr txBox="1"/>
          <p:nvPr/>
        </p:nvSpPr>
        <p:spPr>
          <a:xfrm>
            <a:off x="548640" y="1737360"/>
            <a:ext cx="3063240"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bg1"/>
                </a:solidFill>
              </a:rPr>
              <a:t>Gaming-Zubehör mit Custom Designs</a:t>
            </a:r>
            <a:endParaRPr lang="en-US" sz="1200" dirty="0"/>
          </a:p>
        </p:txBody>
      </p:sp>
      <p:sp>
        <p:nvSpPr>
          <p:cNvPr id="5" name="Text 0"/>
          <p:cNvSpPr/>
          <p:nvPr>
            <p:ph idx="100" type="title" hasCustomPrompt="1"/>
          </p:nvPr>
        </p:nvSpPr>
        <p:spPr>
          <a:xfrm>
            <a:off x="548640" y="2212848"/>
            <a:ext cx="6492240" cy="1463040"/>
          </a:xfrm>
          <a:prstGeom prst="rect">
            <a:avLst/>
          </a:prstGeom>
          <a:noFill/>
          <a:ln/>
        </p:spPr>
        <p:txBody>
          <a:bodyPr wrap="square" lIns="0" tIns="0" rIns="0" bIns="0" rtlCol="0" anchor="t"/>
          <a:lstStyle/>
          <a:p>
            <a:pPr algn="l" indent="0" marL="0">
              <a:buNone/>
            </a:pPr>
            <a:r>
              <a:rPr lang="en-US" sz="5000" b="1" dirty="0">
                <a:solidFill>
                  <a:schemeClr val="bg1"/>
                </a:solidFill>
              </a:rPr>
              <a:t>LootLager UG</a:t>
            </a:r>
            <a:endParaRPr lang="en-US" sz="5000" dirty="0"/>
          </a:p>
          <a:p>
            <a:pPr algn="l" indent="0" marL="0">
              <a:buNone/>
            </a:pPr>
            <a:r>
              <a:rPr lang="en-US" sz="3600" b="1" dirty="0">
                <a:solidFill>
                  <a:schemeClr val="accent2"/>
                </a:solidFill>
              </a:rPr>
              <a:t>(haftungsbeschränkt)</a:t>
            </a:r>
            <a:endParaRPr lang="en-US" sz="5000" dirty="0"/>
          </a:p>
        </p:txBody>
      </p:sp>
      <p:sp>
        <p:nvSpPr>
          <p:cNvPr id="6" name="Slogan"/>
          <p:cNvSpPr txBox="1"/>
          <p:nvPr/>
        </p:nvSpPr>
        <p:spPr>
          <a:xfrm>
            <a:off x="548640" y="3767328"/>
            <a:ext cx="6400800" cy="411480"/>
          </a:xfrm>
          <a:prstGeom prst="rect">
            <a:avLst/>
          </a:prstGeom>
          <a:noFill/>
          <a:ln/>
        </p:spPr>
        <p:txBody>
          <a:bodyPr wrap="square" lIns="0" tIns="0" rIns="0" bIns="0" rtlCol="0" anchor="t"/>
          <a:lstStyle/>
          <a:p>
            <a:pPr indent="0" marL="0">
              <a:buNone/>
            </a:pPr>
            <a:r>
              <a:rPr lang="en-US" sz="2200" i="1" dirty="0">
                <a:solidFill>
                  <a:schemeClr val="accent4"/>
                </a:solidFill>
              </a:rPr>
              <a:t>„Level up dein Setup.“</a:t>
            </a:r>
            <a:endParaRPr lang="en-US" sz="2200" dirty="0"/>
          </a:p>
        </p:txBody>
      </p:sp>
      <p:pic>
        <p:nvPicPr>
          <p:cNvPr id="7" name="Truhe" descr="Offene violette Schatztruhe, aus der Licht strahlt, mit schwebenden Gaming-Produkten">    </p:cNvPr>
          <p:cNvPicPr>
            <a:picLocks noChangeAspect="1"/>
          </p:cNvPicPr>
          <p:nvPr/>
        </p:nvPicPr>
        <p:blipFill>
          <a:blip r:embed="rId2"/>
          <a:stretch>
            <a:fillRect/>
          </a:stretch>
        </p:blipFill>
        <p:spPr>
          <a:xfrm>
            <a:off x="7223760" y="228600"/>
            <a:ext cx="4480560" cy="4480560"/>
          </a:xfrm>
          <a:prstGeom prst="rect">
            <a:avLst/>
          </a:prstGeom>
        </p:spPr>
      </p:pic>
      <p:sp>
        <p:nvSpPr>
          <p:cNvPr id="8" name="FIRMENNAME"/>
          <p:cNvSpPr/>
          <p:nvPr/>
        </p:nvSpPr>
        <p:spPr>
          <a:xfrm>
            <a:off x="548640" y="4617720"/>
            <a:ext cx="3545738" cy="1417320"/>
          </a:xfrm>
          <a:prstGeom prst="roundRect">
            <a:avLst>
              <a:gd name="adj" fmla="val 9032"/>
            </a:avLst>
          </a:prstGeom>
          <a:solidFill>
            <a:schemeClr val="bg1">
              <a:alpha val="7000"/>
            </a:schemeClr>
          </a:solidFill>
          <a:ln w="9525">
            <a:solidFill>
              <a:schemeClr val="bg1">
                <a:alpha val="14000"/>
              </a:schemeClr>
            </a:solidFill>
            <a:prstDash val="solid"/>
          </a:ln>
        </p:spPr>
      </p:sp>
      <p:sp>
        <p:nvSpPr>
          <p:cNvPr id="9" name="FIRMENNAME Kreis"/>
          <p:cNvSpPr/>
          <p:nvPr/>
        </p:nvSpPr>
        <p:spPr>
          <a:xfrm>
            <a:off x="777240" y="4818888"/>
            <a:ext cx="420624" cy="420624"/>
          </a:xfrm>
          <a:prstGeom prst="ellipse">
            <a:avLst/>
          </a:prstGeom>
          <a:solidFill>
            <a:schemeClr val="accent1"/>
          </a:solidFill>
          <a:ln/>
        </p:spPr>
      </p:sp>
      <p:pic>
        <p:nvPicPr>
          <p:cNvPr id="10" name="FIRMENNAME Icon" descr="FIRMENNAME">    </p:cNvPr>
          <p:cNvPicPr>
            <a:picLocks noChangeAspect="1"/>
          </p:cNvPicPr>
          <p:nvPr/>
        </p:nvPicPr>
        <p:blipFill>
          <a:blip r:embed="rId3"/>
          <a:stretch>
            <a:fillRect/>
          </a:stretch>
        </p:blipFill>
        <p:spPr>
          <a:xfrm>
            <a:off x="882396" y="4924044"/>
            <a:ext cx="210312" cy="210312"/>
          </a:xfrm>
          <a:prstGeom prst="rect">
            <a:avLst/>
          </a:prstGeom>
        </p:spPr>
      </p:pic>
      <p:sp>
        <p:nvSpPr>
          <p:cNvPr id="11" name="Text 6"/>
          <p:cNvSpPr txBox="1"/>
          <p:nvPr/>
        </p:nvSpPr>
        <p:spPr>
          <a:xfrm>
            <a:off x="1325880" y="4818888"/>
            <a:ext cx="2539898" cy="420624"/>
          </a:xfrm>
          <a:prstGeom prst="rect">
            <a:avLst/>
          </a:prstGeom>
          <a:noFill/>
          <a:ln/>
        </p:spPr>
        <p:txBody>
          <a:bodyPr wrap="square" lIns="0" tIns="0" rIns="0" bIns="0" rtlCol="0" anchor="ctr"/>
          <a:lstStyle/>
          <a:p>
            <a:pPr indent="0" marL="0">
              <a:buNone/>
            </a:pPr>
            <a:r>
              <a:rPr lang="en-US" sz="1100" b="1" spc="200" kern="0" dirty="0">
                <a:solidFill>
                  <a:schemeClr val="accent4"/>
                </a:solidFill>
              </a:rPr>
              <a:t>FIRMENNAME</a:t>
            </a:r>
            <a:endParaRPr lang="en-US" sz="1100" dirty="0"/>
          </a:p>
        </p:txBody>
      </p:sp>
      <p:sp>
        <p:nvSpPr>
          <p:cNvPr id="12" name="Text 7"/>
          <p:cNvSpPr txBox="1"/>
          <p:nvPr/>
        </p:nvSpPr>
        <p:spPr>
          <a:xfrm>
            <a:off x="777240" y="5349240"/>
            <a:ext cx="3179978" cy="310896"/>
          </a:xfrm>
          <a:prstGeom prst="rect">
            <a:avLst/>
          </a:prstGeom>
          <a:noFill/>
          <a:ln/>
        </p:spPr>
        <p:txBody>
          <a:bodyPr wrap="square" lIns="0" tIns="0" rIns="0" bIns="0" rtlCol="0" anchor="t"/>
          <a:lstStyle/>
          <a:p>
            <a:pPr indent="0" marL="0">
              <a:buNone/>
            </a:pPr>
            <a:r>
              <a:rPr lang="en-US" sz="1500" b="1" dirty="0">
                <a:solidFill>
                  <a:schemeClr val="bg1"/>
                </a:solidFill>
              </a:rPr>
              <a:t>LootLager UG (haftungsbeschränkt)</a:t>
            </a:r>
            <a:endParaRPr lang="en-US" sz="1500" dirty="0"/>
          </a:p>
        </p:txBody>
      </p:sp>
      <p:sp>
        <p:nvSpPr>
          <p:cNvPr id="13" name="Text 8"/>
          <p:cNvSpPr txBox="1"/>
          <p:nvPr/>
        </p:nvSpPr>
        <p:spPr>
          <a:xfrm>
            <a:off x="777240" y="5650992"/>
            <a:ext cx="3179978" cy="256032"/>
          </a:xfrm>
          <a:prstGeom prst="rect">
            <a:avLst/>
          </a:prstGeom>
          <a:noFill/>
          <a:ln/>
        </p:spPr>
        <p:txBody>
          <a:bodyPr wrap="square" lIns="0" tIns="0" rIns="0" bIns="0" rtlCol="0" anchor="t"/>
          <a:lstStyle/>
          <a:p>
            <a:pPr indent="0" marL="0">
              <a:buNone/>
            </a:pPr>
            <a:r>
              <a:rPr lang="en-US" sz="1200" dirty="0">
                <a:solidFill>
                  <a:schemeClr val="accent5"/>
                </a:solidFill>
              </a:rPr>
              <a:t>rechtlicher Name im Handelsregister</a:t>
            </a:r>
            <a:endParaRPr lang="en-US" sz="1200" dirty="0"/>
          </a:p>
        </p:txBody>
      </p:sp>
      <p:sp>
        <p:nvSpPr>
          <p:cNvPr id="14" name="RECHTSFORM"/>
          <p:cNvSpPr/>
          <p:nvPr/>
        </p:nvSpPr>
        <p:spPr>
          <a:xfrm>
            <a:off x="4322978" y="4617720"/>
            <a:ext cx="3545738" cy="1417320"/>
          </a:xfrm>
          <a:prstGeom prst="roundRect">
            <a:avLst>
              <a:gd name="adj" fmla="val 9032"/>
            </a:avLst>
          </a:prstGeom>
          <a:solidFill>
            <a:schemeClr val="bg1">
              <a:alpha val="7000"/>
            </a:schemeClr>
          </a:solidFill>
          <a:ln w="9525">
            <a:solidFill>
              <a:schemeClr val="bg1">
                <a:alpha val="14000"/>
              </a:schemeClr>
            </a:solidFill>
            <a:prstDash val="solid"/>
          </a:ln>
        </p:spPr>
      </p:sp>
      <p:sp>
        <p:nvSpPr>
          <p:cNvPr id="15" name="RECHTSFORM Kreis"/>
          <p:cNvSpPr/>
          <p:nvPr/>
        </p:nvSpPr>
        <p:spPr>
          <a:xfrm>
            <a:off x="4551578" y="4818888"/>
            <a:ext cx="420624" cy="420624"/>
          </a:xfrm>
          <a:prstGeom prst="ellipse">
            <a:avLst/>
          </a:prstGeom>
          <a:solidFill>
            <a:schemeClr val="accent1"/>
          </a:solidFill>
          <a:ln/>
        </p:spPr>
      </p:sp>
      <p:pic>
        <p:nvPicPr>
          <p:cNvPr id="16" name="RECHTSFORM Icon" descr="RECHTSFORM">    </p:cNvPr>
          <p:cNvPicPr>
            <a:picLocks noChangeAspect="1"/>
          </p:cNvPicPr>
          <p:nvPr/>
        </p:nvPicPr>
        <p:blipFill>
          <a:blip r:embed="rId4"/>
          <a:stretch>
            <a:fillRect/>
          </a:stretch>
        </p:blipFill>
        <p:spPr>
          <a:xfrm>
            <a:off x="4656734" y="4924044"/>
            <a:ext cx="210312" cy="210312"/>
          </a:xfrm>
          <a:prstGeom prst="rect">
            <a:avLst/>
          </a:prstGeom>
        </p:spPr>
      </p:pic>
      <p:sp>
        <p:nvSpPr>
          <p:cNvPr id="17" name="Text 11"/>
          <p:cNvSpPr txBox="1"/>
          <p:nvPr/>
        </p:nvSpPr>
        <p:spPr>
          <a:xfrm>
            <a:off x="5100218" y="4818888"/>
            <a:ext cx="2539898" cy="420624"/>
          </a:xfrm>
          <a:prstGeom prst="rect">
            <a:avLst/>
          </a:prstGeom>
          <a:noFill/>
          <a:ln/>
        </p:spPr>
        <p:txBody>
          <a:bodyPr wrap="square" lIns="0" tIns="0" rIns="0" bIns="0" rtlCol="0" anchor="ctr"/>
          <a:lstStyle/>
          <a:p>
            <a:pPr indent="0" marL="0">
              <a:buNone/>
            </a:pPr>
            <a:r>
              <a:rPr lang="en-US" sz="1100" b="1" spc="200" kern="0" dirty="0">
                <a:solidFill>
                  <a:schemeClr val="accent4"/>
                </a:solidFill>
              </a:rPr>
              <a:t>RECHTSFORM</a:t>
            </a:r>
            <a:endParaRPr lang="en-US" sz="1100" dirty="0"/>
          </a:p>
        </p:txBody>
      </p:sp>
      <p:sp>
        <p:nvSpPr>
          <p:cNvPr id="18" name="Text 12"/>
          <p:cNvSpPr txBox="1"/>
          <p:nvPr/>
        </p:nvSpPr>
        <p:spPr>
          <a:xfrm>
            <a:off x="4551578" y="5349240"/>
            <a:ext cx="3179978" cy="310896"/>
          </a:xfrm>
          <a:prstGeom prst="rect">
            <a:avLst/>
          </a:prstGeom>
          <a:noFill/>
          <a:ln/>
        </p:spPr>
        <p:txBody>
          <a:bodyPr wrap="square" lIns="0" tIns="0" rIns="0" bIns="0" rtlCol="0" anchor="t"/>
          <a:lstStyle/>
          <a:p>
            <a:pPr indent="0" marL="0">
              <a:buNone/>
            </a:pPr>
            <a:r>
              <a:rPr lang="en-US" sz="1500" b="1" dirty="0">
                <a:solidFill>
                  <a:schemeClr val="bg1"/>
                </a:solidFill>
              </a:rPr>
              <a:t>UG (haftungsbeschränkt)</a:t>
            </a:r>
            <a:endParaRPr lang="en-US" sz="1500" dirty="0"/>
          </a:p>
        </p:txBody>
      </p:sp>
      <p:sp>
        <p:nvSpPr>
          <p:cNvPr id="19" name="Text 13"/>
          <p:cNvSpPr txBox="1"/>
          <p:nvPr/>
        </p:nvSpPr>
        <p:spPr>
          <a:xfrm>
            <a:off x="4551578" y="5650992"/>
            <a:ext cx="3179978" cy="256032"/>
          </a:xfrm>
          <a:prstGeom prst="rect">
            <a:avLst/>
          </a:prstGeom>
          <a:noFill/>
          <a:ln/>
        </p:spPr>
        <p:txBody>
          <a:bodyPr wrap="square" lIns="0" tIns="0" rIns="0" bIns="0" rtlCol="0" anchor="t"/>
          <a:lstStyle/>
          <a:p>
            <a:pPr indent="0" marL="0">
              <a:buNone/>
            </a:pPr>
            <a:r>
              <a:rPr lang="en-US" sz="1200" dirty="0">
                <a:solidFill>
                  <a:schemeClr val="accent5"/>
                </a:solidFill>
              </a:rPr>
              <a:t>Unternehmergesellschaft nach § 5a GmbHG</a:t>
            </a:r>
            <a:endParaRPr lang="en-US" sz="1200" dirty="0"/>
          </a:p>
        </p:txBody>
      </p:sp>
      <p:sp>
        <p:nvSpPr>
          <p:cNvPr id="20" name="MARKE"/>
          <p:cNvSpPr/>
          <p:nvPr/>
        </p:nvSpPr>
        <p:spPr>
          <a:xfrm>
            <a:off x="8097317" y="4617720"/>
            <a:ext cx="3545738" cy="1417320"/>
          </a:xfrm>
          <a:prstGeom prst="roundRect">
            <a:avLst>
              <a:gd name="adj" fmla="val 9032"/>
            </a:avLst>
          </a:prstGeom>
          <a:solidFill>
            <a:schemeClr val="bg1">
              <a:alpha val="7000"/>
            </a:schemeClr>
          </a:solidFill>
          <a:ln w="9525">
            <a:solidFill>
              <a:schemeClr val="bg1">
                <a:alpha val="14000"/>
              </a:schemeClr>
            </a:solidFill>
            <a:prstDash val="solid"/>
          </a:ln>
        </p:spPr>
      </p:sp>
      <p:sp>
        <p:nvSpPr>
          <p:cNvPr id="21" name="MARKE Kreis"/>
          <p:cNvSpPr/>
          <p:nvPr/>
        </p:nvSpPr>
        <p:spPr>
          <a:xfrm>
            <a:off x="8325917" y="4818888"/>
            <a:ext cx="420624" cy="420624"/>
          </a:xfrm>
          <a:prstGeom prst="ellipse">
            <a:avLst/>
          </a:prstGeom>
          <a:solidFill>
            <a:schemeClr val="accent1"/>
          </a:solidFill>
          <a:ln/>
        </p:spPr>
      </p:sp>
      <p:pic>
        <p:nvPicPr>
          <p:cNvPr id="22" name="MARKE Icon" descr="MARKE">    </p:cNvPr>
          <p:cNvPicPr>
            <a:picLocks noChangeAspect="1"/>
          </p:cNvPicPr>
          <p:nvPr/>
        </p:nvPicPr>
        <p:blipFill>
          <a:blip r:embed="rId5"/>
          <a:stretch>
            <a:fillRect/>
          </a:stretch>
        </p:blipFill>
        <p:spPr>
          <a:xfrm>
            <a:off x="8431073" y="4924044"/>
            <a:ext cx="210312" cy="210312"/>
          </a:xfrm>
          <a:prstGeom prst="rect">
            <a:avLst/>
          </a:prstGeom>
        </p:spPr>
      </p:pic>
      <p:sp>
        <p:nvSpPr>
          <p:cNvPr id="23" name="Text 16"/>
          <p:cNvSpPr txBox="1"/>
          <p:nvPr/>
        </p:nvSpPr>
        <p:spPr>
          <a:xfrm>
            <a:off x="8874557" y="4818888"/>
            <a:ext cx="2539898" cy="420624"/>
          </a:xfrm>
          <a:prstGeom prst="rect">
            <a:avLst/>
          </a:prstGeom>
          <a:noFill/>
          <a:ln/>
        </p:spPr>
        <p:txBody>
          <a:bodyPr wrap="square" lIns="0" tIns="0" rIns="0" bIns="0" rtlCol="0" anchor="ctr"/>
          <a:lstStyle/>
          <a:p>
            <a:pPr indent="0" marL="0">
              <a:buNone/>
            </a:pPr>
            <a:r>
              <a:rPr lang="en-US" sz="1100" b="1" spc="200" kern="0" dirty="0">
                <a:solidFill>
                  <a:schemeClr val="accent4"/>
                </a:solidFill>
              </a:rPr>
              <a:t>MARKE</a:t>
            </a:r>
            <a:endParaRPr lang="en-US" sz="1100" dirty="0"/>
          </a:p>
        </p:txBody>
      </p:sp>
      <p:sp>
        <p:nvSpPr>
          <p:cNvPr id="24" name="Text 17"/>
          <p:cNvSpPr txBox="1"/>
          <p:nvPr/>
        </p:nvSpPr>
        <p:spPr>
          <a:xfrm>
            <a:off x="8325917" y="5349240"/>
            <a:ext cx="3179978" cy="310896"/>
          </a:xfrm>
          <a:prstGeom prst="rect">
            <a:avLst/>
          </a:prstGeom>
          <a:noFill/>
          <a:ln/>
        </p:spPr>
        <p:txBody>
          <a:bodyPr wrap="square" lIns="0" tIns="0" rIns="0" bIns="0" rtlCol="0" anchor="t"/>
          <a:lstStyle/>
          <a:p>
            <a:pPr indent="0" marL="0">
              <a:buNone/>
            </a:pPr>
            <a:r>
              <a:rPr lang="en-US" sz="1500" b="1" dirty="0">
                <a:solidFill>
                  <a:schemeClr val="bg1"/>
                </a:solidFill>
              </a:rPr>
              <a:t>LootLager</a:t>
            </a:r>
            <a:endParaRPr lang="en-US" sz="1500" dirty="0"/>
          </a:p>
        </p:txBody>
      </p:sp>
      <p:sp>
        <p:nvSpPr>
          <p:cNvPr id="25" name="Text 18"/>
          <p:cNvSpPr txBox="1"/>
          <p:nvPr/>
        </p:nvSpPr>
        <p:spPr>
          <a:xfrm>
            <a:off x="8325917" y="5650992"/>
            <a:ext cx="3179978" cy="256032"/>
          </a:xfrm>
          <a:prstGeom prst="rect">
            <a:avLst/>
          </a:prstGeom>
          <a:noFill/>
          <a:ln/>
        </p:spPr>
        <p:txBody>
          <a:bodyPr wrap="square" lIns="0" tIns="0" rIns="0" bIns="0" rtlCol="0" anchor="t"/>
          <a:lstStyle/>
          <a:p>
            <a:pPr indent="0" marL="0">
              <a:buNone/>
            </a:pPr>
            <a:r>
              <a:rPr lang="en-US" sz="1200" dirty="0">
                <a:solidFill>
                  <a:schemeClr val="accent5"/>
                </a:solidFill>
              </a:rPr>
              <a:t>gleicher Name für Shop und Produkte</a:t>
            </a:r>
            <a:endParaRPr lang="en-US" sz="1200" dirty="0"/>
          </a:p>
        </p:txBody>
      </p:sp>
      <p:sp>
        <p:nvSpPr>
          <p:cNvPr id="26" name="Gruppe"/>
          <p:cNvSpPr txBox="1"/>
          <p:nvPr/>
        </p:nvSpPr>
        <p:spPr>
          <a:xfrm>
            <a:off x="548640" y="6263640"/>
            <a:ext cx="5486400" cy="292608"/>
          </a:xfrm>
          <a:prstGeom prst="rect">
            <a:avLst/>
          </a:prstGeom>
          <a:noFill/>
          <a:ln/>
        </p:spPr>
        <p:txBody>
          <a:bodyPr wrap="square" lIns="0" tIns="0" rIns="0" bIns="0" rtlCol="0" anchor="ctr"/>
          <a:lstStyle/>
          <a:p>
            <a:pPr indent="0" marL="0">
              <a:buNone/>
            </a:pPr>
            <a:r>
              <a:rPr lang="en-US" sz="1300" dirty="0">
                <a:solidFill>
                  <a:schemeClr val="accent5"/>
                </a:solidFill>
              </a:rPr>
              <a:t>Gruppe 4  ·  Nick und Luca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apitel"/>
          <p:cNvSpPr txBox="1"/>
          <p:nvPr/>
        </p:nvSpPr>
        <p:spPr>
          <a:xfrm>
            <a:off x="548640" y="384048"/>
            <a:ext cx="1773936"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01  </a:t>
            </a:r>
            <a:pPr indent="0" marL="0">
              <a:buNone/>
            </a:pPr>
            <a:r>
              <a:rPr lang="en-US" sz="1200" b="1" dirty="0">
                <a:solidFill>
                  <a:schemeClr val="bg1"/>
                </a:solidFill>
              </a:rPr>
              <a:t>Geschäftsidee</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Gaming-Zubehör mit </a:t>
            </a:r>
            <a:pPr algn="l" indent="0" marL="0">
              <a:buNone/>
            </a:pPr>
            <a:r>
              <a:rPr lang="en-US" sz="3400" b="1" dirty="0">
                <a:solidFill>
                  <a:schemeClr val="accent2"/>
                </a:solidFill>
              </a:rPr>
              <a:t>deinem eigenen Design</a:t>
            </a:r>
            <a:endParaRPr lang="en-US" sz="3400" dirty="0"/>
          </a:p>
        </p:txBody>
      </p:sp>
      <p:sp>
        <p:nvSpPr>
          <p:cNvPr id="4" name="Text 2"/>
          <p:cNvSpPr txBox="1"/>
          <p:nvPr/>
        </p:nvSpPr>
        <p:spPr>
          <a:xfrm>
            <a:off x="548640" y="1645920"/>
            <a:ext cx="4572000" cy="274320"/>
          </a:xfrm>
          <a:prstGeom prst="rect">
            <a:avLst/>
          </a:prstGeom>
          <a:noFill/>
          <a:ln/>
        </p:spPr>
        <p:txBody>
          <a:bodyPr wrap="square" lIns="0" tIns="0" rIns="0" bIns="0" rtlCol="0" anchor="t"/>
          <a:lstStyle/>
          <a:p>
            <a:pPr indent="0" marL="0">
              <a:buNone/>
            </a:pPr>
            <a:r>
              <a:rPr lang="en-US" sz="1500" b="1" dirty="0">
                <a:solidFill>
                  <a:schemeClr val="accent4"/>
                </a:solidFill>
              </a:rPr>
              <a:t>So funktioniert’s</a:t>
            </a:r>
            <a:endParaRPr lang="en-US" sz="1500" dirty="0"/>
          </a:p>
        </p:txBody>
      </p:sp>
      <p:sp>
        <p:nvSpPr>
          <p:cNvPr id="5" name="Schritt 1"/>
          <p:cNvSpPr/>
          <p:nvPr/>
        </p:nvSpPr>
        <p:spPr>
          <a:xfrm>
            <a:off x="548640" y="1984248"/>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115568" y="1938528"/>
            <a:ext cx="2783738" cy="274320"/>
          </a:xfrm>
          <a:prstGeom prst="rect">
            <a:avLst/>
          </a:prstGeom>
          <a:noFill/>
          <a:ln/>
        </p:spPr>
        <p:txBody>
          <a:bodyPr wrap="square" lIns="0" tIns="0" rIns="0" bIns="0" rtlCol="0" anchor="t"/>
          <a:lstStyle/>
          <a:p>
            <a:pPr indent="0" marL="0">
              <a:buNone/>
            </a:pPr>
            <a:r>
              <a:rPr lang="en-US" sz="1500" b="1" dirty="0">
                <a:solidFill>
                  <a:schemeClr val="bg1"/>
                </a:solidFill>
              </a:rPr>
              <a:t>Produkt auswählen</a:t>
            </a:r>
            <a:endParaRPr lang="en-US" sz="1500" dirty="0"/>
          </a:p>
        </p:txBody>
      </p:sp>
      <p:sp>
        <p:nvSpPr>
          <p:cNvPr id="7" name="Text 5"/>
          <p:cNvSpPr txBox="1"/>
          <p:nvPr/>
        </p:nvSpPr>
        <p:spPr>
          <a:xfrm>
            <a:off x="1115568" y="2221992"/>
            <a:ext cx="2783738" cy="411480"/>
          </a:xfrm>
          <a:prstGeom prst="rect">
            <a:avLst/>
          </a:prstGeom>
          <a:noFill/>
          <a:ln/>
        </p:spPr>
        <p:txBody>
          <a:bodyPr wrap="square" lIns="0" tIns="0" rIns="0" bIns="0" rtlCol="0" anchor="t"/>
          <a:lstStyle/>
          <a:p>
            <a:pPr indent="0" marL="0">
              <a:buNone/>
            </a:pPr>
            <a:r>
              <a:rPr lang="en-US" sz="1250" dirty="0">
                <a:solidFill>
                  <a:schemeClr val="accent5"/>
                </a:solidFill>
              </a:rPr>
              <a:t>Mauspad, Controller-Skin, Keycaps, LED-Schild oder Headset-Halter</a:t>
            </a:r>
            <a:endParaRPr lang="en-US" sz="1250" dirty="0"/>
          </a:p>
        </p:txBody>
      </p:sp>
      <p:sp>
        <p:nvSpPr>
          <p:cNvPr id="8" name="Pfeil"/>
          <p:cNvSpPr/>
          <p:nvPr/>
        </p:nvSpPr>
        <p:spPr>
          <a:xfrm>
            <a:off x="4100474" y="2093976"/>
            <a:ext cx="146304" cy="201168"/>
          </a:xfrm>
          <a:prstGeom prst="chevron">
            <a:avLst/>
          </a:prstGeom>
          <a:solidFill>
            <a:schemeClr val="accent4"/>
          </a:solidFill>
          <a:ln/>
        </p:spPr>
      </p:sp>
      <p:sp>
        <p:nvSpPr>
          <p:cNvPr id="9" name="Schritt 2"/>
          <p:cNvSpPr/>
          <p:nvPr/>
        </p:nvSpPr>
        <p:spPr>
          <a:xfrm>
            <a:off x="4383938" y="1984248"/>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0" name="Text 8"/>
          <p:cNvSpPr txBox="1"/>
          <p:nvPr/>
        </p:nvSpPr>
        <p:spPr>
          <a:xfrm>
            <a:off x="4950866" y="1938528"/>
            <a:ext cx="2783738" cy="274320"/>
          </a:xfrm>
          <a:prstGeom prst="rect">
            <a:avLst/>
          </a:prstGeom>
          <a:noFill/>
          <a:ln/>
        </p:spPr>
        <p:txBody>
          <a:bodyPr wrap="square" lIns="0" tIns="0" rIns="0" bIns="0" rtlCol="0" anchor="t"/>
          <a:lstStyle/>
          <a:p>
            <a:pPr indent="0" marL="0">
              <a:buNone/>
            </a:pPr>
            <a:r>
              <a:rPr lang="en-US" sz="1500" b="1" dirty="0">
                <a:solidFill>
                  <a:schemeClr val="bg1"/>
                </a:solidFill>
              </a:rPr>
              <a:t>Design festlegen</a:t>
            </a:r>
            <a:endParaRPr lang="en-US" sz="1500" dirty="0"/>
          </a:p>
        </p:txBody>
      </p:sp>
      <p:sp>
        <p:nvSpPr>
          <p:cNvPr id="11" name="Text 9"/>
          <p:cNvSpPr txBox="1"/>
          <p:nvPr/>
        </p:nvSpPr>
        <p:spPr>
          <a:xfrm>
            <a:off x="4950866" y="2221992"/>
            <a:ext cx="2783738" cy="411480"/>
          </a:xfrm>
          <a:prstGeom prst="rect">
            <a:avLst/>
          </a:prstGeom>
          <a:noFill/>
          <a:ln/>
        </p:spPr>
        <p:txBody>
          <a:bodyPr wrap="square" lIns="0" tIns="0" rIns="0" bIns="0" rtlCol="0" anchor="t"/>
          <a:lstStyle/>
          <a:p>
            <a:pPr indent="0" marL="0">
              <a:buNone/>
            </a:pPr>
            <a:r>
              <a:rPr lang="en-US" sz="1250" dirty="0">
                <a:solidFill>
                  <a:schemeClr val="accent5"/>
                </a:solidFill>
              </a:rPr>
              <a:t>Eigenes Motiv hochladen oder von unserem Team gestalten lassen</a:t>
            </a:r>
            <a:endParaRPr lang="en-US" sz="1250" dirty="0"/>
          </a:p>
        </p:txBody>
      </p:sp>
      <p:sp>
        <p:nvSpPr>
          <p:cNvPr id="12" name="Pfeil"/>
          <p:cNvSpPr/>
          <p:nvPr/>
        </p:nvSpPr>
        <p:spPr>
          <a:xfrm>
            <a:off x="7935773" y="2093976"/>
            <a:ext cx="146304" cy="201168"/>
          </a:xfrm>
          <a:prstGeom prst="chevron">
            <a:avLst/>
          </a:prstGeom>
          <a:solidFill>
            <a:schemeClr val="accent4"/>
          </a:solidFill>
          <a:ln/>
        </p:spPr>
      </p:sp>
      <p:sp>
        <p:nvSpPr>
          <p:cNvPr id="13" name="Schritt 3"/>
          <p:cNvSpPr/>
          <p:nvPr/>
        </p:nvSpPr>
        <p:spPr>
          <a:xfrm>
            <a:off x="8219237" y="1984248"/>
            <a:ext cx="420624" cy="420624"/>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4" name="Text 12"/>
          <p:cNvSpPr txBox="1"/>
          <p:nvPr/>
        </p:nvSpPr>
        <p:spPr>
          <a:xfrm>
            <a:off x="8786165" y="1938528"/>
            <a:ext cx="2783738" cy="274320"/>
          </a:xfrm>
          <a:prstGeom prst="rect">
            <a:avLst/>
          </a:prstGeom>
          <a:noFill/>
          <a:ln/>
        </p:spPr>
        <p:txBody>
          <a:bodyPr wrap="square" lIns="0" tIns="0" rIns="0" bIns="0" rtlCol="0" anchor="t"/>
          <a:lstStyle/>
          <a:p>
            <a:pPr indent="0" marL="0">
              <a:buNone/>
            </a:pPr>
            <a:r>
              <a:rPr lang="en-US" sz="1500" b="1" dirty="0">
                <a:solidFill>
                  <a:schemeClr val="bg1"/>
                </a:solidFill>
              </a:rPr>
              <a:t>Wir produzieren und versenden</a:t>
            </a:r>
            <a:endParaRPr lang="en-US" sz="1500" dirty="0"/>
          </a:p>
        </p:txBody>
      </p:sp>
      <p:sp>
        <p:nvSpPr>
          <p:cNvPr id="15" name="Text 13"/>
          <p:cNvSpPr txBox="1"/>
          <p:nvPr/>
        </p:nvSpPr>
        <p:spPr>
          <a:xfrm>
            <a:off x="8786165" y="2221992"/>
            <a:ext cx="2783738" cy="411480"/>
          </a:xfrm>
          <a:prstGeom prst="rect">
            <a:avLst/>
          </a:prstGeom>
          <a:noFill/>
          <a:ln/>
        </p:spPr>
        <p:txBody>
          <a:bodyPr wrap="square" lIns="0" tIns="0" rIns="0" bIns="0" rtlCol="0" anchor="t"/>
          <a:lstStyle/>
          <a:p>
            <a:pPr indent="0" marL="0">
              <a:buNone/>
            </a:pPr>
            <a:r>
              <a:rPr lang="en-US" sz="1250" dirty="0">
                <a:solidFill>
                  <a:schemeClr val="accent5"/>
                </a:solidFill>
              </a:rPr>
              <a:t>Fertig bedruckt und schnell geliefert aus Deutschland</a:t>
            </a:r>
            <a:endParaRPr lang="en-US" sz="1250" dirty="0"/>
          </a:p>
        </p:txBody>
      </p:sp>
      <p:sp>
        <p:nvSpPr>
          <p:cNvPr id="16" name="Text 14"/>
          <p:cNvSpPr txBox="1"/>
          <p:nvPr/>
        </p:nvSpPr>
        <p:spPr>
          <a:xfrm>
            <a:off x="548640" y="2807208"/>
            <a:ext cx="4572000" cy="274320"/>
          </a:xfrm>
          <a:prstGeom prst="rect">
            <a:avLst/>
          </a:prstGeom>
          <a:noFill/>
          <a:ln/>
        </p:spPr>
        <p:txBody>
          <a:bodyPr wrap="square" lIns="0" tIns="0" rIns="0" bIns="0" rtlCol="0" anchor="t"/>
          <a:lstStyle/>
          <a:p>
            <a:pPr indent="0" marL="0">
              <a:buNone/>
            </a:pPr>
            <a:r>
              <a:rPr lang="en-US" sz="1500" b="1" dirty="0">
                <a:solidFill>
                  <a:schemeClr val="accent4"/>
                </a:solidFill>
              </a:rPr>
              <a:t>Unsere 5 Produkte</a:t>
            </a:r>
            <a:endParaRPr lang="en-US" sz="1500" dirty="0"/>
          </a:p>
        </p:txBody>
      </p:sp>
      <p:sp>
        <p:nvSpPr>
          <p:cNvPr id="17" name="XXL-Mauspad"/>
          <p:cNvSpPr/>
          <p:nvPr/>
        </p:nvSpPr>
        <p:spPr>
          <a:xfrm>
            <a:off x="548640"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18" name="XXL-Mauspad Foto" descr="XXL-Mauspad mit Berglandschaft in Violett und Türkis">    </p:cNvPr>
          <p:cNvPicPr>
            <a:picLocks noChangeAspect="1"/>
          </p:cNvPicPr>
          <p:nvPr/>
        </p:nvPicPr>
        <p:blipFill>
          <a:blip r:embed="rId1"/>
          <a:stretch>
            <a:fillRect/>
          </a:stretch>
        </p:blipFill>
        <p:spPr>
          <a:xfrm>
            <a:off x="548640" y="3127248"/>
            <a:ext cx="2036003" cy="1521912"/>
          </a:xfrm>
          <a:prstGeom prst="rect">
            <a:avLst/>
          </a:prstGeom>
        </p:spPr>
      </p:pic>
      <p:sp>
        <p:nvSpPr>
          <p:cNvPr id="19" name="XXL-Mauspad Preis"/>
          <p:cNvSpPr/>
          <p:nvPr/>
        </p:nvSpPr>
        <p:spPr>
          <a:xfrm>
            <a:off x="1615379"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24,99 €</a:t>
            </a:r>
            <a:endParaRPr lang="en-US" sz="1300" dirty="0"/>
          </a:p>
        </p:txBody>
      </p:sp>
      <p:sp>
        <p:nvSpPr>
          <p:cNvPr id="20" name="Text 17"/>
          <p:cNvSpPr txBox="1"/>
          <p:nvPr/>
        </p:nvSpPr>
        <p:spPr>
          <a:xfrm>
            <a:off x="713232"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XXL-Mauspad</a:t>
            </a:r>
            <a:endParaRPr lang="en-US" sz="1400" dirty="0"/>
          </a:p>
        </p:txBody>
      </p:sp>
      <p:sp>
        <p:nvSpPr>
          <p:cNvPr id="21" name="Text 18"/>
          <p:cNvSpPr txBox="1"/>
          <p:nvPr/>
        </p:nvSpPr>
        <p:spPr>
          <a:xfrm>
            <a:off x="713232"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900 × 400 mm, mit eigenem Motiv</a:t>
            </a:r>
            <a:endParaRPr lang="en-US" sz="1200" dirty="0"/>
          </a:p>
        </p:txBody>
      </p:sp>
      <p:sp>
        <p:nvSpPr>
          <p:cNvPr id="22" name="Controller-Skin"/>
          <p:cNvSpPr/>
          <p:nvPr/>
        </p:nvSpPr>
        <p:spPr>
          <a:xfrm>
            <a:off x="2813243"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23" name="Controller-Skin Foto" descr="Controller mit Skin im Farbverlauf von Violett nach Türkis">    </p:cNvPr>
          <p:cNvPicPr>
            <a:picLocks noChangeAspect="1"/>
          </p:cNvPicPr>
          <p:nvPr/>
        </p:nvPicPr>
        <p:blipFill>
          <a:blip r:embed="rId2"/>
          <a:stretch>
            <a:fillRect/>
          </a:stretch>
        </p:blipFill>
        <p:spPr>
          <a:xfrm>
            <a:off x="2813243" y="3127248"/>
            <a:ext cx="2036003" cy="1521912"/>
          </a:xfrm>
          <a:prstGeom prst="rect">
            <a:avLst/>
          </a:prstGeom>
        </p:spPr>
      </p:pic>
      <p:sp>
        <p:nvSpPr>
          <p:cNvPr id="24" name="Controller-Skin Preis"/>
          <p:cNvSpPr/>
          <p:nvPr/>
        </p:nvSpPr>
        <p:spPr>
          <a:xfrm>
            <a:off x="3879982"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14,99 €</a:t>
            </a:r>
            <a:endParaRPr lang="en-US" sz="1300" dirty="0"/>
          </a:p>
        </p:txBody>
      </p:sp>
      <p:sp>
        <p:nvSpPr>
          <p:cNvPr id="25" name="Text 21"/>
          <p:cNvSpPr txBox="1"/>
          <p:nvPr/>
        </p:nvSpPr>
        <p:spPr>
          <a:xfrm>
            <a:off x="2977835"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Controller-Skin</a:t>
            </a:r>
            <a:endParaRPr lang="en-US" sz="1400" dirty="0"/>
          </a:p>
        </p:txBody>
      </p:sp>
      <p:sp>
        <p:nvSpPr>
          <p:cNvPr id="26" name="Text 22"/>
          <p:cNvSpPr txBox="1"/>
          <p:nvPr/>
        </p:nvSpPr>
        <p:spPr>
          <a:xfrm>
            <a:off x="2977835"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für PS5, Xbox und Switch</a:t>
            </a:r>
            <a:endParaRPr lang="en-US" sz="1200" dirty="0"/>
          </a:p>
        </p:txBody>
      </p:sp>
      <p:sp>
        <p:nvSpPr>
          <p:cNvPr id="27" name="Custom Keycaps"/>
          <p:cNvSpPr/>
          <p:nvPr/>
        </p:nvSpPr>
        <p:spPr>
          <a:xfrm>
            <a:off x="5077846"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28" name="Custom Keycaps Foto" descr="Vier Keycaps mit den Buchstaben L, O, O und T">    </p:cNvPr>
          <p:cNvPicPr>
            <a:picLocks noChangeAspect="1"/>
          </p:cNvPicPr>
          <p:nvPr/>
        </p:nvPicPr>
        <p:blipFill>
          <a:blip r:embed="rId3"/>
          <a:stretch>
            <a:fillRect/>
          </a:stretch>
        </p:blipFill>
        <p:spPr>
          <a:xfrm>
            <a:off x="5077846" y="3127248"/>
            <a:ext cx="2036003" cy="1521912"/>
          </a:xfrm>
          <a:prstGeom prst="rect">
            <a:avLst/>
          </a:prstGeom>
        </p:spPr>
      </p:pic>
      <p:sp>
        <p:nvSpPr>
          <p:cNvPr id="29" name="Custom Keycaps Preis"/>
          <p:cNvSpPr/>
          <p:nvPr/>
        </p:nvSpPr>
        <p:spPr>
          <a:xfrm>
            <a:off x="6144585"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19,99 €</a:t>
            </a:r>
            <a:endParaRPr lang="en-US" sz="1300" dirty="0"/>
          </a:p>
        </p:txBody>
      </p:sp>
      <p:sp>
        <p:nvSpPr>
          <p:cNvPr id="30" name="Text 25"/>
          <p:cNvSpPr txBox="1"/>
          <p:nvPr/>
        </p:nvSpPr>
        <p:spPr>
          <a:xfrm>
            <a:off x="5242438"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Custom Keycaps</a:t>
            </a:r>
            <a:endParaRPr lang="en-US" sz="1400" dirty="0"/>
          </a:p>
        </p:txBody>
      </p:sp>
      <p:sp>
        <p:nvSpPr>
          <p:cNvPr id="31" name="Text 26"/>
          <p:cNvSpPr txBox="1"/>
          <p:nvPr/>
        </p:nvSpPr>
        <p:spPr>
          <a:xfrm>
            <a:off x="5242438"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4er-Set mit Gamertag oder Logo</a:t>
            </a:r>
            <a:endParaRPr lang="en-US" sz="1200" dirty="0"/>
          </a:p>
        </p:txBody>
      </p:sp>
      <p:sp>
        <p:nvSpPr>
          <p:cNvPr id="32" name="LED-Schild"/>
          <p:cNvSpPr/>
          <p:nvPr/>
        </p:nvSpPr>
        <p:spPr>
          <a:xfrm>
            <a:off x="7342449"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33" name="LED-Schild Foto" descr="Neon-Schild mit leuchtendem Schriftzug GG!">    </p:cNvPr>
          <p:cNvPicPr>
            <a:picLocks noChangeAspect="1"/>
          </p:cNvPicPr>
          <p:nvPr/>
        </p:nvPicPr>
        <p:blipFill>
          <a:blip r:embed="rId4"/>
          <a:stretch>
            <a:fillRect/>
          </a:stretch>
        </p:blipFill>
        <p:spPr>
          <a:xfrm>
            <a:off x="7342449" y="3127248"/>
            <a:ext cx="2036003" cy="1521912"/>
          </a:xfrm>
          <a:prstGeom prst="rect">
            <a:avLst/>
          </a:prstGeom>
        </p:spPr>
      </p:pic>
      <p:sp>
        <p:nvSpPr>
          <p:cNvPr id="34" name="LED-Schild Preis"/>
          <p:cNvSpPr/>
          <p:nvPr/>
        </p:nvSpPr>
        <p:spPr>
          <a:xfrm>
            <a:off x="8409188"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49,99 €</a:t>
            </a:r>
            <a:endParaRPr lang="en-US" sz="1300" dirty="0"/>
          </a:p>
        </p:txBody>
      </p:sp>
      <p:sp>
        <p:nvSpPr>
          <p:cNvPr id="35" name="Text 29"/>
          <p:cNvSpPr txBox="1"/>
          <p:nvPr/>
        </p:nvSpPr>
        <p:spPr>
          <a:xfrm>
            <a:off x="7507041"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LED-Schild</a:t>
            </a:r>
            <a:endParaRPr lang="en-US" sz="1400" dirty="0"/>
          </a:p>
        </p:txBody>
      </p:sp>
      <p:sp>
        <p:nvSpPr>
          <p:cNvPr id="36" name="Text 30"/>
          <p:cNvSpPr txBox="1"/>
          <p:nvPr/>
        </p:nvSpPr>
        <p:spPr>
          <a:xfrm>
            <a:off x="7507041"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Neon-Schriftzug mit deinem Namen</a:t>
            </a:r>
            <a:endParaRPr lang="en-US" sz="1200" dirty="0"/>
          </a:p>
        </p:txBody>
      </p:sp>
      <p:sp>
        <p:nvSpPr>
          <p:cNvPr id="37" name="Headset-Halter"/>
          <p:cNvSpPr/>
          <p:nvPr/>
        </p:nvSpPr>
        <p:spPr>
          <a:xfrm>
            <a:off x="9607052" y="3127248"/>
            <a:ext cx="2036003" cy="2377440"/>
          </a:xfrm>
          <a:prstGeom prst="roundRect">
            <a:avLst>
              <a:gd name="adj" fmla="val 6288"/>
            </a:avLst>
          </a:prstGeom>
          <a:solidFill>
            <a:schemeClr val="bg1">
              <a:alpha val="7000"/>
            </a:schemeClr>
          </a:solidFill>
          <a:ln w="9525">
            <a:solidFill>
              <a:schemeClr val="bg1">
                <a:alpha val="14000"/>
              </a:schemeClr>
            </a:solidFill>
            <a:prstDash val="solid"/>
          </a:ln>
        </p:spPr>
      </p:sp>
      <p:pic>
        <p:nvPicPr>
          <p:cNvPr id="38" name="Headset-Halter Foto" descr="Violetter Headset-Halter mit schwarzem Headset">    </p:cNvPr>
          <p:cNvPicPr>
            <a:picLocks noChangeAspect="1"/>
          </p:cNvPicPr>
          <p:nvPr/>
        </p:nvPicPr>
        <p:blipFill>
          <a:blip r:embed="rId5"/>
          <a:stretch>
            <a:fillRect/>
          </a:stretch>
        </p:blipFill>
        <p:spPr>
          <a:xfrm>
            <a:off x="9607052" y="3127248"/>
            <a:ext cx="2036003" cy="1521912"/>
          </a:xfrm>
          <a:prstGeom prst="rect">
            <a:avLst/>
          </a:prstGeom>
        </p:spPr>
      </p:pic>
      <p:sp>
        <p:nvSpPr>
          <p:cNvPr id="39" name="Headset-Halter Preis"/>
          <p:cNvSpPr/>
          <p:nvPr/>
        </p:nvSpPr>
        <p:spPr>
          <a:xfrm>
            <a:off x="10673791" y="3236976"/>
            <a:ext cx="859536" cy="292608"/>
          </a:xfrm>
          <a:prstGeom prst="roundRect">
            <a:avLst>
              <a:gd name="adj" fmla="val 50000"/>
            </a:avLst>
          </a:prstGeom>
          <a:solidFill>
            <a:schemeClr val="accent2"/>
          </a:solidFill>
          <a:ln/>
        </p:spPr>
        <p:txBody>
          <a:bodyPr wrap="square" lIns="0" tIns="0" rIns="0" bIns="0" rtlCol="0" anchor="ctr"/>
          <a:lstStyle/>
          <a:p>
            <a:pPr algn="ctr" indent="0" marL="0">
              <a:buNone/>
            </a:pPr>
            <a:r>
              <a:rPr lang="en-US" sz="1300" b="1" dirty="0">
                <a:solidFill>
                  <a:schemeClr val="tx1"/>
                </a:solidFill>
              </a:rPr>
              <a:t>29,99 €</a:t>
            </a:r>
            <a:endParaRPr lang="en-US" sz="1300" dirty="0"/>
          </a:p>
        </p:txBody>
      </p:sp>
      <p:sp>
        <p:nvSpPr>
          <p:cNvPr id="40" name="Text 33"/>
          <p:cNvSpPr txBox="1"/>
          <p:nvPr/>
        </p:nvSpPr>
        <p:spPr>
          <a:xfrm>
            <a:off x="9771644" y="4758888"/>
            <a:ext cx="1761683" cy="274320"/>
          </a:xfrm>
          <a:prstGeom prst="rect">
            <a:avLst/>
          </a:prstGeom>
          <a:noFill/>
          <a:ln/>
        </p:spPr>
        <p:txBody>
          <a:bodyPr wrap="square" lIns="0" tIns="0" rIns="0" bIns="0" rtlCol="0" anchor="t"/>
          <a:lstStyle/>
          <a:p>
            <a:pPr indent="0" marL="0">
              <a:buNone/>
            </a:pPr>
            <a:r>
              <a:rPr lang="en-US" sz="1400" b="1" dirty="0">
                <a:solidFill>
                  <a:schemeClr val="bg1"/>
                </a:solidFill>
              </a:rPr>
              <a:t>Headset-Halter</a:t>
            </a:r>
            <a:endParaRPr lang="en-US" sz="1400" dirty="0"/>
          </a:p>
        </p:txBody>
      </p:sp>
      <p:sp>
        <p:nvSpPr>
          <p:cNvPr id="41" name="Text 34"/>
          <p:cNvSpPr txBox="1"/>
          <p:nvPr/>
        </p:nvSpPr>
        <p:spPr>
          <a:xfrm>
            <a:off x="9771644" y="5042352"/>
            <a:ext cx="1761683" cy="384048"/>
          </a:xfrm>
          <a:prstGeom prst="rect">
            <a:avLst/>
          </a:prstGeom>
          <a:noFill/>
          <a:ln/>
        </p:spPr>
        <p:txBody>
          <a:bodyPr wrap="square" lIns="0" tIns="0" rIns="0" bIns="0" rtlCol="0" anchor="t"/>
          <a:lstStyle/>
          <a:p>
            <a:pPr indent="0" marL="0">
              <a:buNone/>
            </a:pPr>
            <a:r>
              <a:rPr lang="en-US" sz="1200" dirty="0">
                <a:solidFill>
                  <a:schemeClr val="accent5"/>
                </a:solidFill>
              </a:rPr>
              <a:t>mit graviertem Gamertag</a:t>
            </a:r>
            <a:endParaRPr lang="en-US" sz="1200" dirty="0"/>
          </a:p>
        </p:txBody>
      </p:sp>
      <p:sp>
        <p:nvSpPr>
          <p:cNvPr id="42" name="Zielgruppe"/>
          <p:cNvSpPr/>
          <p:nvPr/>
        </p:nvSpPr>
        <p:spPr>
          <a:xfrm>
            <a:off x="548640" y="5669280"/>
            <a:ext cx="11094415" cy="420624"/>
          </a:xfrm>
          <a:prstGeom prst="roundRect">
            <a:avLst>
              <a:gd name="adj" fmla="val 50000"/>
            </a:avLst>
          </a:prstGeom>
          <a:solidFill>
            <a:schemeClr val="accent1"/>
          </a:solidFill>
          <a:ln/>
        </p:spPr>
      </p:sp>
      <p:pic>
        <p:nvPicPr>
          <p:cNvPr id="43" name="Zielgruppe Icon" descr="Zielgruppe">    </p:cNvPr>
          <p:cNvPicPr>
            <a:picLocks noChangeAspect="1"/>
          </p:cNvPicPr>
          <p:nvPr/>
        </p:nvPicPr>
        <p:blipFill>
          <a:blip r:embed="rId6"/>
          <a:stretch>
            <a:fillRect/>
          </a:stretch>
        </p:blipFill>
        <p:spPr>
          <a:xfrm>
            <a:off x="749808" y="5742432"/>
            <a:ext cx="274320" cy="274320"/>
          </a:xfrm>
          <a:prstGeom prst="rect">
            <a:avLst/>
          </a:prstGeom>
        </p:spPr>
      </p:pic>
      <p:sp>
        <p:nvSpPr>
          <p:cNvPr id="44" name="Text 36"/>
          <p:cNvSpPr txBox="1"/>
          <p:nvPr/>
        </p:nvSpPr>
        <p:spPr>
          <a:xfrm>
            <a:off x="1170432" y="5669280"/>
            <a:ext cx="10271455" cy="420624"/>
          </a:xfrm>
          <a:prstGeom prst="rect">
            <a:avLst/>
          </a:prstGeom>
          <a:noFill/>
          <a:ln/>
        </p:spPr>
        <p:txBody>
          <a:bodyPr wrap="square" lIns="0" tIns="0" rIns="0" bIns="0" rtlCol="0" anchor="ctr"/>
          <a:lstStyle/>
          <a:p>
            <a:pPr indent="0" marL="0">
              <a:buNone/>
            </a:pPr>
            <a:r>
              <a:rPr lang="en-US" sz="1400" b="1" dirty="0">
                <a:solidFill>
                  <a:schemeClr val="bg1"/>
                </a:solidFill>
              </a:rPr>
              <a:t>Zielgruppe: </a:t>
            </a:r>
            <a:pPr indent="0" marL="0">
              <a:buNone/>
            </a:pPr>
            <a:r>
              <a:rPr lang="en-US" sz="1400" dirty="0">
                <a:solidFill>
                  <a:schemeClr val="bg1"/>
                </a:solidFill>
              </a:rPr>
              <a:t>Gamer und Streamer zwischen 16 und 30, die ein Setup wollen, das es nur einmal gibt</a:t>
            </a:r>
            <a:endParaRPr lang="en-US" sz="14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apitel"/>
          <p:cNvSpPr txBox="1"/>
          <p:nvPr/>
        </p:nvSpPr>
        <p:spPr>
          <a:xfrm>
            <a:off x="548640" y="384048"/>
            <a:ext cx="1773936"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02  </a:t>
            </a:r>
            <a:pPr indent="0" marL="0">
              <a:buNone/>
            </a:pPr>
            <a:r>
              <a:rPr lang="en-US" sz="1200" b="1" dirty="0">
                <a:solidFill>
                  <a:schemeClr val="bg1"/>
                </a:solidFill>
              </a:rPr>
              <a:t>Name und Logo</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Name, Logo und </a:t>
            </a:r>
            <a:pPr algn="l" indent="0" marL="0">
              <a:buNone/>
            </a:pPr>
            <a:r>
              <a:rPr lang="en-US" sz="3400" b="1" dirty="0">
                <a:solidFill>
                  <a:schemeClr val="accent2"/>
                </a:solidFill>
              </a:rPr>
              <a:t>Domain</a:t>
            </a:r>
            <a:endParaRPr lang="en-US" sz="3400" dirty="0"/>
          </a:p>
        </p:txBody>
      </p:sp>
      <p:sp>
        <p:nvSpPr>
          <p:cNvPr id="4" name="Logo-Karte"/>
          <p:cNvSpPr/>
          <p:nvPr/>
        </p:nvSpPr>
        <p:spPr>
          <a:xfrm>
            <a:off x="548640" y="1645920"/>
            <a:ext cx="3931920" cy="4434840"/>
          </a:xfrm>
          <a:prstGeom prst="roundRect">
            <a:avLst>
              <a:gd name="adj" fmla="val 3256"/>
            </a:avLst>
          </a:prstGeom>
          <a:solidFill>
            <a:schemeClr val="bg1">
              <a:alpha val="7000"/>
            </a:schemeClr>
          </a:solidFill>
          <a:ln w="9525">
            <a:solidFill>
              <a:schemeClr val="bg1">
                <a:alpha val="14000"/>
              </a:schemeClr>
            </a:solidFill>
            <a:prstDash val="solid"/>
          </a:ln>
        </p:spPr>
      </p:sp>
      <p:pic>
        <p:nvPicPr>
          <p:cNvPr id="5" name="Leuchten" descr="/tmp/claude-0/-home-user-EcomShopRepo/9a0a6346-50ff-519b-8770-e76b668ee95d/scratchpad/build/img/leuchten.png">    </p:cNvPr>
          <p:cNvPicPr>
            <a:picLocks noChangeAspect="1"/>
          </p:cNvPicPr>
          <p:nvPr/>
        </p:nvPicPr>
        <p:blipFill>
          <a:blip r:embed="rId1"/>
          <a:stretch>
            <a:fillRect/>
          </a:stretch>
        </p:blipFill>
        <p:spPr>
          <a:xfrm>
            <a:off x="777240" y="1691640"/>
            <a:ext cx="3474720" cy="3474720"/>
          </a:xfrm>
          <a:prstGeom prst="rect">
            <a:avLst/>
          </a:prstGeom>
        </p:spPr>
      </p:pic>
      <p:pic>
        <p:nvPicPr>
          <p:cNvPr id="6" name="Logo-Symbol" descr="Logo-Symbol: offene violette Schatztruhe mit goldenen Beschlägen, aus der Licht strahlt">    </p:cNvPr>
          <p:cNvPicPr>
            <a:picLocks noChangeAspect="1"/>
          </p:cNvPicPr>
          <p:nvPr/>
        </p:nvPicPr>
        <p:blipFill>
          <a:blip r:embed="rId2"/>
          <a:stretch>
            <a:fillRect/>
          </a:stretch>
        </p:blipFill>
        <p:spPr>
          <a:xfrm>
            <a:off x="1280160" y="2240280"/>
            <a:ext cx="2468880" cy="2323946"/>
          </a:xfrm>
          <a:prstGeom prst="rect">
            <a:avLst/>
          </a:prstGeom>
        </p:spPr>
      </p:pic>
      <p:sp>
        <p:nvSpPr>
          <p:cNvPr id="7" name="Text 3"/>
          <p:cNvSpPr txBox="1"/>
          <p:nvPr/>
        </p:nvSpPr>
        <p:spPr>
          <a:xfrm>
            <a:off x="822960" y="5029200"/>
            <a:ext cx="3383280" cy="868680"/>
          </a:xfrm>
          <a:prstGeom prst="rect">
            <a:avLst/>
          </a:prstGeom>
          <a:noFill/>
          <a:ln/>
        </p:spPr>
        <p:txBody>
          <a:bodyPr wrap="square" lIns="0" tIns="0" rIns="0" bIns="0" rtlCol="0" anchor="t"/>
          <a:lstStyle/>
          <a:p>
            <a:pPr indent="0" marL="0">
              <a:spcAft>
                <a:spcPts val="400"/>
              </a:spcAft>
              <a:buNone/>
            </a:pPr>
            <a:r>
              <a:rPr lang="en-US" sz="1300" dirty="0">
                <a:solidFill>
                  <a:schemeClr val="bg1"/>
                </a:solidFill>
              </a:rPr>
              <a:t>Die Loot-Truhe: Wer bei uns bestellt, bekommt seine Belohnung.</a:t>
            </a:r>
            <a:endParaRPr lang="en-US" sz="1300" dirty="0"/>
          </a:p>
          <a:p>
            <a:pPr indent="0" marL="0">
              <a:spcAft>
                <a:spcPts val="400"/>
              </a:spcAft>
              <a:buNone/>
            </a:pPr>
            <a:r>
              <a:rPr lang="en-US" sz="1200" i="1" dirty="0">
                <a:solidFill>
                  <a:schemeClr val="accent4"/>
                </a:solidFill>
              </a:rPr>
              <a:t>Logo erstellt mit ChatGPT (KI)</a:t>
            </a:r>
            <a:endParaRPr lang="en-US" sz="1300" dirty="0"/>
          </a:p>
        </p:txBody>
      </p:sp>
      <p:sp>
        <p:nvSpPr>
          <p:cNvPr id="8" name="Text 4"/>
          <p:cNvSpPr txBox="1"/>
          <p:nvPr/>
        </p:nvSpPr>
        <p:spPr>
          <a:xfrm>
            <a:off x="4800600" y="1645920"/>
            <a:ext cx="2286000" cy="502920"/>
          </a:xfrm>
          <a:prstGeom prst="rect">
            <a:avLst/>
          </a:prstGeom>
          <a:noFill/>
          <a:ln/>
        </p:spPr>
        <p:txBody>
          <a:bodyPr wrap="square" lIns="0" tIns="0" rIns="0" bIns="0" rtlCol="0" anchor="ctr"/>
          <a:lstStyle/>
          <a:p>
            <a:pPr indent="0" marL="0">
              <a:buNone/>
            </a:pPr>
            <a:r>
              <a:rPr lang="en-US" sz="3000" b="1" dirty="0">
                <a:solidFill>
                  <a:schemeClr val="accent4"/>
                </a:solidFill>
                <a:latin typeface="+mj-lt" pitchFamily="34" charset="0"/>
                <a:ea typeface="+mj-lt" pitchFamily="34" charset="-122"/>
                <a:cs typeface="+mj-lt" pitchFamily="34" charset="-120"/>
              </a:rPr>
              <a:t>Loot</a:t>
            </a:r>
            <a:endParaRPr lang="en-US" sz="3000" dirty="0"/>
          </a:p>
        </p:txBody>
      </p:sp>
      <p:sp>
        <p:nvSpPr>
          <p:cNvPr id="9" name="Text 5"/>
          <p:cNvSpPr txBox="1"/>
          <p:nvPr/>
        </p:nvSpPr>
        <p:spPr>
          <a:xfrm>
            <a:off x="7178040" y="1645920"/>
            <a:ext cx="4462272" cy="502920"/>
          </a:xfrm>
          <a:prstGeom prst="rect">
            <a:avLst/>
          </a:prstGeom>
          <a:noFill/>
          <a:ln/>
        </p:spPr>
        <p:txBody>
          <a:bodyPr wrap="square" lIns="0" tIns="0" rIns="0" bIns="0" rtlCol="0" anchor="ctr"/>
          <a:lstStyle/>
          <a:p>
            <a:pPr indent="0" marL="0">
              <a:buNone/>
            </a:pPr>
            <a:r>
              <a:rPr lang="en-US" sz="1600" dirty="0">
                <a:solidFill>
                  <a:schemeClr val="accent5"/>
                </a:solidFill>
              </a:rPr>
              <a:t>= Beute bzw. Belohnung in Videospielen</a:t>
            </a:r>
            <a:endParaRPr lang="en-US" sz="1600" dirty="0"/>
          </a:p>
        </p:txBody>
      </p:sp>
      <p:sp>
        <p:nvSpPr>
          <p:cNvPr id="10" name="Text 6"/>
          <p:cNvSpPr txBox="1"/>
          <p:nvPr/>
        </p:nvSpPr>
        <p:spPr>
          <a:xfrm>
            <a:off x="4800600" y="2212848"/>
            <a:ext cx="2286000" cy="502920"/>
          </a:xfrm>
          <a:prstGeom prst="rect">
            <a:avLst/>
          </a:prstGeom>
          <a:noFill/>
          <a:ln/>
        </p:spPr>
        <p:txBody>
          <a:bodyPr wrap="square" lIns="0" tIns="0" rIns="0" bIns="0" rtlCol="0" anchor="ctr"/>
          <a:lstStyle/>
          <a:p>
            <a:pPr indent="0" marL="0">
              <a:buNone/>
            </a:pPr>
            <a:r>
              <a:rPr lang="en-US" sz="3000" b="1" dirty="0">
                <a:solidFill>
                  <a:schemeClr val="accent2"/>
                </a:solidFill>
                <a:latin typeface="+mj-lt" pitchFamily="34" charset="0"/>
                <a:ea typeface="+mj-lt" pitchFamily="34" charset="-122"/>
                <a:cs typeface="+mj-lt" pitchFamily="34" charset="-120"/>
              </a:rPr>
              <a:t>Lager</a:t>
            </a:r>
            <a:endParaRPr lang="en-US" sz="3000" dirty="0"/>
          </a:p>
        </p:txBody>
      </p:sp>
      <p:sp>
        <p:nvSpPr>
          <p:cNvPr id="11" name="Text 7"/>
          <p:cNvSpPr txBox="1"/>
          <p:nvPr/>
        </p:nvSpPr>
        <p:spPr>
          <a:xfrm>
            <a:off x="7178040" y="2212848"/>
            <a:ext cx="4462272" cy="502920"/>
          </a:xfrm>
          <a:prstGeom prst="rect">
            <a:avLst/>
          </a:prstGeom>
          <a:noFill/>
          <a:ln/>
        </p:spPr>
        <p:txBody>
          <a:bodyPr wrap="square" lIns="0" tIns="0" rIns="0" bIns="0" rtlCol="0" anchor="ctr"/>
          <a:lstStyle/>
          <a:p>
            <a:pPr indent="0" marL="0">
              <a:buNone/>
            </a:pPr>
            <a:r>
              <a:rPr lang="en-US" sz="1600" dirty="0">
                <a:solidFill>
                  <a:schemeClr val="accent5"/>
                </a:solidFill>
              </a:rPr>
              <a:t>= unser Shop, in dem alles bereitliegt</a:t>
            </a:r>
            <a:endParaRPr lang="en-US" sz="1600" dirty="0"/>
          </a:p>
        </p:txBody>
      </p:sp>
      <p:sp>
        <p:nvSpPr>
          <p:cNvPr id="12" name="Text 8"/>
          <p:cNvSpPr txBox="1"/>
          <p:nvPr/>
        </p:nvSpPr>
        <p:spPr>
          <a:xfrm>
            <a:off x="4800600" y="2779776"/>
            <a:ext cx="2286000" cy="502920"/>
          </a:xfrm>
          <a:prstGeom prst="rect">
            <a:avLst/>
          </a:prstGeom>
          <a:noFill/>
          <a:ln/>
        </p:spPr>
        <p:txBody>
          <a:bodyPr wrap="square" lIns="0" tIns="0" rIns="0" bIns="0" rtlCol="0" anchor="ctr"/>
          <a:lstStyle/>
          <a:p>
            <a:pPr indent="0" marL="0">
              <a:buNone/>
            </a:pPr>
            <a:r>
              <a:rPr lang="en-US" sz="3000" b="1" dirty="0">
                <a:solidFill>
                  <a:schemeClr val="accent4"/>
                </a:solidFill>
                <a:latin typeface="+mj-lt" pitchFamily="34" charset="0"/>
                <a:ea typeface="+mj-lt" pitchFamily="34" charset="-122"/>
                <a:cs typeface="+mj-lt" pitchFamily="34" charset="-120"/>
              </a:rPr>
              <a:t>Loot</a:t>
            </a:r>
            <a:pPr indent="0" marL="0">
              <a:buNone/>
            </a:pPr>
            <a:r>
              <a:rPr lang="en-US" sz="3000" b="1" dirty="0">
                <a:solidFill>
                  <a:schemeClr val="accent2"/>
                </a:solidFill>
                <a:latin typeface="+mj-lt" pitchFamily="34" charset="0"/>
                <a:ea typeface="+mj-lt" pitchFamily="34" charset="-122"/>
                <a:cs typeface="+mj-lt" pitchFamily="34" charset="-120"/>
              </a:rPr>
              <a:t>Lager</a:t>
            </a:r>
            <a:endParaRPr lang="en-US" sz="3000" dirty="0"/>
          </a:p>
        </p:txBody>
      </p:sp>
      <p:sp>
        <p:nvSpPr>
          <p:cNvPr id="13" name="Text 9"/>
          <p:cNvSpPr txBox="1"/>
          <p:nvPr/>
        </p:nvSpPr>
        <p:spPr>
          <a:xfrm>
            <a:off x="7178040" y="2779776"/>
            <a:ext cx="4462272" cy="502920"/>
          </a:xfrm>
          <a:prstGeom prst="rect">
            <a:avLst/>
          </a:prstGeom>
          <a:noFill/>
          <a:ln/>
        </p:spPr>
        <p:txBody>
          <a:bodyPr wrap="square" lIns="0" tIns="0" rIns="0" bIns="0" rtlCol="0" anchor="ctr"/>
          <a:lstStyle/>
          <a:p>
            <a:pPr indent="0" marL="0">
              <a:buNone/>
            </a:pPr>
            <a:r>
              <a:rPr lang="en-US" sz="1600" dirty="0">
                <a:solidFill>
                  <a:schemeClr val="accent5"/>
                </a:solidFill>
              </a:rPr>
              <a:t>= das Lager voller Beute für dein Setup</a:t>
            </a:r>
            <a:endParaRPr lang="en-US" sz="1600" dirty="0"/>
          </a:p>
        </p:txBody>
      </p:sp>
      <p:sp>
        <p:nvSpPr>
          <p:cNvPr id="14" name="FIRMA"/>
          <p:cNvSpPr/>
          <p:nvPr/>
        </p:nvSpPr>
        <p:spPr>
          <a:xfrm>
            <a:off x="4800600" y="3474720"/>
            <a:ext cx="2816352" cy="1325880"/>
          </a:xfrm>
          <a:prstGeom prst="roundRect">
            <a:avLst>
              <a:gd name="adj" fmla="val 9655"/>
            </a:avLst>
          </a:prstGeom>
          <a:solidFill>
            <a:schemeClr val="bg1">
              <a:alpha val="7000"/>
            </a:schemeClr>
          </a:solidFill>
          <a:ln w="9525">
            <a:solidFill>
              <a:schemeClr val="bg1">
                <a:alpha val="14000"/>
              </a:schemeClr>
            </a:solidFill>
            <a:prstDash val="solid"/>
          </a:ln>
        </p:spPr>
      </p:sp>
      <p:sp>
        <p:nvSpPr>
          <p:cNvPr id="15" name="Text 11"/>
          <p:cNvSpPr txBox="1"/>
          <p:nvPr/>
        </p:nvSpPr>
        <p:spPr>
          <a:xfrm>
            <a:off x="5001768" y="3630168"/>
            <a:ext cx="2450592"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FIRMA</a:t>
            </a:r>
            <a:endParaRPr lang="en-US" sz="1000" dirty="0"/>
          </a:p>
        </p:txBody>
      </p:sp>
      <p:sp>
        <p:nvSpPr>
          <p:cNvPr id="16" name="Text 12"/>
          <p:cNvSpPr txBox="1"/>
          <p:nvPr/>
        </p:nvSpPr>
        <p:spPr>
          <a:xfrm>
            <a:off x="5001768" y="3877056"/>
            <a:ext cx="2450592" cy="502920"/>
          </a:xfrm>
          <a:prstGeom prst="rect">
            <a:avLst/>
          </a:prstGeom>
          <a:noFill/>
          <a:ln/>
        </p:spPr>
        <p:txBody>
          <a:bodyPr wrap="square" lIns="0" tIns="0" rIns="0" bIns="0" rtlCol="0" anchor="t"/>
          <a:lstStyle/>
          <a:p>
            <a:pPr indent="0" marL="0">
              <a:buNone/>
            </a:pPr>
            <a:r>
              <a:rPr lang="en-US" sz="1500" b="1" dirty="0">
                <a:solidFill>
                  <a:schemeClr val="bg1"/>
                </a:solidFill>
              </a:rPr>
              <a:t>LootLager UG (haftungsbeschränkt)</a:t>
            </a:r>
            <a:endParaRPr lang="en-US" sz="1500" dirty="0"/>
          </a:p>
        </p:txBody>
      </p:sp>
      <p:sp>
        <p:nvSpPr>
          <p:cNvPr id="17" name="Text 13"/>
          <p:cNvSpPr txBox="1"/>
          <p:nvPr/>
        </p:nvSpPr>
        <p:spPr>
          <a:xfrm>
            <a:off x="5001768" y="4389120"/>
            <a:ext cx="2450592" cy="365760"/>
          </a:xfrm>
          <a:prstGeom prst="rect">
            <a:avLst/>
          </a:prstGeom>
          <a:noFill/>
          <a:ln/>
        </p:spPr>
        <p:txBody>
          <a:bodyPr wrap="square" lIns="0" tIns="0" rIns="0" bIns="0" rtlCol="0" anchor="t"/>
          <a:lstStyle/>
          <a:p>
            <a:pPr indent="0" marL="0">
              <a:buNone/>
            </a:pPr>
            <a:r>
              <a:rPr lang="en-US" sz="1200" dirty="0">
                <a:solidFill>
                  <a:schemeClr val="accent5"/>
                </a:solidFill>
              </a:rPr>
              <a:t>rechtlicher Name, steht im Handelsregister</a:t>
            </a:r>
            <a:endParaRPr lang="en-US" sz="1200" dirty="0"/>
          </a:p>
        </p:txBody>
      </p:sp>
      <p:sp>
        <p:nvSpPr>
          <p:cNvPr id="18" name="MARKE"/>
          <p:cNvSpPr/>
          <p:nvPr/>
        </p:nvSpPr>
        <p:spPr>
          <a:xfrm>
            <a:off x="7799832" y="3474720"/>
            <a:ext cx="1920240" cy="1325880"/>
          </a:xfrm>
          <a:prstGeom prst="roundRect">
            <a:avLst>
              <a:gd name="adj" fmla="val 9655"/>
            </a:avLst>
          </a:prstGeom>
          <a:solidFill>
            <a:schemeClr val="bg1">
              <a:alpha val="7000"/>
            </a:schemeClr>
          </a:solidFill>
          <a:ln w="9525">
            <a:solidFill>
              <a:schemeClr val="bg1">
                <a:alpha val="14000"/>
              </a:schemeClr>
            </a:solidFill>
            <a:prstDash val="solid"/>
          </a:ln>
        </p:spPr>
      </p:sp>
      <p:sp>
        <p:nvSpPr>
          <p:cNvPr id="19" name="Text 15"/>
          <p:cNvSpPr txBox="1"/>
          <p:nvPr/>
        </p:nvSpPr>
        <p:spPr>
          <a:xfrm>
            <a:off x="8001000" y="3630168"/>
            <a:ext cx="1554480"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MARKE</a:t>
            </a:r>
            <a:endParaRPr lang="en-US" sz="1000" dirty="0"/>
          </a:p>
        </p:txBody>
      </p:sp>
      <p:sp>
        <p:nvSpPr>
          <p:cNvPr id="20" name="Text 16"/>
          <p:cNvSpPr txBox="1"/>
          <p:nvPr/>
        </p:nvSpPr>
        <p:spPr>
          <a:xfrm>
            <a:off x="8001000" y="3877056"/>
            <a:ext cx="1554480" cy="502920"/>
          </a:xfrm>
          <a:prstGeom prst="rect">
            <a:avLst/>
          </a:prstGeom>
          <a:noFill/>
          <a:ln/>
        </p:spPr>
        <p:txBody>
          <a:bodyPr wrap="square" lIns="0" tIns="0" rIns="0" bIns="0" rtlCol="0" anchor="t"/>
          <a:lstStyle/>
          <a:p>
            <a:pPr indent="0" marL="0">
              <a:buNone/>
            </a:pPr>
            <a:r>
              <a:rPr lang="en-US" sz="1500" b="1" dirty="0">
                <a:solidFill>
                  <a:schemeClr val="bg1"/>
                </a:solidFill>
              </a:rPr>
              <a:t>LootLager</a:t>
            </a:r>
            <a:endParaRPr lang="en-US" sz="1500" dirty="0"/>
          </a:p>
        </p:txBody>
      </p:sp>
      <p:sp>
        <p:nvSpPr>
          <p:cNvPr id="21" name="Text 17"/>
          <p:cNvSpPr txBox="1"/>
          <p:nvPr/>
        </p:nvSpPr>
        <p:spPr>
          <a:xfrm>
            <a:off x="8001000" y="4389120"/>
            <a:ext cx="1554480" cy="365760"/>
          </a:xfrm>
          <a:prstGeom prst="rect">
            <a:avLst/>
          </a:prstGeom>
          <a:noFill/>
          <a:ln/>
        </p:spPr>
        <p:txBody>
          <a:bodyPr wrap="square" lIns="0" tIns="0" rIns="0" bIns="0" rtlCol="0" anchor="t"/>
          <a:lstStyle/>
          <a:p>
            <a:pPr indent="0" marL="0">
              <a:buNone/>
            </a:pPr>
            <a:r>
              <a:rPr lang="en-US" sz="1200" dirty="0">
                <a:solidFill>
                  <a:schemeClr val="accent5"/>
                </a:solidFill>
              </a:rPr>
              <a:t>so kennen uns die Kunden</a:t>
            </a:r>
            <a:endParaRPr lang="en-US" sz="1200" dirty="0"/>
          </a:p>
        </p:txBody>
      </p:sp>
      <p:sp>
        <p:nvSpPr>
          <p:cNvPr id="22" name="DOMAIN"/>
          <p:cNvSpPr/>
          <p:nvPr/>
        </p:nvSpPr>
        <p:spPr>
          <a:xfrm>
            <a:off x="9902952" y="3474720"/>
            <a:ext cx="1737360" cy="1325880"/>
          </a:xfrm>
          <a:prstGeom prst="roundRect">
            <a:avLst>
              <a:gd name="adj" fmla="val 9655"/>
            </a:avLst>
          </a:prstGeom>
          <a:solidFill>
            <a:schemeClr val="bg1">
              <a:alpha val="7000"/>
            </a:schemeClr>
          </a:solidFill>
          <a:ln w="9525">
            <a:solidFill>
              <a:schemeClr val="bg1">
                <a:alpha val="14000"/>
              </a:schemeClr>
            </a:solidFill>
            <a:prstDash val="solid"/>
          </a:ln>
        </p:spPr>
      </p:sp>
      <p:sp>
        <p:nvSpPr>
          <p:cNvPr id="23" name="Text 19"/>
          <p:cNvSpPr txBox="1"/>
          <p:nvPr/>
        </p:nvSpPr>
        <p:spPr>
          <a:xfrm>
            <a:off x="10104120" y="3630168"/>
            <a:ext cx="1371600"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DOMAIN</a:t>
            </a:r>
            <a:endParaRPr lang="en-US" sz="1000" dirty="0"/>
          </a:p>
        </p:txBody>
      </p:sp>
      <p:sp>
        <p:nvSpPr>
          <p:cNvPr id="24" name="Text 20"/>
          <p:cNvSpPr txBox="1"/>
          <p:nvPr/>
        </p:nvSpPr>
        <p:spPr>
          <a:xfrm>
            <a:off x="10104120" y="3877056"/>
            <a:ext cx="1371600" cy="502920"/>
          </a:xfrm>
          <a:prstGeom prst="rect">
            <a:avLst/>
          </a:prstGeom>
          <a:noFill/>
          <a:ln/>
        </p:spPr>
        <p:txBody>
          <a:bodyPr wrap="square" lIns="0" tIns="0" rIns="0" bIns="0" rtlCol="0" anchor="t"/>
          <a:lstStyle/>
          <a:p>
            <a:pPr indent="0" marL="0">
              <a:buNone/>
            </a:pPr>
            <a:r>
              <a:rPr lang="en-US" sz="1500" b="1" dirty="0">
                <a:solidFill>
                  <a:schemeClr val="bg1"/>
                </a:solidFill>
              </a:rPr>
              <a:t>lootlager.de</a:t>
            </a:r>
            <a:endParaRPr lang="en-US" sz="1500" dirty="0"/>
          </a:p>
        </p:txBody>
      </p:sp>
      <p:sp>
        <p:nvSpPr>
          <p:cNvPr id="25" name="Text 21"/>
          <p:cNvSpPr txBox="1"/>
          <p:nvPr/>
        </p:nvSpPr>
        <p:spPr>
          <a:xfrm>
            <a:off x="10104120" y="4389120"/>
            <a:ext cx="1371600" cy="365760"/>
          </a:xfrm>
          <a:prstGeom prst="rect">
            <a:avLst/>
          </a:prstGeom>
          <a:noFill/>
          <a:ln/>
        </p:spPr>
        <p:txBody>
          <a:bodyPr wrap="square" lIns="0" tIns="0" rIns="0" bIns="0" rtlCol="0" anchor="t"/>
          <a:lstStyle/>
          <a:p>
            <a:pPr indent="0" marL="0">
              <a:buNone/>
            </a:pPr>
            <a:r>
              <a:rPr lang="en-US" sz="1200" dirty="0">
                <a:solidFill>
                  <a:schemeClr val="accent5"/>
                </a:solidFill>
              </a:rPr>
              <a:t>unsere Adresse im Internet</a:t>
            </a:r>
            <a:endParaRPr lang="en-US" sz="1200" dirty="0"/>
          </a:p>
        </p:txBody>
      </p:sp>
      <p:sp>
        <p:nvSpPr>
          <p:cNvPr id="26" name="Prompt"/>
          <p:cNvSpPr/>
          <p:nvPr/>
        </p:nvSpPr>
        <p:spPr>
          <a:xfrm>
            <a:off x="4800600" y="4983480"/>
            <a:ext cx="6839712" cy="1097280"/>
          </a:xfrm>
          <a:prstGeom prst="roundRect">
            <a:avLst>
              <a:gd name="adj" fmla="val 11667"/>
            </a:avLst>
          </a:prstGeom>
          <a:solidFill>
            <a:schemeClr val="bg1">
              <a:alpha val="7000"/>
            </a:schemeClr>
          </a:solidFill>
          <a:ln w="9525">
            <a:solidFill>
              <a:schemeClr val="bg1">
                <a:alpha val="14000"/>
              </a:schemeClr>
            </a:solidFill>
            <a:prstDash val="solid"/>
          </a:ln>
        </p:spPr>
      </p:sp>
      <p:sp>
        <p:nvSpPr>
          <p:cNvPr id="27" name="KI-Prompt Kreis"/>
          <p:cNvSpPr/>
          <p:nvPr/>
        </p:nvSpPr>
        <p:spPr>
          <a:xfrm>
            <a:off x="5001768" y="5138928"/>
            <a:ext cx="384048" cy="384048"/>
          </a:xfrm>
          <a:prstGeom prst="ellipse">
            <a:avLst/>
          </a:prstGeom>
          <a:solidFill>
            <a:schemeClr val="accent1"/>
          </a:solidFill>
          <a:ln/>
        </p:spPr>
      </p:sp>
      <p:pic>
        <p:nvPicPr>
          <p:cNvPr id="28" name="KI-Prompt Icon" descr="KI-Prompt">    </p:cNvPr>
          <p:cNvPicPr>
            <a:picLocks noChangeAspect="1"/>
          </p:cNvPicPr>
          <p:nvPr/>
        </p:nvPicPr>
        <p:blipFill>
          <a:blip r:embed="rId3"/>
          <a:stretch>
            <a:fillRect/>
          </a:stretch>
        </p:blipFill>
        <p:spPr>
          <a:xfrm>
            <a:off x="5097780" y="5234940"/>
            <a:ext cx="192024" cy="192024"/>
          </a:xfrm>
          <a:prstGeom prst="rect">
            <a:avLst/>
          </a:prstGeom>
        </p:spPr>
      </p:pic>
      <p:sp>
        <p:nvSpPr>
          <p:cNvPr id="29" name="Text 24"/>
          <p:cNvSpPr txBox="1"/>
          <p:nvPr/>
        </p:nvSpPr>
        <p:spPr>
          <a:xfrm>
            <a:off x="5550408" y="5102352"/>
            <a:ext cx="5897880" cy="896112"/>
          </a:xfrm>
          <a:prstGeom prst="rect">
            <a:avLst/>
          </a:prstGeom>
          <a:noFill/>
          <a:ln/>
        </p:spPr>
        <p:txBody>
          <a:bodyPr wrap="square" lIns="0" tIns="0" rIns="0" bIns="0" rtlCol="0" anchor="t"/>
          <a:lstStyle/>
          <a:p>
            <a:pPr indent="0" marL="0">
              <a:spcAft>
                <a:spcPts val="300"/>
              </a:spcAft>
              <a:buNone/>
            </a:pPr>
            <a:r>
              <a:rPr lang="en-US" sz="1200" b="1" dirty="0">
                <a:solidFill>
                  <a:schemeClr val="accent4"/>
                </a:solidFill>
              </a:rPr>
              <a:t>Unser Prompt für ChatGPT (gekürzt):</a:t>
            </a:r>
            <a:endParaRPr lang="en-US" sz="1300" dirty="0"/>
          </a:p>
          <a:p>
            <a:pPr indent="0" marL="0">
              <a:spcAft>
                <a:spcPts val="300"/>
              </a:spcAft>
              <a:buNone/>
            </a:pPr>
            <a:r>
              <a:rPr lang="en-US" sz="1300" i="1" dirty="0">
                <a:solidFill>
                  <a:schemeClr val="bg1"/>
                </a:solidFill>
              </a:rPr>
              <a:t>„Erstelle ein Logo für unseren Onlineshop LootLager. Symbol: eine stilisierte, leicht geöffnete Schatztruhe, aus der Licht strahlt. Stil: flaches Vektor-Design.“</a:t>
            </a:r>
            <a:endParaRPr lang="en-US" sz="13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apitel"/>
          <p:cNvSpPr txBox="1"/>
          <p:nvPr/>
        </p:nvSpPr>
        <p:spPr>
          <a:xfrm>
            <a:off x="548640" y="384048"/>
            <a:ext cx="1532534"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03  </a:t>
            </a:r>
            <a:pPr indent="0" marL="0">
              <a:buNone/>
            </a:pPr>
            <a:r>
              <a:rPr lang="en-US" sz="1200" b="1" dirty="0">
                <a:solidFill>
                  <a:schemeClr val="bg1"/>
                </a:solidFill>
              </a:rPr>
              <a:t>Rechtsform</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Warum eine </a:t>
            </a:r>
            <a:pPr algn="l" indent="0" marL="0">
              <a:buNone/>
            </a:pPr>
            <a:r>
              <a:rPr lang="en-US" sz="3400" b="1" dirty="0">
                <a:solidFill>
                  <a:schemeClr val="accent2"/>
                </a:solidFill>
              </a:rPr>
              <a:t>UG (haftungsbeschränkt)?</a:t>
            </a:r>
            <a:endParaRPr lang="en-US" sz="3400" dirty="0"/>
          </a:p>
        </p:txBody>
      </p:sp>
      <p:sp>
        <p:nvSpPr>
          <p:cNvPr id="4" name="Haftung beschränkt"/>
          <p:cNvSpPr/>
          <p:nvPr/>
        </p:nvSpPr>
        <p:spPr>
          <a:xfrm>
            <a:off x="548640" y="1645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5" name="Haftung beschränkt Kreis"/>
          <p:cNvSpPr/>
          <p:nvPr/>
        </p:nvSpPr>
        <p:spPr>
          <a:xfrm>
            <a:off x="822960" y="1920240"/>
            <a:ext cx="566928" cy="566928"/>
          </a:xfrm>
          <a:prstGeom prst="ellipse">
            <a:avLst/>
          </a:prstGeom>
          <a:solidFill>
            <a:schemeClr val="accent1"/>
          </a:solidFill>
          <a:ln/>
        </p:spPr>
      </p:sp>
      <p:pic>
        <p:nvPicPr>
          <p:cNvPr id="6" name="Haftung beschränkt Icon" descr="Haftung beschränkt">    </p:cNvPr>
          <p:cNvPicPr>
            <a:picLocks noChangeAspect="1"/>
          </p:cNvPicPr>
          <p:nvPr/>
        </p:nvPicPr>
        <p:blipFill>
          <a:blip r:embed="rId1"/>
          <a:stretch>
            <a:fillRect/>
          </a:stretch>
        </p:blipFill>
        <p:spPr>
          <a:xfrm>
            <a:off x="964692" y="2061972"/>
            <a:ext cx="283464" cy="283464"/>
          </a:xfrm>
          <a:prstGeom prst="rect">
            <a:avLst/>
          </a:prstGeom>
        </p:spPr>
      </p:pic>
      <p:sp>
        <p:nvSpPr>
          <p:cNvPr id="7" name="Text 4"/>
          <p:cNvSpPr txBox="1"/>
          <p:nvPr/>
        </p:nvSpPr>
        <p:spPr>
          <a:xfrm>
            <a:off x="1554480" y="1920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Haftung beschränkt</a:t>
            </a:r>
            <a:endParaRPr lang="en-US" sz="1800" dirty="0"/>
          </a:p>
        </p:txBody>
      </p:sp>
      <p:sp>
        <p:nvSpPr>
          <p:cNvPr id="8" name="Text 5"/>
          <p:cNvSpPr txBox="1"/>
          <p:nvPr/>
        </p:nvSpPr>
        <p:spPr>
          <a:xfrm>
            <a:off x="822960" y="2697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Bei Schulden haftet nur die Firma, nicht unser Privatvermögen.</a:t>
            </a:r>
            <a:endParaRPr lang="en-US" sz="1500" dirty="0"/>
          </a:p>
        </p:txBody>
      </p:sp>
      <p:sp>
        <p:nvSpPr>
          <p:cNvPr id="9" name="Wenig Startkapital"/>
          <p:cNvSpPr/>
          <p:nvPr/>
        </p:nvSpPr>
        <p:spPr>
          <a:xfrm>
            <a:off x="4206240" y="1645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10" name="Wenig Startkapital Kreis"/>
          <p:cNvSpPr/>
          <p:nvPr/>
        </p:nvSpPr>
        <p:spPr>
          <a:xfrm>
            <a:off x="4480560" y="1920240"/>
            <a:ext cx="566928" cy="566928"/>
          </a:xfrm>
          <a:prstGeom prst="ellipse">
            <a:avLst/>
          </a:prstGeom>
          <a:solidFill>
            <a:schemeClr val="accent1"/>
          </a:solidFill>
          <a:ln/>
        </p:spPr>
      </p:sp>
      <p:pic>
        <p:nvPicPr>
          <p:cNvPr id="11" name="Wenig Startkapital Icon" descr="Wenig Startkapital">    </p:cNvPr>
          <p:cNvPicPr>
            <a:picLocks noChangeAspect="1"/>
          </p:cNvPicPr>
          <p:nvPr/>
        </p:nvPicPr>
        <p:blipFill>
          <a:blip r:embed="rId2"/>
          <a:stretch>
            <a:fillRect/>
          </a:stretch>
        </p:blipFill>
        <p:spPr>
          <a:xfrm>
            <a:off x="4622292" y="2061972"/>
            <a:ext cx="283464" cy="283464"/>
          </a:xfrm>
          <a:prstGeom prst="rect">
            <a:avLst/>
          </a:prstGeom>
        </p:spPr>
      </p:pic>
      <p:sp>
        <p:nvSpPr>
          <p:cNvPr id="12" name="Text 8"/>
          <p:cNvSpPr txBox="1"/>
          <p:nvPr/>
        </p:nvSpPr>
        <p:spPr>
          <a:xfrm>
            <a:off x="5212080" y="1920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Wenig Startkapital</a:t>
            </a:r>
            <a:endParaRPr lang="en-US" sz="1800" dirty="0"/>
          </a:p>
        </p:txBody>
      </p:sp>
      <p:sp>
        <p:nvSpPr>
          <p:cNvPr id="13" name="Text 9"/>
          <p:cNvSpPr txBox="1"/>
          <p:nvPr/>
        </p:nvSpPr>
        <p:spPr>
          <a:xfrm>
            <a:off x="4480560" y="2697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Gründung ab 1 € möglich. Wir starten mit 1.000 €, je 500 € pro Person.</a:t>
            </a:r>
            <a:endParaRPr lang="en-US" sz="1500" dirty="0"/>
          </a:p>
        </p:txBody>
      </p:sp>
      <p:sp>
        <p:nvSpPr>
          <p:cNvPr id="14" name="Zwei Gesellschafter"/>
          <p:cNvSpPr/>
          <p:nvPr/>
        </p:nvSpPr>
        <p:spPr>
          <a:xfrm>
            <a:off x="548640" y="3931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15" name="Zwei Gesellschafter Kreis"/>
          <p:cNvSpPr/>
          <p:nvPr/>
        </p:nvSpPr>
        <p:spPr>
          <a:xfrm>
            <a:off x="822960" y="4206240"/>
            <a:ext cx="566928" cy="566928"/>
          </a:xfrm>
          <a:prstGeom prst="ellipse">
            <a:avLst/>
          </a:prstGeom>
          <a:solidFill>
            <a:schemeClr val="accent1"/>
          </a:solidFill>
          <a:ln/>
        </p:spPr>
      </p:sp>
      <p:pic>
        <p:nvPicPr>
          <p:cNvPr id="16" name="Zwei Gesellschafter Icon" descr="Zwei Gesellschafter">    </p:cNvPr>
          <p:cNvPicPr>
            <a:picLocks noChangeAspect="1"/>
          </p:cNvPicPr>
          <p:nvPr/>
        </p:nvPicPr>
        <p:blipFill>
          <a:blip r:embed="rId3"/>
          <a:stretch>
            <a:fillRect/>
          </a:stretch>
        </p:blipFill>
        <p:spPr>
          <a:xfrm>
            <a:off x="964692" y="4347972"/>
            <a:ext cx="283464" cy="283464"/>
          </a:xfrm>
          <a:prstGeom prst="rect">
            <a:avLst/>
          </a:prstGeom>
        </p:spPr>
      </p:pic>
      <p:sp>
        <p:nvSpPr>
          <p:cNvPr id="17" name="Text 12"/>
          <p:cNvSpPr txBox="1"/>
          <p:nvPr/>
        </p:nvSpPr>
        <p:spPr>
          <a:xfrm>
            <a:off x="1554480" y="4206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Zwei Gesellschafter</a:t>
            </a:r>
            <a:endParaRPr lang="en-US" sz="1800" dirty="0"/>
          </a:p>
        </p:txBody>
      </p:sp>
      <p:sp>
        <p:nvSpPr>
          <p:cNvPr id="18" name="Text 13"/>
          <p:cNvSpPr txBox="1"/>
          <p:nvPr/>
        </p:nvSpPr>
        <p:spPr>
          <a:xfrm>
            <a:off x="822960" y="4983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Nick und Luca halten je 50 % und führen gemeinsam die Geschäfte.</a:t>
            </a:r>
            <a:endParaRPr lang="en-US" sz="1500" dirty="0"/>
          </a:p>
        </p:txBody>
      </p:sp>
      <p:sp>
        <p:nvSpPr>
          <p:cNvPr id="19" name="Später eine GmbH"/>
          <p:cNvSpPr/>
          <p:nvPr/>
        </p:nvSpPr>
        <p:spPr>
          <a:xfrm>
            <a:off x="4206240" y="3931920"/>
            <a:ext cx="3429000" cy="2057400"/>
          </a:xfrm>
          <a:prstGeom prst="roundRect">
            <a:avLst>
              <a:gd name="adj" fmla="val 6222"/>
            </a:avLst>
          </a:prstGeom>
          <a:solidFill>
            <a:schemeClr val="bg1">
              <a:alpha val="7000"/>
            </a:schemeClr>
          </a:solidFill>
          <a:ln w="9525">
            <a:solidFill>
              <a:schemeClr val="bg1">
                <a:alpha val="14000"/>
              </a:schemeClr>
            </a:solidFill>
            <a:prstDash val="solid"/>
          </a:ln>
        </p:spPr>
      </p:sp>
      <p:sp>
        <p:nvSpPr>
          <p:cNvPr id="20" name="Später eine GmbH Kreis"/>
          <p:cNvSpPr/>
          <p:nvPr/>
        </p:nvSpPr>
        <p:spPr>
          <a:xfrm>
            <a:off x="4480560" y="4206240"/>
            <a:ext cx="566928" cy="566928"/>
          </a:xfrm>
          <a:prstGeom prst="ellipse">
            <a:avLst/>
          </a:prstGeom>
          <a:solidFill>
            <a:schemeClr val="accent1"/>
          </a:solidFill>
          <a:ln/>
        </p:spPr>
      </p:sp>
      <p:pic>
        <p:nvPicPr>
          <p:cNvPr id="21" name="Später eine GmbH Icon" descr="Später eine GmbH">    </p:cNvPr>
          <p:cNvPicPr>
            <a:picLocks noChangeAspect="1"/>
          </p:cNvPicPr>
          <p:nvPr/>
        </p:nvPicPr>
        <p:blipFill>
          <a:blip r:embed="rId4"/>
          <a:stretch>
            <a:fillRect/>
          </a:stretch>
        </p:blipFill>
        <p:spPr>
          <a:xfrm>
            <a:off x="4622292" y="4347972"/>
            <a:ext cx="283464" cy="283464"/>
          </a:xfrm>
          <a:prstGeom prst="rect">
            <a:avLst/>
          </a:prstGeom>
        </p:spPr>
      </p:pic>
      <p:sp>
        <p:nvSpPr>
          <p:cNvPr id="22" name="Text 16"/>
          <p:cNvSpPr txBox="1"/>
          <p:nvPr/>
        </p:nvSpPr>
        <p:spPr>
          <a:xfrm>
            <a:off x="5212080" y="4206240"/>
            <a:ext cx="2286000" cy="566928"/>
          </a:xfrm>
          <a:prstGeom prst="rect">
            <a:avLst/>
          </a:prstGeom>
          <a:noFill/>
          <a:ln/>
        </p:spPr>
        <p:txBody>
          <a:bodyPr wrap="square" lIns="0" tIns="0" rIns="0" bIns="0" rtlCol="0" anchor="ctr"/>
          <a:lstStyle/>
          <a:p>
            <a:pPr indent="0" marL="0">
              <a:buNone/>
            </a:pPr>
            <a:r>
              <a:rPr lang="en-US" sz="1800" b="1" dirty="0">
                <a:solidFill>
                  <a:schemeClr val="bg1"/>
                </a:solidFill>
              </a:rPr>
              <a:t>Später eine GmbH</a:t>
            </a:r>
            <a:endParaRPr lang="en-US" sz="1800" dirty="0"/>
          </a:p>
        </p:txBody>
      </p:sp>
      <p:sp>
        <p:nvSpPr>
          <p:cNvPr id="23" name="Text 17"/>
          <p:cNvSpPr txBox="1"/>
          <p:nvPr/>
        </p:nvSpPr>
        <p:spPr>
          <a:xfrm>
            <a:off x="4480560" y="4983480"/>
            <a:ext cx="2880360" cy="868680"/>
          </a:xfrm>
          <a:prstGeom prst="rect">
            <a:avLst/>
          </a:prstGeom>
          <a:noFill/>
          <a:ln/>
        </p:spPr>
        <p:txBody>
          <a:bodyPr wrap="square" lIns="0" tIns="0" rIns="0" bIns="0" rtlCol="0" anchor="t"/>
          <a:lstStyle/>
          <a:p>
            <a:pPr indent="0" marL="0">
              <a:buNone/>
            </a:pPr>
            <a:r>
              <a:rPr lang="en-US" sz="1500" dirty="0">
                <a:solidFill>
                  <a:schemeClr val="accent5"/>
                </a:solidFill>
              </a:rPr>
              <a:t>Ab 25.000 € Stammkapital können wir zur GmbH werden.</a:t>
            </a:r>
            <a:endParaRPr lang="en-US" sz="1500" dirty="0"/>
          </a:p>
        </p:txBody>
      </p:sp>
      <p:sp>
        <p:nvSpPr>
          <p:cNvPr id="24" name="Nachteile"/>
          <p:cNvSpPr/>
          <p:nvPr/>
        </p:nvSpPr>
        <p:spPr>
          <a:xfrm>
            <a:off x="7863840" y="1645920"/>
            <a:ext cx="3779215" cy="2697480"/>
          </a:xfrm>
          <a:prstGeom prst="roundRect">
            <a:avLst>
              <a:gd name="adj" fmla="val 4746"/>
            </a:avLst>
          </a:prstGeom>
          <a:solidFill>
            <a:schemeClr val="accent3">
              <a:alpha val="12000"/>
            </a:schemeClr>
          </a:solidFill>
          <a:ln w="9525">
            <a:solidFill>
              <a:schemeClr val="accent3">
                <a:alpha val="40000"/>
              </a:schemeClr>
            </a:solidFill>
            <a:prstDash val="solid"/>
          </a:ln>
        </p:spPr>
      </p:sp>
      <p:sp>
        <p:nvSpPr>
          <p:cNvPr id="25" name="Nachteile Kreis"/>
          <p:cNvSpPr/>
          <p:nvPr/>
        </p:nvSpPr>
        <p:spPr>
          <a:xfrm>
            <a:off x="8138160" y="1920240"/>
            <a:ext cx="566928" cy="566928"/>
          </a:xfrm>
          <a:prstGeom prst="ellipse">
            <a:avLst/>
          </a:prstGeom>
          <a:solidFill>
            <a:schemeClr val="accent3"/>
          </a:solidFill>
          <a:ln/>
        </p:spPr>
      </p:sp>
      <p:pic>
        <p:nvPicPr>
          <p:cNvPr id="26" name="Nachteile Icon" descr="Nachteile">    </p:cNvPr>
          <p:cNvPicPr>
            <a:picLocks noChangeAspect="1"/>
          </p:cNvPicPr>
          <p:nvPr/>
        </p:nvPicPr>
        <p:blipFill>
          <a:blip r:embed="rId5"/>
          <a:stretch>
            <a:fillRect/>
          </a:stretch>
        </p:blipFill>
        <p:spPr>
          <a:xfrm>
            <a:off x="8279892" y="2061972"/>
            <a:ext cx="283464" cy="283464"/>
          </a:xfrm>
          <a:prstGeom prst="rect">
            <a:avLst/>
          </a:prstGeom>
        </p:spPr>
      </p:pic>
      <p:sp>
        <p:nvSpPr>
          <p:cNvPr id="27" name="Text 20"/>
          <p:cNvSpPr txBox="1"/>
          <p:nvPr/>
        </p:nvSpPr>
        <p:spPr>
          <a:xfrm>
            <a:off x="8869680" y="1920240"/>
            <a:ext cx="2286000" cy="566928"/>
          </a:xfrm>
          <a:prstGeom prst="rect">
            <a:avLst/>
          </a:prstGeom>
          <a:noFill/>
          <a:ln/>
        </p:spPr>
        <p:txBody>
          <a:bodyPr wrap="square" lIns="0" tIns="0" rIns="0" bIns="0" rtlCol="0" anchor="ctr"/>
          <a:lstStyle/>
          <a:p>
            <a:pPr indent="0" marL="0">
              <a:buNone/>
            </a:pPr>
            <a:r>
              <a:rPr lang="en-US" sz="1800" b="1" dirty="0">
                <a:solidFill>
                  <a:schemeClr val="accent3"/>
                </a:solidFill>
              </a:rPr>
              <a:t>Nachteile</a:t>
            </a:r>
            <a:endParaRPr lang="en-US" sz="1800" dirty="0"/>
          </a:p>
        </p:txBody>
      </p:sp>
      <p:sp>
        <p:nvSpPr>
          <p:cNvPr id="28" name="Text 21"/>
          <p:cNvSpPr txBox="1"/>
          <p:nvPr/>
        </p:nvSpPr>
        <p:spPr>
          <a:xfrm>
            <a:off x="8138160" y="2715768"/>
            <a:ext cx="3322015" cy="150876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bg1"/>
                </a:solidFill>
              </a:rPr>
              <a:t>25 % vom Gewinn müssen in die Rücklage</a:t>
            </a:r>
            <a:endParaRPr lang="en-US" sz="1400" dirty="0"/>
          </a:p>
          <a:p>
            <a:pPr marL="177800" indent="-177800">
              <a:spcAft>
                <a:spcPts val="600"/>
              </a:spcAft>
              <a:buSzPct val="100000"/>
              <a:buChar char="•"/>
            </a:pPr>
            <a:r>
              <a:rPr lang="en-US" sz="1400" dirty="0">
                <a:solidFill>
                  <a:schemeClr val="bg1"/>
                </a:solidFill>
              </a:rPr>
              <a:t>Notar und Handelsregister kosten Geld</a:t>
            </a:r>
            <a:endParaRPr lang="en-US" sz="1400" dirty="0"/>
          </a:p>
          <a:p>
            <a:pPr marL="177800" indent="-177800">
              <a:spcAft>
                <a:spcPts val="600"/>
              </a:spcAft>
              <a:buSzPct val="100000"/>
              <a:buChar char="•"/>
            </a:pPr>
            <a:r>
              <a:rPr lang="en-US" sz="1400" dirty="0">
                <a:solidFill>
                  <a:schemeClr val="bg1"/>
                </a:solidFill>
              </a:rPr>
              <a:t>Wirkt bei Banken und Lieferanten weniger kreditwürdig</a:t>
            </a:r>
            <a:endParaRPr lang="en-US" sz="1400" dirty="0"/>
          </a:p>
        </p:txBody>
      </p:sp>
      <p:sp>
        <p:nvSpPr>
          <p:cNvPr id="29" name="Alternative GmbH"/>
          <p:cNvSpPr/>
          <p:nvPr/>
        </p:nvSpPr>
        <p:spPr>
          <a:xfrm>
            <a:off x="7863840" y="4526280"/>
            <a:ext cx="3779215" cy="1463040"/>
          </a:xfrm>
          <a:prstGeom prst="roundRect">
            <a:avLst>
              <a:gd name="adj" fmla="val 8750"/>
            </a:avLst>
          </a:prstGeom>
          <a:solidFill>
            <a:schemeClr val="bg1">
              <a:alpha val="7000"/>
            </a:schemeClr>
          </a:solidFill>
          <a:ln w="9525">
            <a:solidFill>
              <a:schemeClr val="bg1">
                <a:alpha val="14000"/>
              </a:schemeClr>
            </a:solidFill>
            <a:prstDash val="solid"/>
          </a:ln>
        </p:spPr>
      </p:sp>
      <p:sp>
        <p:nvSpPr>
          <p:cNvPr id="30" name="Text 23"/>
          <p:cNvSpPr txBox="1"/>
          <p:nvPr/>
        </p:nvSpPr>
        <p:spPr>
          <a:xfrm>
            <a:off x="8138160" y="4690872"/>
            <a:ext cx="3322015" cy="201168"/>
          </a:xfrm>
          <a:prstGeom prst="rect">
            <a:avLst/>
          </a:prstGeom>
          <a:noFill/>
          <a:ln/>
        </p:spPr>
        <p:txBody>
          <a:bodyPr wrap="square" lIns="0" tIns="0" rIns="0" bIns="0" rtlCol="0" anchor="t"/>
          <a:lstStyle/>
          <a:p>
            <a:pPr indent="0" marL="0">
              <a:buNone/>
            </a:pPr>
            <a:r>
              <a:rPr lang="en-US" sz="1000" b="1" spc="200" kern="0" dirty="0">
                <a:solidFill>
                  <a:schemeClr val="accent4"/>
                </a:solidFill>
              </a:rPr>
              <a:t>ALTERNATIVE: GMBH</a:t>
            </a:r>
            <a:endParaRPr lang="en-US" sz="1000" dirty="0"/>
          </a:p>
        </p:txBody>
      </p:sp>
      <p:sp>
        <p:nvSpPr>
          <p:cNvPr id="31" name="Text 24"/>
          <p:cNvSpPr txBox="1"/>
          <p:nvPr/>
        </p:nvSpPr>
        <p:spPr>
          <a:xfrm>
            <a:off x="8138160" y="4910328"/>
            <a:ext cx="3322015" cy="45720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25.000 €</a:t>
            </a:r>
            <a:endParaRPr lang="en-US" sz="2800" dirty="0"/>
          </a:p>
        </p:txBody>
      </p:sp>
      <p:sp>
        <p:nvSpPr>
          <p:cNvPr id="32" name="Text 25"/>
          <p:cNvSpPr txBox="1"/>
          <p:nvPr/>
        </p:nvSpPr>
        <p:spPr>
          <a:xfrm>
            <a:off x="8138160" y="5394960"/>
            <a:ext cx="3322015" cy="457200"/>
          </a:xfrm>
          <a:prstGeom prst="rect">
            <a:avLst/>
          </a:prstGeom>
          <a:noFill/>
          <a:ln/>
        </p:spPr>
        <p:txBody>
          <a:bodyPr wrap="square" lIns="0" tIns="0" rIns="0" bIns="0" rtlCol="0" anchor="t"/>
          <a:lstStyle/>
          <a:p>
            <a:pPr indent="0" marL="0">
              <a:buNone/>
            </a:pPr>
            <a:r>
              <a:rPr lang="en-US" sz="1250" dirty="0">
                <a:solidFill>
                  <a:schemeClr val="accent5"/>
                </a:solidFill>
              </a:rPr>
              <a:t>Stammkapital braucht eine GmbH, davon mindestens 12.500 € bei der Anmeldung.</a:t>
            </a:r>
            <a:endParaRPr lang="en-US" sz="125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apitel"/>
          <p:cNvSpPr txBox="1"/>
          <p:nvPr/>
        </p:nvSpPr>
        <p:spPr>
          <a:xfrm>
            <a:off x="548640" y="384048"/>
            <a:ext cx="1773936"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04  </a:t>
            </a:r>
            <a:pPr indent="0" marL="0">
              <a:buNone/>
            </a:pPr>
            <a:r>
              <a:rPr lang="en-US" sz="1200" b="1" dirty="0">
                <a:solidFill>
                  <a:schemeClr val="bg1"/>
                </a:solidFill>
              </a:rPr>
              <a:t>Anbietersuche</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Anbietersuche: </a:t>
            </a:r>
            <a:pPr algn="l" indent="0" marL="0">
              <a:buNone/>
            </a:pPr>
            <a:r>
              <a:rPr lang="en-US" sz="3400" b="1" dirty="0">
                <a:solidFill>
                  <a:schemeClr val="accent2"/>
                </a:solidFill>
              </a:rPr>
              <a:t>Womit bauen wir den Shop?</a:t>
            </a:r>
            <a:endParaRPr lang="en-US" sz="3400" dirty="0"/>
          </a:p>
        </p:txBody>
      </p:sp>
      <p:sp>
        <p:nvSpPr>
          <p:cNvPr id="4" name="Text 2"/>
          <p:cNvSpPr txBox="1"/>
          <p:nvPr/>
        </p:nvSpPr>
        <p:spPr>
          <a:xfrm>
            <a:off x="548640" y="1572768"/>
            <a:ext cx="11094415" cy="274320"/>
          </a:xfrm>
          <a:prstGeom prst="rect">
            <a:avLst/>
          </a:prstGeom>
          <a:noFill/>
          <a:ln/>
        </p:spPr>
        <p:txBody>
          <a:bodyPr wrap="square" lIns="0" tIns="0" rIns="0" bIns="0" rtlCol="0" anchor="ctr"/>
          <a:lstStyle/>
          <a:p>
            <a:pPr indent="0" marL="0">
              <a:buNone/>
            </a:pPr>
            <a:r>
              <a:rPr lang="en-US" sz="1350" b="1" dirty="0">
                <a:solidFill>
                  <a:schemeClr val="bg1"/>
                </a:solidFill>
              </a:rPr>
              <a:t>Nutzwertanalyse: </a:t>
            </a:r>
            <a:pPr indent="0" marL="0">
              <a:buNone/>
            </a:pPr>
            <a:r>
              <a:rPr lang="en-US" sz="1350" dirty="0">
                <a:solidFill>
                  <a:schemeClr val="accent5"/>
                </a:solidFill>
              </a:rPr>
              <a:t>Punkte von 1 (schlecht) bis 10 (sehr gut). Summe = Punkte × Gewichtung. Preise Stand Oktober 2026.</a:t>
            </a:r>
            <a:endParaRPr lang="en-US" sz="1350" dirty="0"/>
          </a:p>
        </p:txBody>
      </p:sp>
      <p:sp>
        <p:nvSpPr>
          <p:cNvPr id="5" name="Excel-Fenster"/>
          <p:cNvSpPr/>
          <p:nvPr/>
        </p:nvSpPr>
        <p:spPr>
          <a:xfrm>
            <a:off x="548640" y="1920240"/>
            <a:ext cx="11094415" cy="3291840"/>
          </a:xfrm>
          <a:prstGeom prst="roundRect">
            <a:avLst>
              <a:gd name="adj" fmla="val 3889"/>
            </a:avLst>
          </a:prstGeom>
          <a:solidFill>
            <a:schemeClr val="bg1"/>
          </a:solidFill>
          <a:ln/>
        </p:spPr>
      </p:sp>
      <p:sp>
        <p:nvSpPr>
          <p:cNvPr id="6" name="Namensfeld"/>
          <p:cNvSpPr/>
          <p:nvPr/>
        </p:nvSpPr>
        <p:spPr>
          <a:xfrm>
            <a:off x="658368" y="2011680"/>
            <a:ext cx="594360" cy="246888"/>
          </a:xfrm>
          <a:prstGeom prst="rect">
            <a:avLst/>
          </a:prstGeom>
          <a:noFill/>
          <a:ln w="9525">
            <a:solidFill>
              <a:srgbClr val="E6E1F5"/>
            </a:solidFill>
          </a:ln>
        </p:spPr>
        <p:txBody>
          <a:bodyPr wrap="square" lIns="76200" tIns="0" rIns="76200" bIns="0" rtlCol="0" anchor="ctr"/>
          <a:lstStyle/>
          <a:p>
            <a:pPr algn="ctr" indent="0" marL="0">
              <a:buNone/>
            </a:pPr>
            <a:r>
              <a:rPr lang="en-US" sz="1000" dirty="0">
                <a:solidFill>
                  <a:schemeClr val="tx1"/>
                </a:solidFill>
              </a:rPr>
              <a:t>C10</a:t>
            </a:r>
            <a:endParaRPr lang="en-US" sz="1000" dirty="0"/>
          </a:p>
        </p:txBody>
      </p:sp>
      <p:sp>
        <p:nvSpPr>
          <p:cNvPr id="7" name="fx"/>
          <p:cNvSpPr/>
          <p:nvPr/>
        </p:nvSpPr>
        <p:spPr>
          <a:xfrm>
            <a:off x="1298448" y="2011680"/>
            <a:ext cx="320040" cy="246888"/>
          </a:xfrm>
          <a:prstGeom prst="rect">
            <a:avLst/>
          </a:prstGeom>
          <a:noFill/>
          <a:ln/>
        </p:spPr>
        <p:txBody>
          <a:bodyPr wrap="square" lIns="0" tIns="0" rIns="0" bIns="0" rtlCol="0" anchor="ctr"/>
          <a:lstStyle/>
          <a:p>
            <a:pPr algn="ctr" indent="0" marL="0">
              <a:buNone/>
            </a:pPr>
            <a:r>
              <a:rPr lang="en-US" sz="1000" i="1" dirty="0">
                <a:solidFill>
                  <a:schemeClr val="tx2"/>
                </a:solidFill>
              </a:rPr>
              <a:t>fx</a:t>
            </a:r>
            <a:endParaRPr lang="en-US" sz="1000" dirty="0"/>
          </a:p>
        </p:txBody>
      </p:sp>
      <p:sp>
        <p:nvSpPr>
          <p:cNvPr id="8" name="Formel"/>
          <p:cNvSpPr/>
          <p:nvPr/>
        </p:nvSpPr>
        <p:spPr>
          <a:xfrm>
            <a:off x="1645920" y="2011680"/>
            <a:ext cx="5120640" cy="246888"/>
          </a:xfrm>
          <a:prstGeom prst="rect">
            <a:avLst/>
          </a:prstGeom>
          <a:noFill/>
          <a:ln w="9525">
            <a:solidFill>
              <a:srgbClr val="E6E1F5"/>
            </a:solidFill>
          </a:ln>
        </p:spPr>
        <p:txBody>
          <a:bodyPr wrap="square" lIns="76200" tIns="0" rIns="76200" bIns="0" rtlCol="0" anchor="ctr"/>
          <a:lstStyle/>
          <a:p>
            <a:pPr indent="0" marL="0">
              <a:buNone/>
            </a:pPr>
            <a:r>
              <a:rPr lang="en-US" sz="1000" dirty="0">
                <a:solidFill>
                  <a:schemeClr val="tx1"/>
                </a:solidFill>
              </a:rPr>
              <a:t>=SUMMENPRODUKT($B$4:$B$9;C4:C9)</a:t>
            </a:r>
            <a:endParaRPr lang="en-US" sz="1000" dirty="0"/>
          </a:p>
        </p:txBody>
      </p:sp>
      <p:sp>
        <p:nvSpPr>
          <p:cNvPr id="9" name="Dateiname"/>
          <p:cNvSpPr/>
          <p:nvPr/>
        </p:nvSpPr>
        <p:spPr>
          <a:xfrm>
            <a:off x="7680960" y="2011680"/>
            <a:ext cx="3849624" cy="246888"/>
          </a:xfrm>
          <a:prstGeom prst="rect">
            <a:avLst/>
          </a:prstGeom>
          <a:noFill/>
          <a:ln/>
        </p:spPr>
        <p:txBody>
          <a:bodyPr wrap="square" lIns="0" tIns="0" rIns="0" bIns="0" rtlCol="0" anchor="ctr"/>
          <a:lstStyle/>
          <a:p>
            <a:pPr algn="r" indent="0" marL="0">
              <a:buNone/>
            </a:pPr>
            <a:r>
              <a:rPr lang="en-US" sz="1000" b="1" dirty="0">
                <a:solidFill>
                  <a:schemeClr val="tx2"/>
                </a:solidFill>
              </a:rPr>
              <a:t>Datei: Nutzwertanalyse.xlsx</a:t>
            </a:r>
            <a:endParaRPr lang="en-US" sz="1000" dirty="0"/>
          </a:p>
        </p:txBody>
      </p:sp>
      <p:graphicFrame>
        <p:nvGraphicFramePr>
          <p:cNvPr id="6" name="Nutzwertanalyse"/>
          <p:cNvGraphicFramePr>
            <a:graphicFrameLocks noGrp="1"/>
          </p:cNvGraphicFramePr>
          <p:nvPr>
            <p:extLst>
              <p:ext uri="{D42A27DB-BD31-4B8C-83A1-F6EECF244321}">
                <p14:modId xmlns:p14="http://schemas.microsoft.com/office/powerpoint/2010/main" val="1579011935"/>
              </p:ext>
            </p:extLst>
          </p:nvPr>
        </p:nvGraphicFramePr>
        <p:xfrm>
          <a:off x="658368" y="2350008"/>
          <a:ext cx="10872216" cy="914400"/>
        </p:xfrm>
        <a:graphic>
          <a:graphicData uri="http://schemas.openxmlformats.org/drawingml/2006/table">
            <a:tbl>
              <a:tblPr/>
              <a:tblGrid>
                <a:gridCol w="365760"/>
                <a:gridCol w="3017520"/>
                <a:gridCol w="1143000"/>
                <a:gridCol w="1554480"/>
                <a:gridCol w="1554480"/>
                <a:gridCol w="1554480"/>
                <a:gridCol w="1682496"/>
              </a:tblGrid>
              <a:tr h="182880">
                <a:tc>
                  <a:txBody>
                    <a:bodyPr/>
                    <a:lstStyle/>
                    <a:p>
                      <a:pPr algn="ctr" indent="0" marL="0">
                        <a:buNone/>
                      </a:pP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A</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B</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C</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D</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E</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900" dirty="0">
                          <a:solidFill>
                            <a:schemeClr val="tx2"/>
                          </a:solidFill>
                        </a:rPr>
                        <a:t>F</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r>
              <a:tr h="274320">
                <a:tc>
                  <a:txBody>
                    <a:bodyPr/>
                    <a:lstStyle/>
                    <a:p>
                      <a:pPr algn="ctr" indent="0" marL="0">
                        <a:buNone/>
                      </a:pPr>
                      <a:r>
                        <a:rPr lang="en-US" sz="900" dirty="0">
                          <a:solidFill>
                            <a:schemeClr val="tx2"/>
                          </a:solidFill>
                        </a:rPr>
                        <a:t>1</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Kriterium</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Gewichtung</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bg1"/>
                          </a:solidFill>
                        </a:rPr>
                        <a:t>Netlify</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tx1"/>
                          </a:solidFill>
                        </a:rPr>
                        <a:t>Claude Code</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Shopify</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1"/>
                          </a:solidFill>
                        </a:rPr>
                        <a:t>Jimdo</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r>
              <a:tr h="219456">
                <a:tc>
                  <a:txBody>
                    <a:bodyPr/>
                    <a:lstStyle/>
                    <a:p>
                      <a:pPr algn="ctr" indent="0" marL="0">
                        <a:buNone/>
                      </a:pPr>
                      <a:r>
                        <a:rPr lang="en-US" sz="900" dirty="0">
                          <a:solidFill>
                            <a:schemeClr val="tx2"/>
                          </a:solidFill>
                        </a:rPr>
                        <a:t>2</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2"/>
                          </a:solidFill>
                        </a:rPr>
                        <a:t>Art</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Hosting</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000" dirty="0">
                          <a:solidFill>
                            <a:schemeClr val="tx2"/>
                          </a:solidFill>
                        </a:rPr>
                        <a:t>KI-Programmierer</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Mietshop (SaaS)</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Homepage-Baukasten</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19456">
                <a:tc>
                  <a:txBody>
                    <a:bodyPr/>
                    <a:lstStyle/>
                    <a:p>
                      <a:pPr algn="ctr" indent="0" marL="0">
                        <a:buNone/>
                      </a:pPr>
                      <a:r>
                        <a:rPr lang="en-US" sz="900" dirty="0">
                          <a:solidFill>
                            <a:schemeClr val="tx2"/>
                          </a:solidFill>
                        </a:rPr>
                        <a:t>3</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l" indent="0" marL="0">
                        <a:buNone/>
                      </a:pPr>
                      <a:r>
                        <a:rPr lang="en-US" sz="1000" dirty="0">
                          <a:solidFill>
                            <a:schemeClr val="tx2"/>
                          </a:solidFill>
                        </a:rPr>
                        <a:t>Preis pro Monat</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0 €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000" dirty="0">
                          <a:solidFill>
                            <a:schemeClr val="tx2"/>
                          </a:solidFill>
                        </a:rPr>
                        <a:t>ca. 21 €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ab 25 €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000" dirty="0">
                          <a:solidFill>
                            <a:schemeClr val="tx2"/>
                          </a:solidFill>
                        </a:rPr>
                        <a:t>ab 18 €</a:t>
                      </a:r>
                      <a:endParaRPr lang="en-US" sz="10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4</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Kosten (Start + monatlich)</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25 %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10</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5</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Bedienbarkeit für Einsteiger</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6</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Freiheit beim Design</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20 %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10</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7</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7</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Warenkorb und Zahlung</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4</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4</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10</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8</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Domain und Hosting inklusive</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15 %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1</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8</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56032">
                <a:tc>
                  <a:txBody>
                    <a:bodyPr/>
                    <a:lstStyle/>
                    <a:p>
                      <a:pPr algn="ctr" indent="0" marL="0">
                        <a:buNone/>
                      </a:pPr>
                      <a:r>
                        <a:rPr lang="en-US" sz="900" dirty="0">
                          <a:solidFill>
                            <a:schemeClr val="tx2"/>
                          </a:solidFill>
                        </a:rPr>
                        <a:t>9</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Datenschutz (DSGVO)</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300" dirty="0">
                          <a:solidFill>
                            <a:schemeClr val="tx2"/>
                          </a:solidFill>
                        </a:rPr>
                        <a:t>10 %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alpha val="12000"/>
                      </a:schemeClr>
                    </a:solidFill>
                  </a:tcPr>
                </a:tc>
                <a:tc>
                  <a:txBody>
                    <a:bodyPr/>
                    <a:lstStyle/>
                    <a:p>
                      <a:pPr algn="ctr" indent="0" marL="0">
                        <a:buNone/>
                      </a:pPr>
                      <a:r>
                        <a:rPr lang="en-US" sz="1400" b="1" dirty="0">
                          <a:solidFill>
                            <a:schemeClr val="tx1"/>
                          </a:solidFill>
                        </a:rPr>
                        <a:t>5</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6</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c>
                  <a:txBody>
                    <a:bodyPr/>
                    <a:lstStyle/>
                    <a:p>
                      <a:pPr algn="ctr" indent="0" marL="0">
                        <a:buNone/>
                      </a:pPr>
                      <a:r>
                        <a:rPr lang="en-US" sz="1400" b="1" dirty="0">
                          <a:solidFill>
                            <a:schemeClr val="tx1"/>
                          </a:solidFill>
                        </a:rPr>
                        <a:t>9</a:t>
                      </a:r>
                      <a:endParaRPr lang="en-US" sz="14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tcPr>
                </a:tc>
              </a:tr>
              <a:tr h="292608">
                <a:tc>
                  <a:txBody>
                    <a:bodyPr/>
                    <a:lstStyle/>
                    <a:p>
                      <a:pPr algn="ctr" indent="0" marL="0">
                        <a:buNone/>
                      </a:pPr>
                      <a:r>
                        <a:rPr lang="en-US" sz="900" dirty="0">
                          <a:solidFill>
                            <a:schemeClr val="tx2"/>
                          </a:solidFill>
                        </a:rPr>
                        <a:t>10</a:t>
                      </a:r>
                      <a:endParaRPr lang="en-US" sz="9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indent="0" marL="0">
                        <a:buNone/>
                      </a:pPr>
                      <a:r>
                        <a:rPr lang="en-US" sz="1300" b="1" dirty="0">
                          <a:solidFill>
                            <a:schemeClr val="tx1"/>
                          </a:solidFill>
                        </a:rPr>
                        <a:t>Summe (gewichtete Punkte)</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300" b="1" dirty="0">
                          <a:solidFill>
                            <a:schemeClr val="tx2"/>
                          </a:solidFill>
                        </a:rPr>
                        <a:t>100 %</a:t>
                      </a:r>
                      <a:endParaRPr lang="en-US" sz="13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bg1"/>
                          </a:solidFill>
                        </a:rPr>
                        <a:t>7,65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tx1"/>
                          </a:solidFill>
                        </a:rPr>
                        <a:t>5,65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7,45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6,85</a:t>
                      </a:r>
                      <a:endParaRPr lang="en-US" sz="1500" dirty="0"/>
                    </a:p>
                  </a:txBody>
                  <a:tcPr marL="63500" marR="63500" marT="12700" marB="12700" anchor="ctr">
                    <a:lnL w="9525" cap="flat" cmpd="sng" algn="ctr">
                      <a:solidFill>
                        <a:srgbClr val="E6E1F5"/>
                      </a:solidFill>
                      <a:prstDash val="solid"/>
                      <a:round/>
                      <a:headEnd type="none" w="med" len="med"/>
                      <a:tailEnd type="none" w="med" len="med"/>
                    </a:lnL>
                    <a:lnR w="9525" cap="flat" cmpd="sng" algn="ctr">
                      <a:solidFill>
                        <a:srgbClr val="E6E1F5"/>
                      </a:solidFill>
                      <a:prstDash val="solid"/>
                      <a:round/>
                      <a:headEnd type="none" w="med" len="med"/>
                      <a:tailEnd type="none" w="med" len="med"/>
                    </a:lnR>
                    <a:lnT w="9525" cap="flat" cmpd="sng" algn="ctr">
                      <a:solidFill>
                        <a:srgbClr val="E6E1F5"/>
                      </a:solidFill>
                      <a:prstDash val="solid"/>
                      <a:round/>
                      <a:headEnd type="none" w="med" len="med"/>
                      <a:tailEnd type="none" w="med" len="med"/>
                    </a:lnT>
                    <a:lnB w="9525" cap="flat" cmpd="sng" algn="ctr">
                      <a:solidFill>
                        <a:srgbClr val="E6E1F5"/>
                      </a:solidFill>
                      <a:prstDash val="solid"/>
                      <a:round/>
                      <a:headEnd type="none" w="med" len="med"/>
                      <a:tailEnd type="none" w="med" len="med"/>
                    </a:lnB>
                    <a:solidFill>
                      <a:schemeClr val="bg2"/>
                    </a:solidFill>
                  </a:tcPr>
                </a:tc>
              </a:tr>
            </a:tbl>
          </a:graphicData>
        </a:graphic>
      </p:graphicFrame>
      <p:sp>
        <p:nvSpPr>
          <p:cNvPr id="11" name="Ergebnis"/>
          <p:cNvSpPr/>
          <p:nvPr/>
        </p:nvSpPr>
        <p:spPr>
          <a:xfrm>
            <a:off x="548640" y="5376672"/>
            <a:ext cx="11094415" cy="438912"/>
          </a:xfrm>
          <a:prstGeom prst="roundRect">
            <a:avLst>
              <a:gd name="adj" fmla="val 50000"/>
            </a:avLst>
          </a:prstGeom>
          <a:solidFill>
            <a:schemeClr val="accent1"/>
          </a:solidFill>
          <a:ln/>
        </p:spPr>
      </p:sp>
      <p:pic>
        <p:nvPicPr>
          <p:cNvPr id="12" name="Ergebnis Icon" descr="Ergebnis">    </p:cNvPr>
          <p:cNvPicPr>
            <a:picLocks noChangeAspect="1"/>
          </p:cNvPicPr>
          <p:nvPr/>
        </p:nvPicPr>
        <p:blipFill>
          <a:blip r:embed="rId1"/>
          <a:stretch>
            <a:fillRect/>
          </a:stretch>
        </p:blipFill>
        <p:spPr>
          <a:xfrm>
            <a:off x="749808" y="5458968"/>
            <a:ext cx="274320" cy="274320"/>
          </a:xfrm>
          <a:prstGeom prst="rect">
            <a:avLst/>
          </a:prstGeom>
        </p:spPr>
      </p:pic>
      <p:sp>
        <p:nvSpPr>
          <p:cNvPr id="13" name="Text 9"/>
          <p:cNvSpPr txBox="1"/>
          <p:nvPr/>
        </p:nvSpPr>
        <p:spPr>
          <a:xfrm>
            <a:off x="1170432" y="5376672"/>
            <a:ext cx="10271455" cy="438912"/>
          </a:xfrm>
          <a:prstGeom prst="rect">
            <a:avLst/>
          </a:prstGeom>
          <a:noFill/>
          <a:ln/>
        </p:spPr>
        <p:txBody>
          <a:bodyPr wrap="square" lIns="0" tIns="0" rIns="0" bIns="0" rtlCol="0" anchor="ctr"/>
          <a:lstStyle/>
          <a:p>
            <a:pPr indent="0" marL="0">
              <a:buNone/>
            </a:pPr>
            <a:r>
              <a:rPr lang="en-US" sz="1500" b="1" dirty="0">
                <a:solidFill>
                  <a:schemeClr val="bg1"/>
                </a:solidFill>
              </a:rPr>
              <a:t>Ergebnis: </a:t>
            </a:r>
            <a:pPr indent="0" marL="0">
              <a:buNone/>
            </a:pPr>
            <a:r>
              <a:rPr lang="en-US" sz="1500" dirty="0">
                <a:solidFill>
                  <a:schemeClr val="bg1"/>
                </a:solidFill>
              </a:rPr>
              <a:t>Netlify gewinnt knapp vor Shopify: kostenlos und volle Freiheit beim Design.</a:t>
            </a:r>
            <a:endParaRPr lang="en-US" sz="1500" dirty="0"/>
          </a:p>
        </p:txBody>
      </p:sp>
      <p:sp>
        <p:nvSpPr>
          <p:cNvPr id="14" name="Text 10"/>
          <p:cNvSpPr txBox="1"/>
          <p:nvPr/>
        </p:nvSpPr>
        <p:spPr>
          <a:xfrm>
            <a:off x="548640" y="5907024"/>
            <a:ext cx="11094415" cy="274320"/>
          </a:xfrm>
          <a:prstGeom prst="rect">
            <a:avLst/>
          </a:prstGeom>
          <a:noFill/>
          <a:ln/>
        </p:spPr>
        <p:txBody>
          <a:bodyPr wrap="square" lIns="0" tIns="0" rIns="0" bIns="0" rtlCol="0" anchor="ctr"/>
          <a:lstStyle/>
          <a:p>
            <a:pPr indent="0" marL="0">
              <a:buNone/>
            </a:pPr>
            <a:r>
              <a:rPr lang="en-US" sz="1200" dirty="0">
                <a:solidFill>
                  <a:schemeClr val="accent5"/>
                </a:solidFill>
              </a:rPr>
              <a:t>Claude Code baut die Seite, Netlify stellt sie ins Internet. Das Ergebnis ist knapp: Wäre uns die Zahlung wichtiger als die Kosten, läge Shopify vorn.</a:t>
            </a:r>
            <a:endParaRPr lang="en-US" sz="12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apitel"/>
          <p:cNvSpPr txBox="1"/>
          <p:nvPr/>
        </p:nvSpPr>
        <p:spPr>
          <a:xfrm>
            <a:off x="548640" y="384048"/>
            <a:ext cx="1371600"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05  </a:t>
            </a:r>
            <a:pPr indent="0" marL="0">
              <a:buNone/>
            </a:pPr>
            <a:r>
              <a:rPr lang="en-US" sz="1200" b="1" dirty="0">
                <a:solidFill>
                  <a:schemeClr val="bg1"/>
                </a:solidFill>
              </a:rPr>
              <a:t>Homepage</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Unsere Wahl: </a:t>
            </a:r>
            <a:pPr algn="l" indent="0" marL="0">
              <a:buNone/>
            </a:pPr>
            <a:r>
              <a:rPr lang="en-US" sz="3400" b="1" dirty="0">
                <a:solidFill>
                  <a:schemeClr val="accent2"/>
                </a:solidFill>
              </a:rPr>
              <a:t>Netlify</a:t>
            </a:r>
            <a:endParaRPr lang="en-US" sz="3400" dirty="0"/>
          </a:p>
        </p:txBody>
      </p:sp>
      <p:sp>
        <p:nvSpPr>
          <p:cNvPr id="4" name="Text 2"/>
          <p:cNvSpPr txBox="1"/>
          <p:nvPr/>
        </p:nvSpPr>
        <p:spPr>
          <a:xfrm>
            <a:off x="548640" y="1645920"/>
            <a:ext cx="4572000" cy="365760"/>
          </a:xfrm>
          <a:prstGeom prst="rect">
            <a:avLst/>
          </a:prstGeom>
          <a:noFill/>
          <a:ln/>
        </p:spPr>
        <p:txBody>
          <a:bodyPr wrap="square" lIns="0" tIns="0" rIns="0" bIns="0" rtlCol="0" anchor="t"/>
          <a:lstStyle/>
          <a:p>
            <a:pPr indent="0" marL="0">
              <a:buNone/>
            </a:pPr>
            <a:r>
              <a:rPr lang="en-US" sz="1800" b="1" dirty="0">
                <a:solidFill>
                  <a:schemeClr val="bg1"/>
                </a:solidFill>
              </a:rPr>
              <a:t>Warum Netlify?</a:t>
            </a:r>
            <a:endParaRPr lang="en-US" sz="1800" dirty="0"/>
          </a:p>
        </p:txBody>
      </p:sp>
      <p:sp>
        <p:nvSpPr>
          <p:cNvPr id="5" name="Kostenlos starten Kreis"/>
          <p:cNvSpPr/>
          <p:nvPr/>
        </p:nvSpPr>
        <p:spPr>
          <a:xfrm>
            <a:off x="548640" y="2176272"/>
            <a:ext cx="530352" cy="530352"/>
          </a:xfrm>
          <a:prstGeom prst="ellipse">
            <a:avLst/>
          </a:prstGeom>
          <a:solidFill>
            <a:schemeClr val="accent1"/>
          </a:solidFill>
          <a:ln/>
        </p:spPr>
      </p:sp>
      <p:pic>
        <p:nvPicPr>
          <p:cNvPr id="6" name="Kostenlos starten Icon" descr="Kostenlos starten">    </p:cNvPr>
          <p:cNvPicPr>
            <a:picLocks noChangeAspect="1"/>
          </p:cNvPicPr>
          <p:nvPr/>
        </p:nvPicPr>
        <p:blipFill>
          <a:blip r:embed="rId1"/>
          <a:stretch>
            <a:fillRect/>
          </a:stretch>
        </p:blipFill>
        <p:spPr>
          <a:xfrm>
            <a:off x="681228" y="2308860"/>
            <a:ext cx="265176" cy="265176"/>
          </a:xfrm>
          <a:prstGeom prst="rect">
            <a:avLst/>
          </a:prstGeom>
        </p:spPr>
      </p:pic>
      <p:sp>
        <p:nvSpPr>
          <p:cNvPr id="7" name="Text 4"/>
          <p:cNvSpPr txBox="1"/>
          <p:nvPr/>
        </p:nvSpPr>
        <p:spPr>
          <a:xfrm>
            <a:off x="1261872" y="2148840"/>
            <a:ext cx="5029200" cy="274320"/>
          </a:xfrm>
          <a:prstGeom prst="rect">
            <a:avLst/>
          </a:prstGeom>
          <a:noFill/>
          <a:ln/>
        </p:spPr>
        <p:txBody>
          <a:bodyPr wrap="square" lIns="0" tIns="0" rIns="0" bIns="0" rtlCol="0" anchor="t"/>
          <a:lstStyle/>
          <a:p>
            <a:pPr indent="0" marL="0">
              <a:buNone/>
            </a:pPr>
            <a:r>
              <a:rPr lang="en-US" sz="1600" b="1" dirty="0">
                <a:solidFill>
                  <a:schemeClr val="bg1"/>
                </a:solidFill>
              </a:rPr>
              <a:t>Kostenlos starten</a:t>
            </a:r>
            <a:endParaRPr lang="en-US" sz="1600" dirty="0"/>
          </a:p>
        </p:txBody>
      </p:sp>
      <p:sp>
        <p:nvSpPr>
          <p:cNvPr id="8" name="Text 5"/>
          <p:cNvSpPr txBox="1"/>
          <p:nvPr/>
        </p:nvSpPr>
        <p:spPr>
          <a:xfrm>
            <a:off x="1261872" y="2432304"/>
            <a:ext cx="5029200" cy="411480"/>
          </a:xfrm>
          <a:prstGeom prst="rect">
            <a:avLst/>
          </a:prstGeom>
          <a:noFill/>
          <a:ln/>
        </p:spPr>
        <p:txBody>
          <a:bodyPr wrap="square" lIns="0" tIns="0" rIns="0" bIns="0" rtlCol="0" anchor="t"/>
          <a:lstStyle/>
          <a:p>
            <a:pPr indent="0" marL="0">
              <a:buNone/>
            </a:pPr>
            <a:r>
              <a:rPr lang="en-US" sz="1300" dirty="0">
                <a:solidFill>
                  <a:schemeClr val="accent5"/>
                </a:solidFill>
              </a:rPr>
              <a:t>Free-Tarif für 0 € im Monat, 300 Credits inklusive</a:t>
            </a:r>
            <a:endParaRPr lang="en-US" sz="1300" dirty="0"/>
          </a:p>
        </p:txBody>
      </p:sp>
      <p:sp>
        <p:nvSpPr>
          <p:cNvPr id="9" name="Volle Freiheit beim Design Kreis"/>
          <p:cNvSpPr/>
          <p:nvPr/>
        </p:nvSpPr>
        <p:spPr>
          <a:xfrm>
            <a:off x="548640" y="2944368"/>
            <a:ext cx="530352" cy="530352"/>
          </a:xfrm>
          <a:prstGeom prst="ellipse">
            <a:avLst/>
          </a:prstGeom>
          <a:solidFill>
            <a:schemeClr val="accent1"/>
          </a:solidFill>
          <a:ln/>
        </p:spPr>
      </p:sp>
      <p:pic>
        <p:nvPicPr>
          <p:cNvPr id="10" name="Volle Freiheit beim Design Icon" descr="Volle Freiheit beim Design">    </p:cNvPr>
          <p:cNvPicPr>
            <a:picLocks noChangeAspect="1"/>
          </p:cNvPicPr>
          <p:nvPr/>
        </p:nvPicPr>
        <p:blipFill>
          <a:blip r:embed="rId2"/>
          <a:stretch>
            <a:fillRect/>
          </a:stretch>
        </p:blipFill>
        <p:spPr>
          <a:xfrm>
            <a:off x="681228" y="3076956"/>
            <a:ext cx="265176" cy="265176"/>
          </a:xfrm>
          <a:prstGeom prst="rect">
            <a:avLst/>
          </a:prstGeom>
        </p:spPr>
      </p:pic>
      <p:sp>
        <p:nvSpPr>
          <p:cNvPr id="11" name="Text 7"/>
          <p:cNvSpPr txBox="1"/>
          <p:nvPr/>
        </p:nvSpPr>
        <p:spPr>
          <a:xfrm>
            <a:off x="1261872" y="2916936"/>
            <a:ext cx="5029200" cy="274320"/>
          </a:xfrm>
          <a:prstGeom prst="rect">
            <a:avLst/>
          </a:prstGeom>
          <a:noFill/>
          <a:ln/>
        </p:spPr>
        <p:txBody>
          <a:bodyPr wrap="square" lIns="0" tIns="0" rIns="0" bIns="0" rtlCol="0" anchor="t"/>
          <a:lstStyle/>
          <a:p>
            <a:pPr indent="0" marL="0">
              <a:buNone/>
            </a:pPr>
            <a:r>
              <a:rPr lang="en-US" sz="1600" b="1" dirty="0">
                <a:solidFill>
                  <a:schemeClr val="bg1"/>
                </a:solidFill>
              </a:rPr>
              <a:t>Volle Freiheit beim Design</a:t>
            </a:r>
            <a:endParaRPr lang="en-US" sz="1600" dirty="0"/>
          </a:p>
        </p:txBody>
      </p:sp>
      <p:sp>
        <p:nvSpPr>
          <p:cNvPr id="12" name="Text 8"/>
          <p:cNvSpPr txBox="1"/>
          <p:nvPr/>
        </p:nvSpPr>
        <p:spPr>
          <a:xfrm>
            <a:off x="1261872" y="3200400"/>
            <a:ext cx="5029200" cy="411480"/>
          </a:xfrm>
          <a:prstGeom prst="rect">
            <a:avLst/>
          </a:prstGeom>
          <a:noFill/>
          <a:ln/>
        </p:spPr>
        <p:txBody>
          <a:bodyPr wrap="square" lIns="0" tIns="0" rIns="0" bIns="0" rtlCol="0" anchor="t"/>
          <a:lstStyle/>
          <a:p>
            <a:pPr indent="0" marL="0">
              <a:buNone/>
            </a:pPr>
            <a:r>
              <a:rPr lang="en-US" sz="1300" dirty="0">
                <a:solidFill>
                  <a:schemeClr val="accent5"/>
                </a:solidFill>
              </a:rPr>
              <a:t>Eigener Code statt Baukasten, gebaut mit Claude Code</a:t>
            </a:r>
            <a:endParaRPr lang="en-US" sz="1300" dirty="0"/>
          </a:p>
        </p:txBody>
      </p:sp>
      <p:sp>
        <p:nvSpPr>
          <p:cNvPr id="13" name="Domain und HTTPS inklusive Kreis"/>
          <p:cNvSpPr/>
          <p:nvPr/>
        </p:nvSpPr>
        <p:spPr>
          <a:xfrm>
            <a:off x="548640" y="3712464"/>
            <a:ext cx="530352" cy="530352"/>
          </a:xfrm>
          <a:prstGeom prst="ellipse">
            <a:avLst/>
          </a:prstGeom>
          <a:solidFill>
            <a:schemeClr val="accent1"/>
          </a:solidFill>
          <a:ln/>
        </p:spPr>
      </p:sp>
      <p:pic>
        <p:nvPicPr>
          <p:cNvPr id="14" name="Domain und HTTPS inklusive Icon" descr="Domain und HTTPS inklusive">    </p:cNvPr>
          <p:cNvPicPr>
            <a:picLocks noChangeAspect="1"/>
          </p:cNvPicPr>
          <p:nvPr/>
        </p:nvPicPr>
        <p:blipFill>
          <a:blip r:embed="rId3"/>
          <a:stretch>
            <a:fillRect/>
          </a:stretch>
        </p:blipFill>
        <p:spPr>
          <a:xfrm>
            <a:off x="681228" y="3845052"/>
            <a:ext cx="265176" cy="265176"/>
          </a:xfrm>
          <a:prstGeom prst="rect">
            <a:avLst/>
          </a:prstGeom>
        </p:spPr>
      </p:pic>
      <p:sp>
        <p:nvSpPr>
          <p:cNvPr id="15" name="Text 10"/>
          <p:cNvSpPr txBox="1"/>
          <p:nvPr/>
        </p:nvSpPr>
        <p:spPr>
          <a:xfrm>
            <a:off x="1261872" y="3685032"/>
            <a:ext cx="5029200" cy="274320"/>
          </a:xfrm>
          <a:prstGeom prst="rect">
            <a:avLst/>
          </a:prstGeom>
          <a:noFill/>
          <a:ln/>
        </p:spPr>
        <p:txBody>
          <a:bodyPr wrap="square" lIns="0" tIns="0" rIns="0" bIns="0" rtlCol="0" anchor="t"/>
          <a:lstStyle/>
          <a:p>
            <a:pPr indent="0" marL="0">
              <a:buNone/>
            </a:pPr>
            <a:r>
              <a:rPr lang="en-US" sz="1600" b="1" dirty="0">
                <a:solidFill>
                  <a:schemeClr val="bg1"/>
                </a:solidFill>
              </a:rPr>
              <a:t>Domain und HTTPS inklusive</a:t>
            </a:r>
            <a:endParaRPr lang="en-US" sz="1600" dirty="0"/>
          </a:p>
        </p:txBody>
      </p:sp>
      <p:sp>
        <p:nvSpPr>
          <p:cNvPr id="16" name="Text 11"/>
          <p:cNvSpPr txBox="1"/>
          <p:nvPr/>
        </p:nvSpPr>
        <p:spPr>
          <a:xfrm>
            <a:off x="1261872" y="3968496"/>
            <a:ext cx="5029200" cy="411480"/>
          </a:xfrm>
          <a:prstGeom prst="rect">
            <a:avLst/>
          </a:prstGeom>
          <a:noFill/>
          <a:ln/>
        </p:spPr>
        <p:txBody>
          <a:bodyPr wrap="square" lIns="0" tIns="0" rIns="0" bIns="0" rtlCol="0" anchor="t"/>
          <a:lstStyle/>
          <a:p>
            <a:pPr indent="0" marL="0">
              <a:buNone/>
            </a:pPr>
            <a:r>
              <a:rPr lang="en-US" sz="1300" dirty="0">
                <a:solidFill>
                  <a:schemeClr val="accent5"/>
                </a:solidFill>
              </a:rPr>
              <a:t>Gratis-Adresse lootlager.netlify.app, eigene Domain anschließbar</a:t>
            </a:r>
            <a:endParaRPr lang="en-US" sz="1300" dirty="0"/>
          </a:p>
        </p:txBody>
      </p:sp>
      <p:sp>
        <p:nvSpPr>
          <p:cNvPr id="17" name="Schnell online Kreis"/>
          <p:cNvSpPr/>
          <p:nvPr/>
        </p:nvSpPr>
        <p:spPr>
          <a:xfrm>
            <a:off x="548640" y="4480560"/>
            <a:ext cx="530352" cy="530352"/>
          </a:xfrm>
          <a:prstGeom prst="ellipse">
            <a:avLst/>
          </a:prstGeom>
          <a:solidFill>
            <a:schemeClr val="accent1"/>
          </a:solidFill>
          <a:ln/>
        </p:spPr>
      </p:sp>
      <p:pic>
        <p:nvPicPr>
          <p:cNvPr id="18" name="Schnell online Icon" descr="Schnell online">    </p:cNvPr>
          <p:cNvPicPr>
            <a:picLocks noChangeAspect="1"/>
          </p:cNvPicPr>
          <p:nvPr/>
        </p:nvPicPr>
        <p:blipFill>
          <a:blip r:embed="rId4"/>
          <a:stretch>
            <a:fillRect/>
          </a:stretch>
        </p:blipFill>
        <p:spPr>
          <a:xfrm>
            <a:off x="681228" y="4613148"/>
            <a:ext cx="265176" cy="265176"/>
          </a:xfrm>
          <a:prstGeom prst="rect">
            <a:avLst/>
          </a:prstGeom>
        </p:spPr>
      </p:pic>
      <p:sp>
        <p:nvSpPr>
          <p:cNvPr id="19" name="Text 13"/>
          <p:cNvSpPr txBox="1"/>
          <p:nvPr/>
        </p:nvSpPr>
        <p:spPr>
          <a:xfrm>
            <a:off x="1261872" y="4453128"/>
            <a:ext cx="5029200" cy="274320"/>
          </a:xfrm>
          <a:prstGeom prst="rect">
            <a:avLst/>
          </a:prstGeom>
          <a:noFill/>
          <a:ln/>
        </p:spPr>
        <p:txBody>
          <a:bodyPr wrap="square" lIns="0" tIns="0" rIns="0" bIns="0" rtlCol="0" anchor="t"/>
          <a:lstStyle/>
          <a:p>
            <a:pPr indent="0" marL="0">
              <a:buNone/>
            </a:pPr>
            <a:r>
              <a:rPr lang="en-US" sz="1600" b="1" dirty="0">
                <a:solidFill>
                  <a:schemeClr val="bg1"/>
                </a:solidFill>
              </a:rPr>
              <a:t>Schnell online</a:t>
            </a:r>
            <a:endParaRPr lang="en-US" sz="1600" dirty="0"/>
          </a:p>
        </p:txBody>
      </p:sp>
      <p:sp>
        <p:nvSpPr>
          <p:cNvPr id="20" name="Text 14"/>
          <p:cNvSpPr txBox="1"/>
          <p:nvPr/>
        </p:nvSpPr>
        <p:spPr>
          <a:xfrm>
            <a:off x="1261872" y="4736592"/>
            <a:ext cx="5029200" cy="411480"/>
          </a:xfrm>
          <a:prstGeom prst="rect">
            <a:avLst/>
          </a:prstGeom>
          <a:noFill/>
          <a:ln/>
        </p:spPr>
        <p:txBody>
          <a:bodyPr wrap="square" lIns="0" tIns="0" rIns="0" bIns="0" rtlCol="0" anchor="t"/>
          <a:lstStyle/>
          <a:p>
            <a:pPr indent="0" marL="0">
              <a:buNone/>
            </a:pPr>
            <a:r>
              <a:rPr lang="en-US" sz="1300" dirty="0">
                <a:solidFill>
                  <a:schemeClr val="accent5"/>
                </a:solidFill>
              </a:rPr>
              <a:t>Ordner hochladen oder GitHub verbinden, in Sekunden live</a:t>
            </a:r>
            <a:endParaRPr lang="en-US" sz="1300" dirty="0"/>
          </a:p>
        </p:txBody>
      </p:sp>
      <p:sp>
        <p:nvSpPr>
          <p:cNvPr id="21" name="Nachteile"/>
          <p:cNvSpPr/>
          <p:nvPr/>
        </p:nvSpPr>
        <p:spPr>
          <a:xfrm>
            <a:off x="548640" y="5230368"/>
            <a:ext cx="5669280" cy="850392"/>
          </a:xfrm>
          <a:prstGeom prst="roundRect">
            <a:avLst>
              <a:gd name="adj" fmla="val 15054"/>
            </a:avLst>
          </a:prstGeom>
          <a:solidFill>
            <a:schemeClr val="accent3">
              <a:alpha val="12000"/>
            </a:schemeClr>
          </a:solidFill>
          <a:ln w="9525">
            <a:solidFill>
              <a:schemeClr val="accent3">
                <a:alpha val="40000"/>
              </a:schemeClr>
            </a:solidFill>
            <a:prstDash val="solid"/>
          </a:ln>
        </p:spPr>
      </p:sp>
      <p:sp>
        <p:nvSpPr>
          <p:cNvPr id="22" name="Nachteile Kreis"/>
          <p:cNvSpPr/>
          <p:nvPr/>
        </p:nvSpPr>
        <p:spPr>
          <a:xfrm>
            <a:off x="731520" y="5449824"/>
            <a:ext cx="411480" cy="411480"/>
          </a:xfrm>
          <a:prstGeom prst="ellipse">
            <a:avLst/>
          </a:prstGeom>
          <a:solidFill>
            <a:schemeClr val="accent3"/>
          </a:solidFill>
          <a:ln/>
        </p:spPr>
      </p:sp>
      <p:pic>
        <p:nvPicPr>
          <p:cNvPr id="23" name="Nachteile Icon" descr="Nachteile">    </p:cNvPr>
          <p:cNvPicPr>
            <a:picLocks noChangeAspect="1"/>
          </p:cNvPicPr>
          <p:nvPr/>
        </p:nvPicPr>
        <p:blipFill>
          <a:blip r:embed="rId5"/>
          <a:stretch>
            <a:fillRect/>
          </a:stretch>
        </p:blipFill>
        <p:spPr>
          <a:xfrm>
            <a:off x="834390" y="5552694"/>
            <a:ext cx="205740" cy="205740"/>
          </a:xfrm>
          <a:prstGeom prst="rect">
            <a:avLst/>
          </a:prstGeom>
        </p:spPr>
      </p:pic>
      <p:sp>
        <p:nvSpPr>
          <p:cNvPr id="24" name="Text 17"/>
          <p:cNvSpPr txBox="1"/>
          <p:nvPr/>
        </p:nvSpPr>
        <p:spPr>
          <a:xfrm>
            <a:off x="1298448" y="5285232"/>
            <a:ext cx="4800600" cy="749808"/>
          </a:xfrm>
          <a:prstGeom prst="rect">
            <a:avLst/>
          </a:prstGeom>
          <a:noFill/>
          <a:ln/>
        </p:spPr>
        <p:txBody>
          <a:bodyPr wrap="square" lIns="0" tIns="0" rIns="0" bIns="0" rtlCol="0" anchor="ctr"/>
          <a:lstStyle/>
          <a:p>
            <a:pPr indent="0" marL="0">
              <a:buNone/>
            </a:pPr>
            <a:r>
              <a:rPr lang="en-US" sz="1250" b="1" dirty="0">
                <a:solidFill>
                  <a:schemeClr val="accent3"/>
                </a:solidFill>
              </a:rPr>
              <a:t>Nachteile: </a:t>
            </a:r>
            <a:pPr indent="0" marL="0">
              <a:buNone/>
            </a:pPr>
            <a:r>
              <a:rPr lang="en-US" sz="1250" dirty="0">
                <a:solidFill>
                  <a:schemeClr val="bg1"/>
                </a:solidFill>
              </a:rPr>
              <a:t>Kein fertiges Shopsystem, Warenkorb und Zahlung bauen wir selbst. US-Anbieter: Daten können in die USA gehen. Rechtstexte müssen wir extra besorgen.</a:t>
            </a:r>
            <a:endParaRPr lang="en-US" sz="1250" dirty="0"/>
          </a:p>
        </p:txBody>
      </p:sp>
      <p:sp>
        <p:nvSpPr>
          <p:cNvPr id="25" name="Browserfenster"/>
          <p:cNvSpPr/>
          <p:nvPr/>
        </p:nvSpPr>
        <p:spPr>
          <a:xfrm>
            <a:off x="6446520" y="1645920"/>
            <a:ext cx="5196535" cy="4392406"/>
          </a:xfrm>
          <a:prstGeom prst="roundRect">
            <a:avLst>
              <a:gd name="adj" fmla="val 2914"/>
            </a:avLst>
          </a:prstGeom>
          <a:solidFill>
            <a:schemeClr val="bg1"/>
          </a:solidFill>
          <a:ln/>
        </p:spPr>
      </p:sp>
      <p:sp>
        <p:nvSpPr>
          <p:cNvPr id="26" name="Fensterpunkt"/>
          <p:cNvSpPr/>
          <p:nvPr/>
        </p:nvSpPr>
        <p:spPr>
          <a:xfrm>
            <a:off x="6629400" y="1783080"/>
            <a:ext cx="109728" cy="109728"/>
          </a:xfrm>
          <a:prstGeom prst="ellipse">
            <a:avLst/>
          </a:prstGeom>
          <a:solidFill>
            <a:schemeClr val="accent1"/>
          </a:solidFill>
          <a:ln/>
        </p:spPr>
      </p:sp>
      <p:sp>
        <p:nvSpPr>
          <p:cNvPr id="27" name="Fensterpunkt"/>
          <p:cNvSpPr/>
          <p:nvPr/>
        </p:nvSpPr>
        <p:spPr>
          <a:xfrm>
            <a:off x="6812280" y="1783080"/>
            <a:ext cx="109728" cy="109728"/>
          </a:xfrm>
          <a:prstGeom prst="ellipse">
            <a:avLst/>
          </a:prstGeom>
          <a:solidFill>
            <a:schemeClr val="accent2"/>
          </a:solidFill>
          <a:ln/>
        </p:spPr>
      </p:sp>
      <p:sp>
        <p:nvSpPr>
          <p:cNvPr id="28" name="Fensterpunkt"/>
          <p:cNvSpPr/>
          <p:nvPr/>
        </p:nvSpPr>
        <p:spPr>
          <a:xfrm>
            <a:off x="6995160" y="1783080"/>
            <a:ext cx="109728" cy="109728"/>
          </a:xfrm>
          <a:prstGeom prst="ellipse">
            <a:avLst/>
          </a:prstGeom>
          <a:solidFill>
            <a:schemeClr val="accent3"/>
          </a:solidFill>
          <a:ln/>
        </p:spPr>
      </p:sp>
      <p:sp>
        <p:nvSpPr>
          <p:cNvPr id="29" name="Adresszeile"/>
          <p:cNvSpPr/>
          <p:nvPr/>
        </p:nvSpPr>
        <p:spPr>
          <a:xfrm>
            <a:off x="7223760" y="1728216"/>
            <a:ext cx="2377440" cy="219456"/>
          </a:xfrm>
          <a:prstGeom prst="roundRect">
            <a:avLst>
              <a:gd name="adj" fmla="val 50000"/>
            </a:avLst>
          </a:prstGeom>
          <a:solidFill>
            <a:schemeClr val="bg2"/>
          </a:solidFill>
          <a:ln/>
        </p:spPr>
        <p:txBody>
          <a:bodyPr wrap="square" lIns="127000" tIns="0" rIns="127000" bIns="0" rtlCol="0" anchor="ctr"/>
          <a:lstStyle/>
          <a:p>
            <a:pPr indent="0" marL="0">
              <a:buNone/>
            </a:pPr>
            <a:r>
              <a:rPr lang="en-US" sz="1000" dirty="0">
                <a:solidFill>
                  <a:schemeClr val="tx2"/>
                </a:solidFill>
              </a:rPr>
              <a:t>lootlager.de</a:t>
            </a:r>
            <a:endParaRPr lang="en-US" sz="1000" dirty="0"/>
          </a:p>
        </p:txBody>
      </p:sp>
      <p:sp>
        <p:nvSpPr>
          <p:cNvPr id="30" name="Text 23"/>
          <p:cNvSpPr txBox="1"/>
          <p:nvPr/>
        </p:nvSpPr>
        <p:spPr>
          <a:xfrm>
            <a:off x="9722815" y="1728216"/>
            <a:ext cx="1737360" cy="219456"/>
          </a:xfrm>
          <a:prstGeom prst="rect">
            <a:avLst/>
          </a:prstGeom>
          <a:noFill/>
          <a:ln/>
        </p:spPr>
        <p:txBody>
          <a:bodyPr wrap="square" lIns="0" tIns="0" rIns="0" bIns="0" rtlCol="0" anchor="ctr"/>
          <a:lstStyle/>
          <a:p>
            <a:pPr algn="r" indent="0" marL="0">
              <a:buNone/>
            </a:pPr>
            <a:r>
              <a:rPr lang="en-US" sz="1100" b="1" dirty="0">
                <a:solidFill>
                  <a:schemeClr val="tx1"/>
                </a:solidFill>
              </a:rPr>
              <a:t>Unsere Startseite</a:t>
            </a:r>
            <a:endParaRPr lang="en-US" sz="1100" dirty="0"/>
          </a:p>
        </p:txBody>
      </p:sp>
      <p:pic>
        <p:nvPicPr>
          <p:cNvPr id="31" name="Startseite" descr="Startseite von LootLager mit Logo, Slogan und fünf Produkten">    </p:cNvPr>
          <p:cNvPicPr>
            <a:picLocks noChangeAspect="1"/>
          </p:cNvPicPr>
          <p:nvPr/>
        </p:nvPicPr>
        <p:blipFill>
          <a:blip r:embed="rId6"/>
          <a:stretch>
            <a:fillRect/>
          </a:stretch>
        </p:blipFill>
        <p:spPr>
          <a:xfrm>
            <a:off x="6537960" y="2029968"/>
            <a:ext cx="5013655" cy="3916918"/>
          </a:xfrm>
          <a:prstGeom prst="rect">
            <a:avLst/>
          </a:prstGeom>
        </p:spPr>
      </p:pic>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apitel"/>
          <p:cNvSpPr txBox="1"/>
          <p:nvPr/>
        </p:nvSpPr>
        <p:spPr>
          <a:xfrm>
            <a:off x="548640" y="384048"/>
            <a:ext cx="1130198" cy="310896"/>
          </a:xfrm>
          <a:prstGeom prst="roundRect">
            <a:avLst>
              <a:gd name="adj" fmla="val 50000"/>
            </a:avLst>
          </a:prstGeom>
          <a:solidFill>
            <a:schemeClr val="bg1">
              <a:alpha val="12000"/>
            </a:schemeClr>
          </a:solidFill>
          <a:ln/>
        </p:spPr>
        <p:txBody>
          <a:bodyPr wrap="square" lIns="152400" tIns="0" rIns="152400" bIns="0" rtlCol="0" anchor="ctr"/>
          <a:lstStyle/>
          <a:p>
            <a:pPr indent="0" marL="0">
              <a:buNone/>
            </a:pPr>
            <a:r>
              <a:rPr lang="en-US" sz="1200" b="1" dirty="0">
                <a:solidFill>
                  <a:schemeClr val="accent2"/>
                </a:solidFill>
              </a:rPr>
              <a:t>06  </a:t>
            </a:r>
            <a:pPr indent="0" marL="0">
              <a:buNone/>
            </a:pPr>
            <a:r>
              <a:rPr lang="en-US" sz="1200" b="1" dirty="0">
                <a:solidFill>
                  <a:schemeClr val="bg1"/>
                </a:solidFill>
              </a:rPr>
              <a:t>Fazit</a:t>
            </a:r>
            <a:endParaRPr lang="en-US" sz="1200" dirty="0"/>
          </a:p>
        </p:txBody>
      </p:sp>
      <p:sp>
        <p:nvSpPr>
          <p:cNvPr id="3" name="Text 0"/>
          <p:cNvSpPr/>
          <p:nvPr>
            <p:ph idx="100" type="title" hasCustomPrompt="1"/>
          </p:nvPr>
        </p:nvSpPr>
        <p:spPr>
          <a:xfrm>
            <a:off x="548640" y="822960"/>
            <a:ext cx="11094415" cy="658368"/>
          </a:xfrm>
          <a:prstGeom prst="rect">
            <a:avLst/>
          </a:prstGeom>
          <a:noFill/>
          <a:ln/>
        </p:spPr>
        <p:txBody>
          <a:bodyPr wrap="square" lIns="0" tIns="0" rIns="0" bIns="0" rtlCol="0" anchor="t"/>
          <a:lstStyle/>
          <a:p>
            <a:pPr algn="l" indent="0" marL="0">
              <a:buNone/>
            </a:pPr>
            <a:r>
              <a:rPr lang="en-US" sz="3400" b="1" dirty="0">
                <a:solidFill>
                  <a:schemeClr val="bg1"/>
                </a:solidFill>
              </a:rPr>
              <a:t>Fazit und </a:t>
            </a:r>
            <a:pPr algn="l" indent="0" marL="0">
              <a:buNone/>
            </a:pPr>
            <a:r>
              <a:rPr lang="en-US" sz="3400" b="1" dirty="0">
                <a:solidFill>
                  <a:schemeClr val="accent2"/>
                </a:solidFill>
              </a:rPr>
              <a:t>Ausblick</a:t>
            </a:r>
            <a:endParaRPr lang="en-US" sz="3400" dirty="0"/>
          </a:p>
        </p:txBody>
      </p:sp>
      <p:sp>
        <p:nvSpPr>
          <p:cNvPr id="4" name="Das steht fest"/>
          <p:cNvSpPr/>
          <p:nvPr/>
        </p:nvSpPr>
        <p:spPr>
          <a:xfrm>
            <a:off x="548640" y="1645920"/>
            <a:ext cx="5120640" cy="3977640"/>
          </a:xfrm>
          <a:prstGeom prst="roundRect">
            <a:avLst>
              <a:gd name="adj" fmla="val 3218"/>
            </a:avLst>
          </a:prstGeom>
          <a:solidFill>
            <a:schemeClr val="bg1">
              <a:alpha val="7000"/>
            </a:schemeClr>
          </a:solidFill>
          <a:ln w="9525">
            <a:solidFill>
              <a:schemeClr val="bg1">
                <a:alpha val="14000"/>
              </a:schemeClr>
            </a:solidFill>
            <a:prstDash val="solid"/>
          </a:ln>
        </p:spPr>
      </p:sp>
      <p:sp>
        <p:nvSpPr>
          <p:cNvPr id="5" name="Text 3"/>
          <p:cNvSpPr txBox="1"/>
          <p:nvPr/>
        </p:nvSpPr>
        <p:spPr>
          <a:xfrm>
            <a:off x="822960" y="1810512"/>
            <a:ext cx="4572000" cy="365760"/>
          </a:xfrm>
          <a:prstGeom prst="rect">
            <a:avLst/>
          </a:prstGeom>
          <a:noFill/>
          <a:ln/>
        </p:spPr>
        <p:txBody>
          <a:bodyPr wrap="square" lIns="0" tIns="0" rIns="0" bIns="0" rtlCol="0" anchor="t"/>
          <a:lstStyle/>
          <a:p>
            <a:pPr indent="0" marL="0">
              <a:buNone/>
            </a:pPr>
            <a:r>
              <a:rPr lang="en-US" sz="1800" b="1" dirty="0">
                <a:solidFill>
                  <a:schemeClr val="bg1"/>
                </a:solidFill>
              </a:rPr>
              <a:t>Das steht fest</a:t>
            </a:r>
            <a:endParaRPr lang="en-US" sz="1800" dirty="0"/>
          </a:p>
        </p:txBody>
      </p:sp>
      <p:sp>
        <p:nvSpPr>
          <p:cNvPr id="6" name="FIRMA Kreis"/>
          <p:cNvSpPr/>
          <p:nvPr/>
        </p:nvSpPr>
        <p:spPr>
          <a:xfrm>
            <a:off x="822960" y="2313432"/>
            <a:ext cx="384048" cy="384048"/>
          </a:xfrm>
          <a:prstGeom prst="ellipse">
            <a:avLst/>
          </a:prstGeom>
          <a:solidFill>
            <a:schemeClr val="accent1"/>
          </a:solidFill>
          <a:ln/>
        </p:spPr>
      </p:sp>
      <p:pic>
        <p:nvPicPr>
          <p:cNvPr id="7" name="FIRMA Icon" descr="FIRMA">    </p:cNvPr>
          <p:cNvPicPr>
            <a:picLocks noChangeAspect="1"/>
          </p:cNvPicPr>
          <p:nvPr/>
        </p:nvPicPr>
        <p:blipFill>
          <a:blip r:embed="rId1"/>
          <a:stretch>
            <a:fillRect/>
          </a:stretch>
        </p:blipFill>
        <p:spPr>
          <a:xfrm>
            <a:off x="918972" y="2409444"/>
            <a:ext cx="192024" cy="192024"/>
          </a:xfrm>
          <a:prstGeom prst="rect">
            <a:avLst/>
          </a:prstGeom>
        </p:spPr>
      </p:pic>
      <p:sp>
        <p:nvSpPr>
          <p:cNvPr id="8" name="Text 5"/>
          <p:cNvSpPr txBox="1"/>
          <p:nvPr/>
        </p:nvSpPr>
        <p:spPr>
          <a:xfrm>
            <a:off x="1371600" y="228600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FIRMA</a:t>
            </a:r>
            <a:endParaRPr lang="en-US" sz="950" dirty="0"/>
          </a:p>
        </p:txBody>
      </p:sp>
      <p:sp>
        <p:nvSpPr>
          <p:cNvPr id="9" name="Text 6"/>
          <p:cNvSpPr txBox="1"/>
          <p:nvPr/>
        </p:nvSpPr>
        <p:spPr>
          <a:xfrm>
            <a:off x="1371600" y="2468880"/>
            <a:ext cx="4023360" cy="256032"/>
          </a:xfrm>
          <a:prstGeom prst="rect">
            <a:avLst/>
          </a:prstGeom>
          <a:noFill/>
          <a:ln/>
        </p:spPr>
        <p:txBody>
          <a:bodyPr wrap="square" lIns="0" tIns="0" rIns="0" bIns="0" rtlCol="0" anchor="t"/>
          <a:lstStyle/>
          <a:p>
            <a:pPr indent="0" marL="0">
              <a:buNone/>
            </a:pPr>
            <a:r>
              <a:rPr lang="en-US" sz="1400" b="1" dirty="0">
                <a:solidFill>
                  <a:schemeClr val="bg1"/>
                </a:solidFill>
              </a:rPr>
              <a:t>LootLager UG (haftungsbeschränkt)</a:t>
            </a:r>
            <a:endParaRPr lang="en-US" sz="1400" dirty="0"/>
          </a:p>
        </p:txBody>
      </p:sp>
      <p:sp>
        <p:nvSpPr>
          <p:cNvPr id="10" name="RECHTSFORM Kreis"/>
          <p:cNvSpPr/>
          <p:nvPr/>
        </p:nvSpPr>
        <p:spPr>
          <a:xfrm>
            <a:off x="822960" y="2862072"/>
            <a:ext cx="384048" cy="384048"/>
          </a:xfrm>
          <a:prstGeom prst="ellipse">
            <a:avLst/>
          </a:prstGeom>
          <a:solidFill>
            <a:schemeClr val="accent1"/>
          </a:solidFill>
          <a:ln/>
        </p:spPr>
      </p:sp>
      <p:pic>
        <p:nvPicPr>
          <p:cNvPr id="11" name="RECHTSFORM Icon" descr="RECHTSFORM">    </p:cNvPr>
          <p:cNvPicPr>
            <a:picLocks noChangeAspect="1"/>
          </p:cNvPicPr>
          <p:nvPr/>
        </p:nvPicPr>
        <p:blipFill>
          <a:blip r:embed="rId2"/>
          <a:stretch>
            <a:fillRect/>
          </a:stretch>
        </p:blipFill>
        <p:spPr>
          <a:xfrm>
            <a:off x="918972" y="2958084"/>
            <a:ext cx="192024" cy="192024"/>
          </a:xfrm>
          <a:prstGeom prst="rect">
            <a:avLst/>
          </a:prstGeom>
        </p:spPr>
      </p:pic>
      <p:sp>
        <p:nvSpPr>
          <p:cNvPr id="12" name="Text 8"/>
          <p:cNvSpPr txBox="1"/>
          <p:nvPr/>
        </p:nvSpPr>
        <p:spPr>
          <a:xfrm>
            <a:off x="1371600" y="283464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RECHTSFORM</a:t>
            </a:r>
            <a:endParaRPr lang="en-US" sz="950" dirty="0"/>
          </a:p>
        </p:txBody>
      </p:sp>
      <p:sp>
        <p:nvSpPr>
          <p:cNvPr id="13" name="Text 9"/>
          <p:cNvSpPr txBox="1"/>
          <p:nvPr/>
        </p:nvSpPr>
        <p:spPr>
          <a:xfrm>
            <a:off x="1371600" y="3017520"/>
            <a:ext cx="4023360" cy="256032"/>
          </a:xfrm>
          <a:prstGeom prst="rect">
            <a:avLst/>
          </a:prstGeom>
          <a:noFill/>
          <a:ln/>
        </p:spPr>
        <p:txBody>
          <a:bodyPr wrap="square" lIns="0" tIns="0" rIns="0" bIns="0" rtlCol="0" anchor="t"/>
          <a:lstStyle/>
          <a:p>
            <a:pPr indent="0" marL="0">
              <a:buNone/>
            </a:pPr>
            <a:r>
              <a:rPr lang="en-US" sz="1400" b="1" dirty="0">
                <a:solidFill>
                  <a:schemeClr val="bg1"/>
                </a:solidFill>
              </a:rPr>
              <a:t>UG, Stammkapital 1.000 €</a:t>
            </a:r>
            <a:endParaRPr lang="en-US" sz="1400" dirty="0"/>
          </a:p>
        </p:txBody>
      </p:sp>
      <p:sp>
        <p:nvSpPr>
          <p:cNvPr id="14" name="MARKE Kreis"/>
          <p:cNvSpPr/>
          <p:nvPr/>
        </p:nvSpPr>
        <p:spPr>
          <a:xfrm>
            <a:off x="822960" y="3410712"/>
            <a:ext cx="384048" cy="384048"/>
          </a:xfrm>
          <a:prstGeom prst="ellipse">
            <a:avLst/>
          </a:prstGeom>
          <a:solidFill>
            <a:schemeClr val="accent1"/>
          </a:solidFill>
          <a:ln/>
        </p:spPr>
      </p:sp>
      <p:pic>
        <p:nvPicPr>
          <p:cNvPr id="15" name="MARKE Icon" descr="MARKE">    </p:cNvPr>
          <p:cNvPicPr>
            <a:picLocks noChangeAspect="1"/>
          </p:cNvPicPr>
          <p:nvPr/>
        </p:nvPicPr>
        <p:blipFill>
          <a:blip r:embed="rId3"/>
          <a:stretch>
            <a:fillRect/>
          </a:stretch>
        </p:blipFill>
        <p:spPr>
          <a:xfrm>
            <a:off x="918972" y="3506724"/>
            <a:ext cx="192024" cy="192024"/>
          </a:xfrm>
          <a:prstGeom prst="rect">
            <a:avLst/>
          </a:prstGeom>
        </p:spPr>
      </p:pic>
      <p:sp>
        <p:nvSpPr>
          <p:cNvPr id="16" name="Text 11"/>
          <p:cNvSpPr txBox="1"/>
          <p:nvPr/>
        </p:nvSpPr>
        <p:spPr>
          <a:xfrm>
            <a:off x="1371600" y="338328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MARKE</a:t>
            </a:r>
            <a:endParaRPr lang="en-US" sz="950" dirty="0"/>
          </a:p>
        </p:txBody>
      </p:sp>
      <p:sp>
        <p:nvSpPr>
          <p:cNvPr id="17" name="Text 12"/>
          <p:cNvSpPr txBox="1"/>
          <p:nvPr/>
        </p:nvSpPr>
        <p:spPr>
          <a:xfrm>
            <a:off x="1371600" y="3566160"/>
            <a:ext cx="4023360" cy="256032"/>
          </a:xfrm>
          <a:prstGeom prst="rect">
            <a:avLst/>
          </a:prstGeom>
          <a:noFill/>
          <a:ln/>
        </p:spPr>
        <p:txBody>
          <a:bodyPr wrap="square" lIns="0" tIns="0" rIns="0" bIns="0" rtlCol="0" anchor="t"/>
          <a:lstStyle/>
          <a:p>
            <a:pPr indent="0" marL="0">
              <a:buNone/>
            </a:pPr>
            <a:r>
              <a:rPr lang="en-US" sz="1400" b="1" dirty="0">
                <a:solidFill>
                  <a:schemeClr val="bg1"/>
                </a:solidFill>
              </a:rPr>
              <a:t>LootLager · „Level up dein Setup.“</a:t>
            </a:r>
            <a:endParaRPr lang="en-US" sz="1400" dirty="0"/>
          </a:p>
        </p:txBody>
      </p:sp>
      <p:sp>
        <p:nvSpPr>
          <p:cNvPr id="18" name="DOMAIN Kreis"/>
          <p:cNvSpPr/>
          <p:nvPr/>
        </p:nvSpPr>
        <p:spPr>
          <a:xfrm>
            <a:off x="822960" y="3959352"/>
            <a:ext cx="384048" cy="384048"/>
          </a:xfrm>
          <a:prstGeom prst="ellipse">
            <a:avLst/>
          </a:prstGeom>
          <a:solidFill>
            <a:schemeClr val="accent1"/>
          </a:solidFill>
          <a:ln/>
        </p:spPr>
      </p:sp>
      <p:pic>
        <p:nvPicPr>
          <p:cNvPr id="19" name="DOMAIN Icon" descr="DOMAIN">    </p:cNvPr>
          <p:cNvPicPr>
            <a:picLocks noChangeAspect="1"/>
          </p:cNvPicPr>
          <p:nvPr/>
        </p:nvPicPr>
        <p:blipFill>
          <a:blip r:embed="rId4"/>
          <a:stretch>
            <a:fillRect/>
          </a:stretch>
        </p:blipFill>
        <p:spPr>
          <a:xfrm>
            <a:off x="918972" y="4055364"/>
            <a:ext cx="192024" cy="192024"/>
          </a:xfrm>
          <a:prstGeom prst="rect">
            <a:avLst/>
          </a:prstGeom>
        </p:spPr>
      </p:pic>
      <p:sp>
        <p:nvSpPr>
          <p:cNvPr id="20" name="Text 14"/>
          <p:cNvSpPr txBox="1"/>
          <p:nvPr/>
        </p:nvSpPr>
        <p:spPr>
          <a:xfrm>
            <a:off x="1371600" y="393192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DOMAIN</a:t>
            </a:r>
            <a:endParaRPr lang="en-US" sz="950" dirty="0"/>
          </a:p>
        </p:txBody>
      </p:sp>
      <p:sp>
        <p:nvSpPr>
          <p:cNvPr id="21" name="Text 15"/>
          <p:cNvSpPr txBox="1"/>
          <p:nvPr/>
        </p:nvSpPr>
        <p:spPr>
          <a:xfrm>
            <a:off x="1371600" y="4114800"/>
            <a:ext cx="4023360" cy="256032"/>
          </a:xfrm>
          <a:prstGeom prst="rect">
            <a:avLst/>
          </a:prstGeom>
          <a:noFill/>
          <a:ln/>
        </p:spPr>
        <p:txBody>
          <a:bodyPr wrap="square" lIns="0" tIns="0" rIns="0" bIns="0" rtlCol="0" anchor="t"/>
          <a:lstStyle/>
          <a:p>
            <a:pPr indent="0" marL="0">
              <a:buNone/>
            </a:pPr>
            <a:r>
              <a:rPr lang="en-US" sz="1400" b="1" dirty="0">
                <a:solidFill>
                  <a:schemeClr val="bg1"/>
                </a:solidFill>
              </a:rPr>
              <a:t>lootlager.de</a:t>
            </a:r>
            <a:endParaRPr lang="en-US" sz="1400" dirty="0"/>
          </a:p>
        </p:txBody>
      </p:sp>
      <p:sp>
        <p:nvSpPr>
          <p:cNvPr id="22" name="HOMEPAGE Kreis"/>
          <p:cNvSpPr/>
          <p:nvPr/>
        </p:nvSpPr>
        <p:spPr>
          <a:xfrm>
            <a:off x="822960" y="4507992"/>
            <a:ext cx="384048" cy="384048"/>
          </a:xfrm>
          <a:prstGeom prst="ellipse">
            <a:avLst/>
          </a:prstGeom>
          <a:solidFill>
            <a:schemeClr val="accent1"/>
          </a:solidFill>
          <a:ln/>
        </p:spPr>
      </p:sp>
      <p:pic>
        <p:nvPicPr>
          <p:cNvPr id="23" name="HOMEPAGE Icon" descr="HOMEPAGE">    </p:cNvPr>
          <p:cNvPicPr>
            <a:picLocks noChangeAspect="1"/>
          </p:cNvPicPr>
          <p:nvPr/>
        </p:nvPicPr>
        <p:blipFill>
          <a:blip r:embed="rId5"/>
          <a:stretch>
            <a:fillRect/>
          </a:stretch>
        </p:blipFill>
        <p:spPr>
          <a:xfrm>
            <a:off x="918972" y="4604004"/>
            <a:ext cx="192024" cy="192024"/>
          </a:xfrm>
          <a:prstGeom prst="rect">
            <a:avLst/>
          </a:prstGeom>
        </p:spPr>
      </p:pic>
      <p:sp>
        <p:nvSpPr>
          <p:cNvPr id="24" name="Text 17"/>
          <p:cNvSpPr txBox="1"/>
          <p:nvPr/>
        </p:nvSpPr>
        <p:spPr>
          <a:xfrm>
            <a:off x="1371600" y="448056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HOMEPAGE</a:t>
            </a:r>
            <a:endParaRPr lang="en-US" sz="950" dirty="0"/>
          </a:p>
        </p:txBody>
      </p:sp>
      <p:sp>
        <p:nvSpPr>
          <p:cNvPr id="25" name="Text 18"/>
          <p:cNvSpPr txBox="1"/>
          <p:nvPr/>
        </p:nvSpPr>
        <p:spPr>
          <a:xfrm>
            <a:off x="1371600" y="4663440"/>
            <a:ext cx="4023360" cy="256032"/>
          </a:xfrm>
          <a:prstGeom prst="rect">
            <a:avLst/>
          </a:prstGeom>
          <a:noFill/>
          <a:ln/>
        </p:spPr>
        <p:txBody>
          <a:bodyPr wrap="square" lIns="0" tIns="0" rIns="0" bIns="0" rtlCol="0" anchor="t"/>
          <a:lstStyle/>
          <a:p>
            <a:pPr indent="0" marL="0">
              <a:buNone/>
            </a:pPr>
            <a:r>
              <a:rPr lang="en-US" sz="1400" b="1" dirty="0">
                <a:solidFill>
                  <a:schemeClr val="bg1"/>
                </a:solidFill>
              </a:rPr>
              <a:t>Netlify, gebaut mit Claude Code</a:t>
            </a:r>
            <a:endParaRPr lang="en-US" sz="1400" dirty="0"/>
          </a:p>
        </p:txBody>
      </p:sp>
      <p:sp>
        <p:nvSpPr>
          <p:cNvPr id="26" name="LOGO UND BILDER Kreis"/>
          <p:cNvSpPr/>
          <p:nvPr/>
        </p:nvSpPr>
        <p:spPr>
          <a:xfrm>
            <a:off x="822960" y="5056632"/>
            <a:ext cx="384048" cy="384048"/>
          </a:xfrm>
          <a:prstGeom prst="ellipse">
            <a:avLst/>
          </a:prstGeom>
          <a:solidFill>
            <a:schemeClr val="accent1"/>
          </a:solidFill>
          <a:ln/>
        </p:spPr>
      </p:sp>
      <p:pic>
        <p:nvPicPr>
          <p:cNvPr id="27" name="LOGO UND BILDER Icon" descr="LOGO UND BILDER">    </p:cNvPr>
          <p:cNvPicPr>
            <a:picLocks noChangeAspect="1"/>
          </p:cNvPicPr>
          <p:nvPr/>
        </p:nvPicPr>
        <p:blipFill>
          <a:blip r:embed="rId6"/>
          <a:stretch>
            <a:fillRect/>
          </a:stretch>
        </p:blipFill>
        <p:spPr>
          <a:xfrm>
            <a:off x="918972" y="5152644"/>
            <a:ext cx="192024" cy="192024"/>
          </a:xfrm>
          <a:prstGeom prst="rect">
            <a:avLst/>
          </a:prstGeom>
        </p:spPr>
      </p:pic>
      <p:sp>
        <p:nvSpPr>
          <p:cNvPr id="28" name="Text 20"/>
          <p:cNvSpPr txBox="1"/>
          <p:nvPr/>
        </p:nvSpPr>
        <p:spPr>
          <a:xfrm>
            <a:off x="1371600" y="5029200"/>
            <a:ext cx="4023360" cy="182880"/>
          </a:xfrm>
          <a:prstGeom prst="rect">
            <a:avLst/>
          </a:prstGeom>
          <a:noFill/>
          <a:ln/>
        </p:spPr>
        <p:txBody>
          <a:bodyPr wrap="square" lIns="0" tIns="0" rIns="0" bIns="0" rtlCol="0" anchor="t"/>
          <a:lstStyle/>
          <a:p>
            <a:pPr indent="0" marL="0">
              <a:buNone/>
            </a:pPr>
            <a:r>
              <a:rPr lang="en-US" sz="950" b="1" spc="150" kern="0" dirty="0">
                <a:solidFill>
                  <a:schemeClr val="accent4"/>
                </a:solidFill>
              </a:rPr>
              <a:t>LOGO UND BILDER</a:t>
            </a:r>
            <a:endParaRPr lang="en-US" sz="950" dirty="0"/>
          </a:p>
        </p:txBody>
      </p:sp>
      <p:sp>
        <p:nvSpPr>
          <p:cNvPr id="29" name="Text 21"/>
          <p:cNvSpPr txBox="1"/>
          <p:nvPr/>
        </p:nvSpPr>
        <p:spPr>
          <a:xfrm>
            <a:off x="1371600" y="5212080"/>
            <a:ext cx="4023360" cy="256032"/>
          </a:xfrm>
          <a:prstGeom prst="rect">
            <a:avLst/>
          </a:prstGeom>
          <a:noFill/>
          <a:ln/>
        </p:spPr>
        <p:txBody>
          <a:bodyPr wrap="square" lIns="0" tIns="0" rIns="0" bIns="0" rtlCol="0" anchor="t"/>
          <a:lstStyle/>
          <a:p>
            <a:pPr indent="0" marL="0">
              <a:buNone/>
            </a:pPr>
            <a:r>
              <a:rPr lang="en-US" sz="1400" b="1" dirty="0">
                <a:solidFill>
                  <a:schemeClr val="bg1"/>
                </a:solidFill>
              </a:rPr>
              <a:t>mit KI erstellt (ChatGPT und Gemini)</a:t>
            </a:r>
            <a:endParaRPr lang="en-US" sz="1400" dirty="0"/>
          </a:p>
        </p:txBody>
      </p:sp>
      <p:sp>
        <p:nvSpPr>
          <p:cNvPr id="30" name="Text 22"/>
          <p:cNvSpPr txBox="1"/>
          <p:nvPr/>
        </p:nvSpPr>
        <p:spPr>
          <a:xfrm>
            <a:off x="6035040" y="1810512"/>
            <a:ext cx="5486400" cy="365760"/>
          </a:xfrm>
          <a:prstGeom prst="rect">
            <a:avLst/>
          </a:prstGeom>
          <a:noFill/>
          <a:ln/>
        </p:spPr>
        <p:txBody>
          <a:bodyPr wrap="square" lIns="0" tIns="0" rIns="0" bIns="0" rtlCol="0" anchor="t"/>
          <a:lstStyle/>
          <a:p>
            <a:pPr indent="0" marL="0">
              <a:buNone/>
            </a:pPr>
            <a:r>
              <a:rPr lang="en-US" sz="1800" b="1" dirty="0">
                <a:solidFill>
                  <a:schemeClr val="bg1"/>
                </a:solidFill>
              </a:rPr>
              <a:t>Unsere nächsten Schritte</a:t>
            </a:r>
            <a:endParaRPr lang="en-US" sz="1800" dirty="0"/>
          </a:p>
        </p:txBody>
      </p:sp>
      <p:sp>
        <p:nvSpPr>
          <p:cNvPr id="31" name="Zeitstrahl"/>
          <p:cNvSpPr/>
          <p:nvPr/>
        </p:nvSpPr>
        <p:spPr>
          <a:xfrm>
            <a:off x="6227064" y="2468880"/>
            <a:ext cx="22860" cy="2706624"/>
          </a:xfrm>
          <a:prstGeom prst="rect">
            <a:avLst/>
          </a:prstGeom>
          <a:solidFill>
            <a:schemeClr val="accent1">
              <a:alpha val="60000"/>
            </a:schemeClr>
          </a:solidFill>
          <a:ln/>
        </p:spPr>
      </p:sp>
      <p:sp>
        <p:nvSpPr>
          <p:cNvPr id="32" name="Schritt 1"/>
          <p:cNvSpPr/>
          <p:nvPr/>
        </p:nvSpPr>
        <p:spPr>
          <a:xfrm>
            <a:off x="6035040" y="2286000"/>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33" name="Text 25"/>
          <p:cNvSpPr txBox="1"/>
          <p:nvPr/>
        </p:nvSpPr>
        <p:spPr>
          <a:xfrm>
            <a:off x="6601968" y="2267712"/>
            <a:ext cx="5029200" cy="256032"/>
          </a:xfrm>
          <a:prstGeom prst="rect">
            <a:avLst/>
          </a:prstGeom>
          <a:noFill/>
          <a:ln/>
        </p:spPr>
        <p:txBody>
          <a:bodyPr wrap="square" lIns="0" tIns="0" rIns="0" bIns="0" rtlCol="0" anchor="t"/>
          <a:lstStyle/>
          <a:p>
            <a:pPr indent="0" marL="0">
              <a:buNone/>
            </a:pPr>
            <a:r>
              <a:rPr lang="en-US" sz="1500" b="1" dirty="0">
                <a:solidFill>
                  <a:schemeClr val="bg1"/>
                </a:solidFill>
              </a:rPr>
              <a:t>Gründen</a:t>
            </a:r>
            <a:endParaRPr lang="en-US" sz="1500" dirty="0"/>
          </a:p>
        </p:txBody>
      </p:sp>
      <p:sp>
        <p:nvSpPr>
          <p:cNvPr id="34" name="Text 26"/>
          <p:cNvSpPr txBox="1"/>
          <p:nvPr/>
        </p:nvSpPr>
        <p:spPr>
          <a:xfrm>
            <a:off x="6601968" y="2523744"/>
            <a:ext cx="5029200" cy="384048"/>
          </a:xfrm>
          <a:prstGeom prst="rect">
            <a:avLst/>
          </a:prstGeom>
          <a:noFill/>
          <a:ln/>
        </p:spPr>
        <p:txBody>
          <a:bodyPr wrap="square" lIns="0" tIns="0" rIns="0" bIns="0" rtlCol="0" anchor="t"/>
          <a:lstStyle/>
          <a:p>
            <a:pPr indent="0" marL="0">
              <a:buNone/>
            </a:pPr>
            <a:r>
              <a:rPr lang="en-US" sz="1200" dirty="0">
                <a:solidFill>
                  <a:schemeClr val="accent5"/>
                </a:solidFill>
              </a:rPr>
              <a:t>Gesellschaftsvertrag beim Notar, 1.000 € Stammkapital einzahlen</a:t>
            </a:r>
            <a:endParaRPr lang="en-US" sz="1200" dirty="0"/>
          </a:p>
        </p:txBody>
      </p:sp>
      <p:sp>
        <p:nvSpPr>
          <p:cNvPr id="35" name="Schritt 2"/>
          <p:cNvSpPr/>
          <p:nvPr/>
        </p:nvSpPr>
        <p:spPr>
          <a:xfrm>
            <a:off x="6035040" y="2962656"/>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36" name="Text 28"/>
          <p:cNvSpPr txBox="1"/>
          <p:nvPr/>
        </p:nvSpPr>
        <p:spPr>
          <a:xfrm>
            <a:off x="6601968" y="2944368"/>
            <a:ext cx="5029200" cy="256032"/>
          </a:xfrm>
          <a:prstGeom prst="rect">
            <a:avLst/>
          </a:prstGeom>
          <a:noFill/>
          <a:ln/>
        </p:spPr>
        <p:txBody>
          <a:bodyPr wrap="square" lIns="0" tIns="0" rIns="0" bIns="0" rtlCol="0" anchor="t"/>
          <a:lstStyle/>
          <a:p>
            <a:pPr indent="0" marL="0">
              <a:buNone/>
            </a:pPr>
            <a:r>
              <a:rPr lang="en-US" sz="1500" b="1" dirty="0">
                <a:solidFill>
                  <a:schemeClr val="bg1"/>
                </a:solidFill>
              </a:rPr>
              <a:t>Anmelden</a:t>
            </a:r>
            <a:endParaRPr lang="en-US" sz="1500" dirty="0"/>
          </a:p>
        </p:txBody>
      </p:sp>
      <p:sp>
        <p:nvSpPr>
          <p:cNvPr id="37" name="Text 29"/>
          <p:cNvSpPr txBox="1"/>
          <p:nvPr/>
        </p:nvSpPr>
        <p:spPr>
          <a:xfrm>
            <a:off x="6601968" y="3200400"/>
            <a:ext cx="5029200" cy="384048"/>
          </a:xfrm>
          <a:prstGeom prst="rect">
            <a:avLst/>
          </a:prstGeom>
          <a:noFill/>
          <a:ln/>
        </p:spPr>
        <p:txBody>
          <a:bodyPr wrap="square" lIns="0" tIns="0" rIns="0" bIns="0" rtlCol="0" anchor="t"/>
          <a:lstStyle/>
          <a:p>
            <a:pPr indent="0" marL="0">
              <a:buNone/>
            </a:pPr>
            <a:r>
              <a:rPr lang="en-US" sz="1200" dirty="0">
                <a:solidFill>
                  <a:schemeClr val="accent5"/>
                </a:solidFill>
              </a:rPr>
              <a:t>Handelsregister, Gewerbeamt und Finanzamt</a:t>
            </a:r>
            <a:endParaRPr lang="en-US" sz="1200" dirty="0"/>
          </a:p>
        </p:txBody>
      </p:sp>
      <p:sp>
        <p:nvSpPr>
          <p:cNvPr id="38" name="Schritt 3"/>
          <p:cNvSpPr/>
          <p:nvPr/>
        </p:nvSpPr>
        <p:spPr>
          <a:xfrm>
            <a:off x="6035040" y="3639312"/>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9" name="Text 31"/>
          <p:cNvSpPr txBox="1"/>
          <p:nvPr/>
        </p:nvSpPr>
        <p:spPr>
          <a:xfrm>
            <a:off x="6601968" y="3621024"/>
            <a:ext cx="5029200" cy="256032"/>
          </a:xfrm>
          <a:prstGeom prst="rect">
            <a:avLst/>
          </a:prstGeom>
          <a:noFill/>
          <a:ln/>
        </p:spPr>
        <p:txBody>
          <a:bodyPr wrap="square" lIns="0" tIns="0" rIns="0" bIns="0" rtlCol="0" anchor="t"/>
          <a:lstStyle/>
          <a:p>
            <a:pPr indent="0" marL="0">
              <a:buNone/>
            </a:pPr>
            <a:r>
              <a:rPr lang="en-US" sz="1500" b="1" dirty="0">
                <a:solidFill>
                  <a:schemeClr val="bg1"/>
                </a:solidFill>
              </a:rPr>
              <a:t>Namen sichern</a:t>
            </a:r>
            <a:endParaRPr lang="en-US" sz="1500" dirty="0"/>
          </a:p>
        </p:txBody>
      </p:sp>
      <p:sp>
        <p:nvSpPr>
          <p:cNvPr id="40" name="Text 32"/>
          <p:cNvSpPr txBox="1"/>
          <p:nvPr/>
        </p:nvSpPr>
        <p:spPr>
          <a:xfrm>
            <a:off x="6601968" y="3877056"/>
            <a:ext cx="5029200" cy="384048"/>
          </a:xfrm>
          <a:prstGeom prst="rect">
            <a:avLst/>
          </a:prstGeom>
          <a:noFill/>
          <a:ln/>
        </p:spPr>
        <p:txBody>
          <a:bodyPr wrap="square" lIns="0" tIns="0" rIns="0" bIns="0" rtlCol="0" anchor="t"/>
          <a:lstStyle/>
          <a:p>
            <a:pPr indent="0" marL="0">
              <a:buNone/>
            </a:pPr>
            <a:r>
              <a:rPr lang="en-US" sz="1200" dirty="0">
                <a:solidFill>
                  <a:schemeClr val="accent5"/>
                </a:solidFill>
              </a:rPr>
              <a:t>Domain lootlager.de mit Netlify verbinden, Marke beim DPMA anmelden</a:t>
            </a:r>
            <a:endParaRPr lang="en-US" sz="1200" dirty="0"/>
          </a:p>
        </p:txBody>
      </p:sp>
      <p:sp>
        <p:nvSpPr>
          <p:cNvPr id="41" name="Schritt 4"/>
          <p:cNvSpPr/>
          <p:nvPr/>
        </p:nvSpPr>
        <p:spPr>
          <a:xfrm>
            <a:off x="6035040" y="4315968"/>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42" name="Text 34"/>
          <p:cNvSpPr txBox="1"/>
          <p:nvPr/>
        </p:nvSpPr>
        <p:spPr>
          <a:xfrm>
            <a:off x="6601968" y="4297680"/>
            <a:ext cx="5029200" cy="256032"/>
          </a:xfrm>
          <a:prstGeom prst="rect">
            <a:avLst/>
          </a:prstGeom>
          <a:noFill/>
          <a:ln/>
        </p:spPr>
        <p:txBody>
          <a:bodyPr wrap="square" lIns="0" tIns="0" rIns="0" bIns="0" rtlCol="0" anchor="t"/>
          <a:lstStyle/>
          <a:p>
            <a:pPr indent="0" marL="0">
              <a:buNone/>
            </a:pPr>
            <a:r>
              <a:rPr lang="en-US" sz="1500" b="1" dirty="0">
                <a:solidFill>
                  <a:schemeClr val="bg1"/>
                </a:solidFill>
              </a:rPr>
              <a:t>Shop fertig machen</a:t>
            </a:r>
            <a:endParaRPr lang="en-US" sz="1500" dirty="0"/>
          </a:p>
        </p:txBody>
      </p:sp>
      <p:sp>
        <p:nvSpPr>
          <p:cNvPr id="43" name="Text 35"/>
          <p:cNvSpPr txBox="1"/>
          <p:nvPr/>
        </p:nvSpPr>
        <p:spPr>
          <a:xfrm>
            <a:off x="6601968" y="4553712"/>
            <a:ext cx="5029200" cy="384048"/>
          </a:xfrm>
          <a:prstGeom prst="rect">
            <a:avLst/>
          </a:prstGeom>
          <a:noFill/>
          <a:ln/>
        </p:spPr>
        <p:txBody>
          <a:bodyPr wrap="square" lIns="0" tIns="0" rIns="0" bIns="0" rtlCol="0" anchor="t"/>
          <a:lstStyle/>
          <a:p>
            <a:pPr indent="0" marL="0">
              <a:buNone/>
            </a:pPr>
            <a:r>
              <a:rPr lang="en-US" sz="1200" dirty="0">
                <a:solidFill>
                  <a:schemeClr val="accent5"/>
                </a:solidFill>
              </a:rPr>
              <a:t>Zahlung per PayPal oder Stripe einbauen, Rechtstexte ergänzen</a:t>
            </a:r>
            <a:endParaRPr lang="en-US" sz="1200" dirty="0"/>
          </a:p>
        </p:txBody>
      </p:sp>
      <p:sp>
        <p:nvSpPr>
          <p:cNvPr id="44" name="Schritt 5"/>
          <p:cNvSpPr/>
          <p:nvPr/>
        </p:nvSpPr>
        <p:spPr>
          <a:xfrm>
            <a:off x="6035040" y="4992624"/>
            <a:ext cx="402336" cy="402336"/>
          </a:xfrm>
          <a:prstGeom prst="ellipse">
            <a:avLst/>
          </a:prstGeom>
          <a:solidFill>
            <a:schemeClr val="accent1"/>
          </a:solid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45" name="Text 37"/>
          <p:cNvSpPr txBox="1"/>
          <p:nvPr/>
        </p:nvSpPr>
        <p:spPr>
          <a:xfrm>
            <a:off x="6601968" y="4974336"/>
            <a:ext cx="5029200" cy="256032"/>
          </a:xfrm>
          <a:prstGeom prst="rect">
            <a:avLst/>
          </a:prstGeom>
          <a:noFill/>
          <a:ln/>
        </p:spPr>
        <p:txBody>
          <a:bodyPr wrap="square" lIns="0" tIns="0" rIns="0" bIns="0" rtlCol="0" anchor="t"/>
          <a:lstStyle/>
          <a:p>
            <a:pPr indent="0" marL="0">
              <a:buNone/>
            </a:pPr>
            <a:r>
              <a:rPr lang="en-US" sz="1500" b="1" dirty="0">
                <a:solidFill>
                  <a:schemeClr val="bg1"/>
                </a:solidFill>
              </a:rPr>
              <a:t>Live gehen</a:t>
            </a:r>
            <a:endParaRPr lang="en-US" sz="1500" dirty="0"/>
          </a:p>
        </p:txBody>
      </p:sp>
      <p:sp>
        <p:nvSpPr>
          <p:cNvPr id="46" name="Text 38"/>
          <p:cNvSpPr txBox="1"/>
          <p:nvPr/>
        </p:nvSpPr>
        <p:spPr>
          <a:xfrm>
            <a:off x="6601968" y="5230368"/>
            <a:ext cx="5029200" cy="384048"/>
          </a:xfrm>
          <a:prstGeom prst="rect">
            <a:avLst/>
          </a:prstGeom>
          <a:noFill/>
          <a:ln/>
        </p:spPr>
        <p:txBody>
          <a:bodyPr wrap="square" lIns="0" tIns="0" rIns="0" bIns="0" rtlCol="0" anchor="t"/>
          <a:lstStyle/>
          <a:p>
            <a:pPr indent="0" marL="0">
              <a:buNone/>
            </a:pPr>
            <a:r>
              <a:rPr lang="en-US" sz="1200" dirty="0">
                <a:solidFill>
                  <a:schemeClr val="accent5"/>
                </a:solidFill>
              </a:rPr>
              <a:t>Testbestellung machen, dann Start mit Werbung auf Instagram und TikTok</a:t>
            </a:r>
            <a:endParaRPr lang="en-US" sz="1200" dirty="0"/>
          </a:p>
        </p:txBody>
      </p:sp>
      <p:sp>
        <p:nvSpPr>
          <p:cNvPr id="47" name="Text 39"/>
          <p:cNvSpPr txBox="1"/>
          <p:nvPr/>
        </p:nvSpPr>
        <p:spPr>
          <a:xfrm>
            <a:off x="548640" y="5760720"/>
            <a:ext cx="11094415" cy="411480"/>
          </a:xfrm>
          <a:prstGeom prst="rect">
            <a:avLst/>
          </a:prstGeom>
          <a:noFill/>
          <a:ln/>
        </p:spPr>
        <p:txBody>
          <a:bodyPr wrap="square" lIns="0" tIns="0" rIns="0" bIns="0" rtlCol="0" anchor="t"/>
          <a:lstStyle/>
          <a:p>
            <a:pPr indent="0" marL="0">
              <a:buNone/>
            </a:pPr>
            <a:r>
              <a:rPr lang="en-US" sz="1000" b="1" dirty="0">
                <a:solidFill>
                  <a:schemeClr val="bg1"/>
                </a:solidFill>
              </a:rPr>
              <a:t>Quellen: </a:t>
            </a:r>
            <a:pPr indent="0" marL="0">
              <a:buNone/>
            </a:pPr>
            <a:r>
              <a:rPr lang="en-US" sz="1000" dirty="0">
                <a:solidFill>
                  <a:schemeClr val="accent5"/>
                </a:solidFill>
              </a:rPr>
              <a:t>HGB §§ 17–19, GmbHG §§ 4 und 5a, BGB §§ 312g und 312j, MarkenG § 3, DDG § 5 · Domain: Abfrage bei denic.de · Preise: netlify.com/pricing und Preisvergleiche auf qualimero.com, trusted.de und eesel.ai (alles abgerufen am 13.10.2026) · Logo: ChatGPT (KI) · Bilder: Gemini (KI) · Shop: gebaut mit Claude Code (KI)</a:t>
            </a:r>
            <a:endParaRPr lang="en-US" sz="1000" dirty="0"/>
          </a:p>
        </p:txBody>
      </p:sp>
      <p:sp>
        <p:nvSpPr>
          <p:cNvPr id="25" name="Slide Number Placeholder 0"/>
          <p:cNvSpPr>
            <a:spLocks noGrp="1"/>
          </p:cNvSpPr>
          <p:nvPr>
            <p:ph type="sldNum" sz="quarter" idx="4294967295"/>
          </p:nvPr>
        </p:nvSpPr>
        <p:spPr>
          <a:xfrm>
            <a:off x="11094415" y="6364224"/>
            <a:ext cx="548640" cy="310896"/>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1097280"/>
            <a:ext cx="4389120" cy="914400"/>
          </a:xfrm>
          <a:prstGeom prst="rect">
            <a:avLst/>
          </a:prstGeom>
          <a:noFill/>
          <a:ln/>
        </p:spPr>
        <p:txBody>
          <a:bodyPr wrap="square" lIns="0" tIns="0" rIns="0" bIns="0" rtlCol="0" anchor="t"/>
          <a:lstStyle/>
          <a:p>
            <a:pPr algn="l" indent="0" marL="0">
              <a:buNone/>
            </a:pPr>
            <a:r>
              <a:rPr lang="en-US" sz="5200" b="1" dirty="0">
                <a:solidFill>
                  <a:schemeClr val="bg1"/>
                </a:solidFill>
              </a:rPr>
              <a:t>Vielen Dank!</a:t>
            </a:r>
            <a:endParaRPr lang="en-US" sz="5200" dirty="0"/>
          </a:p>
        </p:txBody>
      </p:sp>
      <p:sp>
        <p:nvSpPr>
          <p:cNvPr id="3" name="Text 1"/>
          <p:cNvSpPr txBox="1"/>
          <p:nvPr/>
        </p:nvSpPr>
        <p:spPr>
          <a:xfrm>
            <a:off x="640080" y="2103120"/>
            <a:ext cx="5486400" cy="502920"/>
          </a:xfrm>
          <a:prstGeom prst="rect">
            <a:avLst/>
          </a:prstGeom>
          <a:noFill/>
          <a:ln/>
        </p:spPr>
        <p:txBody>
          <a:bodyPr wrap="square" lIns="0" tIns="0" rIns="0" bIns="0" rtlCol="0" anchor="ctr"/>
          <a:lstStyle/>
          <a:p>
            <a:pPr indent="0" marL="0">
              <a:buNone/>
            </a:pPr>
            <a:r>
              <a:rPr lang="en-US" sz="2800" b="1" dirty="0">
                <a:solidFill>
                  <a:schemeClr val="accent2"/>
                </a:solidFill>
                <a:latin typeface="+mj-lt" pitchFamily="34" charset="0"/>
                <a:ea typeface="+mj-lt" pitchFamily="34" charset="-122"/>
                <a:cs typeface="+mj-lt" pitchFamily="34" charset="-120"/>
              </a:rPr>
              <a:t>Habt ihr noch Fragen?</a:t>
            </a:r>
            <a:endParaRPr lang="en-US" sz="2800" dirty="0"/>
          </a:p>
        </p:txBody>
      </p:sp>
      <p:sp>
        <p:nvSpPr>
          <p:cNvPr id="4" name="Text 2"/>
          <p:cNvSpPr txBox="1"/>
          <p:nvPr/>
        </p:nvSpPr>
        <p:spPr>
          <a:xfrm>
            <a:off x="640080" y="2670048"/>
            <a:ext cx="5486400" cy="365760"/>
          </a:xfrm>
          <a:prstGeom prst="rect">
            <a:avLst/>
          </a:prstGeom>
          <a:noFill/>
          <a:ln/>
        </p:spPr>
        <p:txBody>
          <a:bodyPr wrap="square" lIns="0" tIns="0" rIns="0" bIns="0" rtlCol="0" anchor="ctr"/>
          <a:lstStyle/>
          <a:p>
            <a:pPr indent="0" marL="0">
              <a:buNone/>
            </a:pPr>
            <a:r>
              <a:rPr lang="en-US" sz="1800" i="1" dirty="0">
                <a:solidFill>
                  <a:schemeClr val="accent4"/>
                </a:solidFill>
              </a:rPr>
              <a:t>„Level up dein Setup.“</a:t>
            </a:r>
            <a:endParaRPr lang="en-US" sz="1800" dirty="0"/>
          </a:p>
        </p:txBody>
      </p:sp>
      <p:sp>
        <p:nvSpPr>
          <p:cNvPr id="5" name="QR-Karte"/>
          <p:cNvSpPr/>
          <p:nvPr/>
        </p:nvSpPr>
        <p:spPr>
          <a:xfrm>
            <a:off x="640080" y="3383280"/>
            <a:ext cx="1965960" cy="1965960"/>
          </a:xfrm>
          <a:prstGeom prst="roundRect">
            <a:avLst>
              <a:gd name="adj" fmla="val 8372"/>
            </a:avLst>
          </a:prstGeom>
          <a:solidFill>
            <a:schemeClr val="bg1"/>
          </a:solidFill>
          <a:ln/>
        </p:spPr>
      </p:sp>
      <p:pic>
        <p:nvPicPr>
          <p:cNvPr id="6" name="QR-Code" descr="QR-Code zum Shop: lootlager.netlify.app">    </p:cNvPr>
          <p:cNvPicPr>
            <a:picLocks noChangeAspect="1"/>
          </p:cNvPicPr>
          <p:nvPr/>
        </p:nvPicPr>
        <p:blipFill>
          <a:blip r:embed="rId1"/>
          <a:stretch>
            <a:fillRect/>
          </a:stretch>
        </p:blipFill>
        <p:spPr>
          <a:xfrm>
            <a:off x="731520" y="3474720"/>
            <a:ext cx="1783080" cy="1783080"/>
          </a:xfrm>
          <a:prstGeom prst="rect">
            <a:avLst/>
          </a:prstGeom>
        </p:spPr>
      </p:pic>
      <p:sp>
        <p:nvSpPr>
          <p:cNvPr id="7" name="Text 4"/>
          <p:cNvSpPr txBox="1"/>
          <p:nvPr/>
        </p:nvSpPr>
        <p:spPr>
          <a:xfrm>
            <a:off x="2834640" y="3931920"/>
            <a:ext cx="3200400" cy="365760"/>
          </a:xfrm>
          <a:prstGeom prst="rect">
            <a:avLst/>
          </a:prstGeom>
          <a:noFill/>
          <a:ln/>
        </p:spPr>
        <p:txBody>
          <a:bodyPr wrap="square" lIns="0" tIns="0" rIns="0" bIns="0" rtlCol="0" anchor="t"/>
          <a:lstStyle/>
          <a:p>
            <a:pPr indent="0" marL="0">
              <a:buNone/>
            </a:pPr>
            <a:r>
              <a:rPr lang="en-US" sz="2000" b="1" dirty="0">
                <a:solidFill>
                  <a:schemeClr val="bg1"/>
                </a:solidFill>
              </a:rPr>
              <a:t>Shop ausprobieren</a:t>
            </a:r>
            <a:endParaRPr lang="en-US" sz="2000" dirty="0"/>
          </a:p>
        </p:txBody>
      </p:sp>
      <p:sp>
        <p:nvSpPr>
          <p:cNvPr id="8" name="Text 5"/>
          <p:cNvSpPr txBox="1"/>
          <p:nvPr/>
        </p:nvSpPr>
        <p:spPr>
          <a:xfrm>
            <a:off x="2834640" y="4315968"/>
            <a:ext cx="3200400" cy="320040"/>
          </a:xfrm>
          <a:prstGeom prst="rect">
            <a:avLst/>
          </a:prstGeom>
          <a:noFill/>
          <a:ln/>
        </p:spPr>
        <p:txBody>
          <a:bodyPr wrap="square" lIns="0" tIns="0" rIns="0" bIns="0" rtlCol="0" anchor="t"/>
          <a:lstStyle/>
          <a:p>
            <a:pPr indent="0" marL="0">
              <a:buNone/>
            </a:pPr>
            <a:r>
              <a:rPr lang="en-US" sz="1600" dirty="0">
                <a:solidFill>
                  <a:schemeClr val="accent2"/>
                </a:solidFill>
              </a:rPr>
              <a:t>lootlager.netlify.app</a:t>
            </a:r>
            <a:endParaRPr lang="en-US" sz="1600" dirty="0"/>
          </a:p>
        </p:txBody>
      </p:sp>
      <p:sp>
        <p:nvSpPr>
          <p:cNvPr id="9" name="Logo-Karte"/>
          <p:cNvSpPr/>
          <p:nvPr/>
        </p:nvSpPr>
        <p:spPr>
          <a:xfrm>
            <a:off x="640080" y="5669280"/>
            <a:ext cx="2514600" cy="685800"/>
          </a:xfrm>
          <a:prstGeom prst="roundRect">
            <a:avLst>
              <a:gd name="adj" fmla="val 24000"/>
            </a:avLst>
          </a:prstGeom>
          <a:solidFill>
            <a:schemeClr val="bg1"/>
          </a:solidFill>
          <a:ln/>
        </p:spPr>
      </p:sp>
      <p:pic>
        <p:nvPicPr>
          <p:cNvPr id="10" name="Firmenlogo" descr="Logo von LootLager">    </p:cNvPr>
          <p:cNvPicPr>
            <a:picLocks noChangeAspect="1"/>
          </p:cNvPicPr>
          <p:nvPr/>
        </p:nvPicPr>
        <p:blipFill>
          <a:blip r:embed="rId2"/>
          <a:stretch>
            <a:fillRect/>
          </a:stretch>
        </p:blipFill>
        <p:spPr>
          <a:xfrm>
            <a:off x="777240" y="5705856"/>
            <a:ext cx="2240280" cy="610771"/>
          </a:xfrm>
          <a:prstGeom prst="rect">
            <a:avLst/>
          </a:prstGeom>
        </p:spPr>
      </p:pic>
      <p:sp>
        <p:nvSpPr>
          <p:cNvPr id="11" name="Text 7"/>
          <p:cNvSpPr txBox="1"/>
          <p:nvPr/>
        </p:nvSpPr>
        <p:spPr>
          <a:xfrm>
            <a:off x="3383280" y="5824728"/>
            <a:ext cx="3657600" cy="365760"/>
          </a:xfrm>
          <a:prstGeom prst="rect">
            <a:avLst/>
          </a:prstGeom>
          <a:noFill/>
          <a:ln/>
        </p:spPr>
        <p:txBody>
          <a:bodyPr wrap="square" lIns="0" tIns="0" rIns="0" bIns="0" rtlCol="0" anchor="ctr"/>
          <a:lstStyle/>
          <a:p>
            <a:pPr indent="0" marL="0">
              <a:buNone/>
            </a:pPr>
            <a:r>
              <a:rPr lang="en-US" sz="1400" dirty="0">
                <a:solidFill>
                  <a:schemeClr val="accent5"/>
                </a:solidFill>
              </a:rPr>
              <a:t>Gruppe 4  ·  Nick und Luca</a:t>
            </a:r>
            <a:endParaRPr lang="en-US" sz="1400" dirty="0"/>
          </a:p>
        </p:txBody>
      </p:sp>
    </p:spTree>
  </p:cSld>
  <p:clrMapOvr>
    <a:masterClrMapping/>
  </p:clrMapOvr>
</p:sld>
</file>

<file path=ppt/theme/theme1.xml><?xml version="1.0" encoding="utf-8"?>
<a:theme xmlns:a="http://schemas.openxmlformats.org/drawingml/2006/main" name="LootLager">
  <a:themeElements>
    <a:clrScheme name="LootLager">
      <a:dk1>
        <a:srgbClr val="111827"/>
      </a:dk1>
      <a:lt1>
        <a:srgbClr val="FFFFFF"/>
      </a:lt1>
      <a:dk2>
        <a:srgbClr val="566072"/>
      </a:dk2>
      <a:lt2>
        <a:srgbClr val="F5F1FF"/>
      </a:lt2>
      <a:accent1>
        <a:srgbClr val="7C3AED"/>
      </a:accent1>
      <a:accent2>
        <a:srgbClr val="22D3EE"/>
      </a:accent2>
      <a:accent3>
        <a:srgbClr val="FBBF24"/>
      </a:accent3>
      <a:accent4>
        <a:srgbClr val="A78BFA"/>
      </a:accent4>
      <a:accent5>
        <a:srgbClr val="C3CADB"/>
      </a:accent5>
      <a:accent6>
        <a:srgbClr val="E6E1F5"/>
      </a:accent6>
      <a:hlink>
        <a:srgbClr val="22D3EE"/>
      </a:hlink>
      <a:folHlink>
        <a:srgbClr val="A78BFA"/>
      </a:folHlink>
    </a:clrScheme>
    <a:fontScheme name="LootLager">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LootLager – Präsentation</dc:title>
  <dc:subject>Gründung der LootLager UG (haftungsbeschränkt)</dc:subject>
  <dc:creator>Gruppe LootLager</dc:creator>
  <cp:lastModifiedBy>Gruppe LootLager</cp:lastModifiedBy>
  <cp:revision>1</cp:revision>
  <dcterms:created xsi:type="dcterms:W3CDTF">2026-10-20T05:56:13Z</dcterms:created>
  <dcterms:modified xsi:type="dcterms:W3CDTF">2026-10-20T05:56:13Z</dcterms:modified>
</cp:coreProperties>
</file>