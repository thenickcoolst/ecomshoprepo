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11"/>
    <p:sldId id="261" r:id="rId12"/>
    <p:sldId id="262" r:id="rId13"/>
    <p:sldId id="263" r:id="rId14"/>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b2633a6-3486-809e-f6cf-50b33d16ec60}">
          <p14:sldIdLst>
            <p14:sldId id="256"/>
          </p14:sldIdLst>
        </p14:section>
        <p14:section name="Unser Unternehmen" id="{7cf94b8d-eb77-2773-e436-d1b9f7dd084e}">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  <Relationship Id="rId14" Type="http://schemas.openxmlformats.org/officeDocument/2006/relationships/slide" Target="slides/slide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Wir verkaufen Gaming-Zubehör, das unsere Kunden selbst gestalten können. Man wählt ein Produkt aus, lädt ein eigenes Motiv hoch oder lässt es von uns gestalten, und wir produzieren und versenden es.</a:t>
            </a:r>
          </a:p>
          <a:p/>
          <a:p>
            <a:r>
              <a:t>Unser Sortiment hat fünf Produkte: das XXL-Mauspad für 24,99 €, den Controller-Skin für 14,99 €, Custom Keycaps im 4er-Set für 19,99 €, das LED-Schild für 49,99 € und den Headset-Halter für 29,99 €.</a:t>
            </a:r>
          </a:p>
          <a:p/>
          <a:p>
            <a:r>
              <a:t>Unsere Zielgruppe sind Gamer und Streamer zwischen 16 und 30, die ein einzigartiges Setup wollen.</a:t>
            </a:r>
          </a:p>
          <a:p/>
          <a:p>
            <a:r>
              <a:t>SIND DIE PREISE ECHT?</a:t>
            </a:r>
          </a:p>
          <a:p>
            <a:r>
              <a:t>Nein. Unsere Gründung ist fiktiv, deshalb haben wir uns die Preise ausgedacht. Alle Preise sind inklusive Mehrwertsteuer gemeint.</a:t>
            </a:r>
          </a:p>
          <a:p/>
          <a:p>
            <a:r>
              <a:t>WOHER SIND DIE PRODUKTBILDER?</a:t>
            </a:r>
          </a:p>
          <a:p>
            <a:r>
              <a:t>Die haben wir mit Gemini erstellt, einer KI von Google. Die Produkte gibt es noch nicht in echt, die Bilder zeigen, wie sie aussehen sollen.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„Loot“ ist in Videospielen die Beute, die man als Belohnung bekommt. „Lager“ steht für unseren Shop, in dem alles für dein Gaming-Setup bereitliegt. Der Name ist kurz, passt zu unserer Zielgruppe und ist durch das doppelte L leicht zu merken.</a:t>
            </a:r>
          </a:p>
          <a:p/>
          <a:p>
            <a:r>
              <a:t>Logo: Die Truhe ist eine Loot-Kiste wie in Videospielen. Wer bei uns bestellt, bekommt seine Belohnung. Violett und Türkis sind typische Gaming-Farben. Das Logo haben wir mit ChatGPT erstellt.</a:t>
            </a:r>
          </a:p>
          <a:p/>
          <a:p>
            <a:r>
              <a:t>NACHFRAGE „Unterschied Firma und Marke?“:</a:t>
            </a:r>
          </a:p>
          <a:p>
            <a:r>
              <a:t>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p>
          <a:p/>
          <a:p>
            <a:r>
              <a:t>NACHFRAGE „Gibt es den Namen schon?“:</a:t>
            </a:r>
          </a:p>
          <a:p>
            <a:r>
              <a:t>Unsere Gründung ist fiktiv, deshalb nehmen wir an, dass der Name frei ist. Eine kurze Websuche hat keinen Shop „LootLager“ gefunden. Bei einer echten Gründung würden wir im Handelsregister nach der Firma suchen und beim DPMA nach der Marke.</a:t>
            </a:r>
          </a:p>
          <a:p/>
          <a:p>
            <a:r>
              <a:t>UNSERE DOMAIN:</a:t>
            </a:r>
          </a:p>
          <a:p>
            <a:r>
              <a:t>Die Domain ist die Adresse, unter der man unseren Shop im Internet findet. Wir nehmen lootlager.de, also genau unseren Markennamen. So findet man uns leicht.</a:t>
            </a:r>
          </a:p>
          <a:p/>
          <a:p>
            <a:r>
              <a:t>NACHFRAGE „Ist die Domain frei?“:</a:t>
            </a:r>
          </a:p>
          <a:p>
            <a:r>
              <a:t>Nein, in echt ist lootlager.de schon vergeben. Das zeigt die Abfrage bei der DENIC (Stand 13.10.2026). Weil unsere Gründung fiktiv ist, tun wir so, als wäre sie frei. Online stellen können wir den Shop trotzdem: über die kostenlose Netlify-Adresse lootlager.netlify.app.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DIE UG?
Wir sind zwei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zu zweit. Außerdem haftet der Inhaber unbeschränkt.
WIE VIEL STAMMKAPITAL?
1.000 €. Nick und Luca sind die Gesellschafter und zahlen je 500 € ein.
WER FÜHRT DIE GESCHÄFTE?
Wir beide: Nick und Luca sind gemeinsam Geschäftsführer. Die Geschäftsführung bestimmen die Gesellschafter, und das sind bei uns auch wir zwei.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Für unsere Homepage haben wir vier Möglichkeiten verglichen: Netlify, Claude Code, Shopify und Jimdo. Dafür haben wir in Excel eine Nutzwertanalyse gemacht. Die Datei heißt Nutzwertanalyse.xlsx.</a:t>
            </a:r>
          </a:p>
          <a:p/>
          <a:p>
            <a:r>
              <a:t>Links stehen unsere sechs Kriterien. Jedes Kriterium hat eine Gewichtung, am wichtigsten sind uns die Kosten mit 25 %. Jeder Anbieter bekommt pro Kriterium 1 bis 10 Punkte. Excel multipliziert die Punkte mit der Gewichtung und zählt alles zusammen. Das macht die Formel SUMMENPRODUKT in der letzten Zeile.</a:t>
            </a:r>
          </a:p>
          <a:p/>
          <a:p>
            <a:r>
              <a:t>Netlify hat mit 7,65 Punkten gewonnen, knapp vor Shopify mit 7,45 Punkten. Dann kommen Jimdo mit 6,85 und Claude Code mit 5,65 Punkten.</a:t>
            </a:r>
          </a:p>
          <a:p/>
          <a:p>
            <a:r>
              <a:t>WAS SIND DIE VIER ANBIETER?</a:t>
            </a:r>
          </a:p>
          <a:p>
            <a:r>
              <a:t>Netlify ist ein Hosting-Anbieter aus den USA: Man baut die Seite selbst und Netlify stellt sie ins Internet. Claude Code ist ein KI-Werkzeug von Anthropic, das Webseiten programmiert. Shopify ist ein Mietshop aus Kanada, bei dem alles fertig ist. Jimdo ist ein Homepage-Baukasten aus Hamburg.</a:t>
            </a:r>
          </a:p>
          <a:p/>
          <a:p>
            <a:r>
              <a:t>WARUM HAT NETLIFY GEWONNEN?</a:t>
            </a:r>
          </a:p>
          <a:p>
            <a:r>
              <a:t>Wegen der Kosten und der Freiheit beim Design. Der Free-Tarif kostet 0 € im Monat, und eine eigene Domain mit HTTPS ist dabei. Weil wir die Seite selbst bauen, sieht sie genau so aus, wie wir wollen. Das passt zu unserer Idee mit den Custom Designs.</a:t>
            </a:r>
          </a:p>
          <a:p/>
          <a:p>
            <a:r>
              <a:t>CLAUDE CODE IST DOCH KEIN ANBIETER FÜR HOMEPAGES?</a:t>
            </a:r>
          </a:p>
          <a:p>
            <a:r>
              <a:t>Stimmt. Claude Code programmiert die Seite, stellt sie aber nicht ins Internet. Deshalb gibt es bei „Domain und Hosting“ nur 1 Punkt. Wir haben es trotzdem verglichen, weil wir unsere Seite damit gebaut haben. Am Ende kombinieren wir beides: gebaut mit Claude Code, online bei Netlify.</a:t>
            </a:r>
          </a:p>
          <a:p/>
          <a:p>
            <a:r>
              <a:t>WARUM NICHT SHOPIFY? DA IST DOCH ALLES FERTIG.</a:t>
            </a:r>
          </a:p>
          <a:p>
            <a:r>
              <a:t>Stimmt, bei Warenkorb und Zahlung ist Shopify am besten, deshalb 10 Punkte. Aber Shopify kostet ab 25 € im Monat, und beim Design sind wir an die Vorlagen gebunden. Für einen echten Shop mit vielen Bestellungen wäre Shopify eine gute zweite Wahl.</a:t>
            </a:r>
          </a:p>
          <a:p/>
          <a:p>
            <a:r>
              <a:t>WARUM NICHT JIMDO?</a:t>
            </a:r>
          </a:p>
          <a:p>
            <a:r>
              <a:t>Jimdo ist einfach und aus Deutschland, deshalb gut beim Datenschutz. Aber beim Design und bei den Shop-Funktionen ist es eingeschränkt.</a:t>
            </a:r>
          </a:p>
          <a:p/>
          <a:p>
            <a:r>
              <a:t>WIE KOMMT IHR AUF DIE PUNKTE?</a:t>
            </a:r>
          </a:p>
          <a:p>
            <a:r>
              <a:t>Die Punkte haben wir selbst vergeben. Die Preise kommen von netlify.com und aus Preisvergleichen im Internet, Stand 13.10.2026.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Wir haben uns für Netlify entschieden. Netlify ist ein Hosting-Anbieter: Wir bauen die Seite selbst, und Netlify stellt sie ins Internet. Der Free-Tarif kostet nichts. Dazu bekommen wir eine kostenlose Adresse, nämlich lootlager.netlify.app, und können später unsere eigene Domain anschließen. HTTPS, also die sichere Verbindung, ist automatisch dabei.</a:t>
            </a:r>
          </a:p>
          <a:p/>
          <a:p>
            <a:r>
              <a:t>Gebaut haben wir die Seite mit Claude Code, einer KI, die programmieren kann. Dadurch sind wir beim Design frei und nicht an einen Baukasten gebunden. Online geht die Seite, indem wir den Ordner bei Netlify hochladen oder unser GitHub-Projekt verbinden.</a:t>
            </a:r>
          </a:p>
          <a:p/>
          <a:p>
            <a:r>
              <a:t>Rechts seht ihr unsere Startseite: oben das Logo, die Suche und der Warenkorb. Darunter der Slogan „Level up dein Setup.“ und der Button „Jetzt gestalten“. Dann kommen unsere fünf Produkte. Die Bilder dazu haben wir mit Gemini erstellt. Weiter unten kann man ein eigenes Motiv hochladen und sieht sofort eine Vorschau.</a:t>
            </a:r>
          </a:p>
          <a:p/>
          <a:p>
            <a:r>
              <a:t>HAT NETLIFY AUCH NACHTEILE?</a:t>
            </a:r>
          </a:p>
          <a:p>
            <a:r>
              <a:t>Ja. Netlify ist kein fertiges Shopsystem. Den Warenkorb haben wir selbst gebaut, und eine echte Zahlung müssten wir noch einbauen, zum Beispiel mit PayPal oder Stripe. Die Server stehen in den USA, das müssen wir in der Datenschutzerklärung angeben. Und Rechtstexte wie AGB bekommen wir nicht mitgeliefert.</a:t>
            </a:r>
          </a:p>
          <a:p/>
          <a:p>
            <a:r>
              <a:t>KANN MAN BEI EUCH WIRKLICH BESTELLEN?</a:t>
            </a:r>
          </a:p>
          <a:p>
            <a:r>
              <a:t>Nein. Der Shop ist eine Demo für unser Schulprojekt. Man kann Produkte in den Warenkorb legen, aber an der Kasse kommt ein Hinweis, dass es keine echten Bestellungen gibt.</a:t>
            </a:r>
          </a:p>
          <a:p/>
          <a:p>
            <a:r>
              <a:t>WAS KOSTET NETLIFY, WENN DER SHOP GRÖSSER WIRD?</a:t>
            </a:r>
          </a:p>
          <a:p>
            <a:r>
              <a:t>Im Free-Tarif sind 300 Credits im Monat dabei. Jede Veröffentlichung kostet 15 Credits. Wenn das nicht mehr reicht, gibt es den Tarif Personal für 9 Dollar und Pro für 20 Dollar im Monat.</a:t>
            </a:r>
          </a:p>
          <a:p/>
          <a:p>
            <a:r>
              <a:t>WARUM STEHT DA NICHT „30 TAGE RÜCKGABE“?</a:t>
            </a:r>
          </a:p>
          <a:p>
            <a:r>
              <a:t>Weil unsere Produkte nach Kundenwunsch bedruckt werden. Für solche individuellen Produkte gibt es kein Widerrufsrecht (§ 312g Abs. 2 Nr. 1 BGB). Darauf müssen wir in der Widerrufsbelehrung hinweisen. Deshalb zeigen wir vor dem Kauf eine Design-Vorschau.</a:t>
            </a:r>
          </a:p>
          <a:p/>
          <a:p>
            <a:r>
              <a:t>WELCHE PFLICHTSEITEN BRAUCHT EIN SHOP?</a:t>
            </a:r>
          </a:p>
          <a:p>
            <a:r>
              <a:t>Impressum (§ 5 DDG), Datenschutzerklärung (DSGVO), AGB, Widerrufsbelehrung sowie Infos zu Versand und Zahlung. Auf unserer Seite stehen sie unten im Footer unter „Rechtliches“.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Zum Schluss unser Fazit: Wir gründen die LootLager UG (haftungsbeschränkt) mit 1.000 € Stammkapital. Unsere Marke heißt LootLager, unser Slogan ist „Level up dein Setup.“ Unsere Domain ist lootlager.de. Den Shop haben wir mit Claude Code gebaut und stellen ihn mit Netlify ins Internet. Unser Logo haben wir mit ChatGPT erstellt, die Bilder mit Gemini.</a:t>
            </a:r>
          </a:p>
          <a:p/>
          <a:p>
            <a:r>
              <a:t>Als Nächstes würden wir den Gesellschaftsvertrag beim Notar beurkunden lassen und das Stammkapital einzahlen. Dann melden wir uns beim Handelsregister, beim Gewerbeamt und beim Finanzamt an. Danach verbinden wir die Domain lootlager.de mit Netlify und melden die Marke beim DPMA an. Zum Schluss bauen wir die Zahlung ein, ergänzen die Rechtstexte, machen eine Testbestellung und starten mit Werbung auf Instagram und TikTok.</a:t>
            </a:r>
          </a:p>
          <a:p/>
          <a:p>
            <a:r>
              <a:t>WARUM DIE MARKE ANMELDEN?</a:t>
            </a:r>
          </a:p>
          <a:p>
            <a:r>
              <a:t>Damit niemand anderes den Namen LootLager für Gaming-Zubehör nutzen darf. Eine Marke beim DPMA gilt 10 Jahre und kann verlängert werden. Unser KI-Logo ist sonst kaum geschützt, weil rein KI-generierte Bilder meist kein Urheberrecht haben.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Vielen Dank fürs Zuhören! Habt ihr noch Fragen?</a:t>
            </a:r>
          </a:p>
          <a:p/>
          <a:p>
            <a:r>
              <a:t>WOHER SIND DIE BILDER?</a:t>
            </a:r>
          </a:p>
          <a:p>
            <a:r>
              <a:t>Die Produktbilder, das Bild mit der Truhe auf der Startseite und dieses Bild vom Schreibtisch haben wir mit Gemini erstellt, einer KI von Google. Das Logo ist von ChatGPT. Die Prompts stehen in unserem Projekt im Ordner assets/ki-bilder.</a:t>
            </a:r>
          </a:p>
          <a:p/>
          <a:p>
            <a:r>
              <a:t>GIBT ES DIE PRODUKTE SCHON?</a:t>
            </a:r>
          </a:p>
          <a:p>
            <a:r>
              <a:t>Nein. Unsere Gründung ist fiktiv. Die Bilder zeigen, wie die Produkte aussehen sollen.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 Id="rId7" Type="http://schemas.openxmlformats.org/officeDocument/2006/relationships/image" Target="../media/folie-hintergrund.png"/><Relationship Id="rId8" Type="http://schemas.openxmlformats.org/officeDocument/2006/relationships/image" Target="../media/logo-lootlager-frei.png"/></Relationships>
</file>

<file path=ppt/slides/_rels/slide2.xml.rels><?xml version='1.0' encoding='UTF-8' standalone='yes'?>
<Relationships xmlns="http://schemas.openxmlformats.org/package/2006/relationships"><Relationship Id="rId5" Type="http://schemas.openxmlformats.org/officeDocument/2006/relationships/slideLayout" Target="../slideLayouts/slideLayout3.xml"/><Relationship Id="rId6" Type="http://schemas.openxmlformats.org/officeDocument/2006/relationships/notesSlide" Target="../notesSlides/notesSlide2.xml"/><Relationship Id="rId10" Type="http://schemas.openxmlformats.org/officeDocument/2006/relationships/image" Target="../media/produkt-mauspad.jpg"/><Relationship Id="rId11" Type="http://schemas.openxmlformats.org/officeDocument/2006/relationships/image" Target="../media/produkt-controller-skin.jpg"/><Relationship Id="rId12" Type="http://schemas.openxmlformats.org/officeDocument/2006/relationships/image" Target="../media/produkt-keycaps.jpg"/><Relationship Id="rId13" Type="http://schemas.openxmlformats.org/officeDocument/2006/relationships/image" Target="../media/produkt-led-schild.jpg"/><Relationship Id="rId14" Type="http://schemas.openxmlformats.org/officeDocument/2006/relationships/image" Target="../media/produkt-headset-halter.jp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4-5.png"/><Relationship Id="rId16" Type="http://schemas.openxmlformats.org/officeDocument/2006/relationships/notesSlide" Target="../notesSlides/notesSlide6.xml"/><Relationship Id="rId17" Type="http://schemas.openxmlformats.org/officeDocument/2006/relationships/image" Target="../media/icon-domain.png"/><Relationship Id="rId18" Type="http://schemas.openxmlformats.org/officeDocument/2006/relationships/image" Target="../media/startseite.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xml"/><Relationship Id="rId8" Type="http://schemas.openxmlformats.org/officeDocument/2006/relationships/image" Target="../media/icon-domain.png"/></Relationships>
</file>

<file path=ppt/slides/_rels/slide8.xml.rels><?xml version='1.0' encoding='UTF-8' standalone='yes'?>
<Relationships xmlns="http://schemas.openxmlformats.org/package/2006/relationships"><Relationship Id="rId1" Type="http://schemas.openxmlformats.org/officeDocument/2006/relationships/image" Target="../media/setup-stimmung.jpg"/><Relationship Id="rId2" Type="http://schemas.openxmlformats.org/officeDocument/2006/relationships/image" Target="../media/image-1-1.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3" name="Hintergrund" descr=""/>
          <p:cNvPicPr>
            <a:picLocks noChangeAspect="1"/>
          </p:cNvPicPr>
          <p:nvPr/>
        </p:nvPicPr>
        <p:blipFill>
          <a:blip r:embed="rId7"/>
          <a:stretch>
            <a:fillRect/>
          </a:stretch>
        </p:blipFill>
        <p:spPr>
          <a:xfrm>
            <a:off x="0" y="0"/>
            <a:ext cx="12192000" cy="6858000"/>
          </a:xfrm>
          <a:prstGeom prst="rect">
            <a:avLst/>
          </a:prstGeom>
        </p:spPr>
      </p:pic>
      <p:pic>
        <p:nvPicPr>
          <p:cNvPr id="2" name="Firmenlogo" descr="Logo von LootLager: eine offene violette Schatztruhe neben dem Schriftzug LootLager">    </p:cNvPr>
          <p:cNvPicPr>
            <a:picLocks noChangeAspect="1"/>
          </p:cNvPicPr>
          <p:nvPr/>
        </p:nvPicPr>
        <p:blipFill>
          <a:blip r:embed="rId8"/>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LED-Schild oder Headset-Halter</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Unsere 5 Produkte</a:t>
            </a:r>
            <a:endParaRPr lang="en-US" sz="2000" dirty="0"/>
          </a:p>
        </p:txBody>
      </p:sp>
      <p:sp>
        <p:nvSpPr>
          <p:cNvPr id="17" name="Produkt XXL-Mauspads"/>
          <p:cNvSpPr/>
          <p:nvPr/>
        </p:nvSpPr>
        <p:spPr>
          <a:xfrm>
            <a:off x="6309360" y="1965960"/>
            <a:ext cx="5330952" cy="566928"/>
          </a:xfrm>
          <a:prstGeom prst="roundRect">
            <a:avLst>
              <a:gd name="adj" fmla="val 22000"/>
            </a:avLst>
          </a:prstGeom>
          <a:solidFill>
            <a:schemeClr val="bg2"/>
          </a:solidFill>
          <a:ln/>
        </p:spPr>
      </p:sp>
      <p:pic>
        <p:nvPicPr>
          <p:cNvPr id="19" name="XXL-Mauspads Foto" descr="XXL-Mauspad mit Berglandschaft in Violett und Türkis"/>
          <p:cNvPicPr>
            <a:picLocks noChangeAspect="1"/>
          </p:cNvPicPr>
          <p:nvPr/>
        </p:nvPicPr>
        <p:blipFill>
          <a:blip r:embed="rId10"/>
          <a:stretch>
            <a:fillRect/>
          </a:stretch>
        </p:blipFill>
        <p:spPr>
          <a:xfrm>
            <a:off x="6309360" y="1965960"/>
            <a:ext cx="755904" cy="566928"/>
          </a:xfrm>
          <a:prstGeom prst="roundRect">
            <a:avLst>
              <a:gd name="adj" fmla="val 22000"/>
            </a:avLst>
          </a:prstGeom>
        </p:spPr>
      </p:pic>
      <p:sp>
        <p:nvSpPr>
          <p:cNvPr id="20" name="XXL-Mauspads Name"/>
          <p:cNvSpPr txBox="1"/>
          <p:nvPr/>
        </p:nvSpPr>
        <p:spPr>
          <a:xfrm>
            <a:off x="7205472" y="2011680"/>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XXL-Mauspad</a:t>
            </a:r>
            <a:endParaRPr lang="en-US" sz="1600" dirty="0"/>
          </a:p>
        </p:txBody>
      </p:sp>
      <p:sp>
        <p:nvSpPr>
          <p:cNvPr id="21" name="XXL-Mauspads Beschreibung"/>
          <p:cNvSpPr txBox="1"/>
          <p:nvPr/>
        </p:nvSpPr>
        <p:spPr>
          <a:xfrm>
            <a:off x="7205472" y="2267712"/>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900 × 400 mm, mit eigenem Motiv</a:t>
            </a:r>
            <a:endParaRPr lang="en-US" sz="1200" dirty="0"/>
          </a:p>
        </p:txBody>
      </p:sp>
      <p:sp>
        <p:nvSpPr>
          <p:cNvPr id="22" name="Produkt Controller-Skins"/>
          <p:cNvSpPr/>
          <p:nvPr/>
        </p:nvSpPr>
        <p:spPr>
          <a:xfrm>
            <a:off x="6309360" y="2615184"/>
            <a:ext cx="5330952" cy="566928"/>
          </a:xfrm>
          <a:prstGeom prst="roundRect">
            <a:avLst>
              <a:gd name="adj" fmla="val 22000"/>
            </a:avLst>
          </a:prstGeom>
          <a:solidFill>
            <a:schemeClr val="bg2"/>
          </a:solidFill>
          <a:ln/>
        </p:spPr>
      </p:sp>
      <p:pic>
        <p:nvPicPr>
          <p:cNvPr id="24" name="Controller-Skins Foto" descr="Controller mit Skin im Farbverlauf von Violett nach Türkis"/>
          <p:cNvPicPr>
            <a:picLocks noChangeAspect="1"/>
          </p:cNvPicPr>
          <p:nvPr/>
        </p:nvPicPr>
        <p:blipFill>
          <a:blip r:embed="rId11"/>
          <a:stretch>
            <a:fillRect/>
          </a:stretch>
        </p:blipFill>
        <p:spPr>
          <a:xfrm>
            <a:off x="6309360" y="2615184"/>
            <a:ext cx="755904" cy="566928"/>
          </a:xfrm>
          <a:prstGeom prst="roundRect">
            <a:avLst>
              <a:gd name="adj" fmla="val 22000"/>
            </a:avLst>
          </a:prstGeom>
        </p:spPr>
      </p:pic>
      <p:sp>
        <p:nvSpPr>
          <p:cNvPr id="25" name="Controller-Skins Name"/>
          <p:cNvSpPr txBox="1"/>
          <p:nvPr/>
        </p:nvSpPr>
        <p:spPr>
          <a:xfrm>
            <a:off x="7205472" y="2660904"/>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Controller-Skin</a:t>
            </a:r>
            <a:endParaRPr lang="en-US" sz="1600" dirty="0"/>
          </a:p>
        </p:txBody>
      </p:sp>
      <p:sp>
        <p:nvSpPr>
          <p:cNvPr id="26" name="Controller-Skins Beschreibung"/>
          <p:cNvSpPr txBox="1"/>
          <p:nvPr/>
        </p:nvSpPr>
        <p:spPr>
          <a:xfrm>
            <a:off x="7205472" y="2916936"/>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264408"/>
            <a:ext cx="5330952" cy="566928"/>
          </a:xfrm>
          <a:prstGeom prst="roundRect">
            <a:avLst>
              <a:gd name="adj" fmla="val 22000"/>
            </a:avLst>
          </a:prstGeom>
          <a:solidFill>
            <a:schemeClr val="bg2"/>
          </a:solidFill>
          <a:ln/>
        </p:spPr>
      </p:sp>
      <p:pic>
        <p:nvPicPr>
          <p:cNvPr id="29" name="Custom Keycaps Foto" descr="Vier Keycaps mit den Buchstaben L, O, O und T"/>
          <p:cNvPicPr>
            <a:picLocks noChangeAspect="1"/>
          </p:cNvPicPr>
          <p:nvPr/>
        </p:nvPicPr>
        <p:blipFill>
          <a:blip r:embed="rId12"/>
          <a:stretch>
            <a:fillRect/>
          </a:stretch>
        </p:blipFill>
        <p:spPr>
          <a:xfrm>
            <a:off x="6309360" y="3264408"/>
            <a:ext cx="755904" cy="566928"/>
          </a:xfrm>
          <a:prstGeom prst="roundRect">
            <a:avLst>
              <a:gd name="adj" fmla="val 22000"/>
            </a:avLst>
          </a:prstGeom>
        </p:spPr>
      </p:pic>
      <p:sp>
        <p:nvSpPr>
          <p:cNvPr id="30" name="Custom Keycaps Name"/>
          <p:cNvSpPr txBox="1"/>
          <p:nvPr/>
        </p:nvSpPr>
        <p:spPr>
          <a:xfrm>
            <a:off x="7205472" y="3310128"/>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Custom Keycaps (4er-Set)</a:t>
            </a:r>
            <a:endParaRPr lang="en-US" sz="1600" dirty="0"/>
          </a:p>
        </p:txBody>
      </p:sp>
      <p:sp>
        <p:nvSpPr>
          <p:cNvPr id="31" name="Custom Keycaps Beschreibung"/>
          <p:cNvSpPr txBox="1"/>
          <p:nvPr/>
        </p:nvSpPr>
        <p:spPr>
          <a:xfrm>
            <a:off x="7205472" y="3566160"/>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6309360" y="3913632"/>
            <a:ext cx="5330952" cy="566928"/>
          </a:xfrm>
          <a:prstGeom prst="roundRect">
            <a:avLst>
              <a:gd name="adj" fmla="val 22000"/>
            </a:avLst>
          </a:prstGeom>
          <a:solidFill>
            <a:schemeClr val="bg2"/>
          </a:solidFill>
          <a:ln/>
        </p:spPr>
      </p:sp>
      <p:pic>
        <p:nvPicPr>
          <p:cNvPr id="34" name="LED-Schilder Foto" descr="Neon-Schild mit leuchtendem Schriftzug GG!"/>
          <p:cNvPicPr>
            <a:picLocks noChangeAspect="1"/>
          </p:cNvPicPr>
          <p:nvPr/>
        </p:nvPicPr>
        <p:blipFill>
          <a:blip r:embed="rId13"/>
          <a:stretch>
            <a:fillRect/>
          </a:stretch>
        </p:blipFill>
        <p:spPr>
          <a:xfrm>
            <a:off x="6309360" y="3913632"/>
            <a:ext cx="755904" cy="566928"/>
          </a:xfrm>
          <a:prstGeom prst="roundRect">
            <a:avLst>
              <a:gd name="adj" fmla="val 22000"/>
            </a:avLst>
          </a:prstGeom>
        </p:spPr>
      </p:pic>
      <p:sp>
        <p:nvSpPr>
          <p:cNvPr id="35" name="LED-Schilder Name"/>
          <p:cNvSpPr txBox="1"/>
          <p:nvPr/>
        </p:nvSpPr>
        <p:spPr>
          <a:xfrm>
            <a:off x="7205472" y="3959352"/>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LED-Schild</a:t>
            </a:r>
            <a:endParaRPr lang="en-US" sz="1600" dirty="0"/>
          </a:p>
        </p:txBody>
      </p:sp>
      <p:sp>
        <p:nvSpPr>
          <p:cNvPr id="36" name="LED-Schilder Beschreibung"/>
          <p:cNvSpPr txBox="1"/>
          <p:nvPr/>
        </p:nvSpPr>
        <p:spPr>
          <a:xfrm>
            <a:off x="7205472" y="4215384"/>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Neon-Schriftzug mit deinem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40" name="Produkt Headset-Halter"/>
          <p:cNvSpPr/>
          <p:nvPr/>
        </p:nvSpPr>
        <p:spPr>
          <a:xfrm>
            <a:off x="6309360" y="4562856"/>
            <a:ext cx="5330952" cy="566928"/>
          </a:xfrm>
          <a:prstGeom prst="roundRect">
            <a:avLst>
              <a:gd name="adj" fmla="val 22000"/>
            </a:avLst>
          </a:prstGeom>
          <a:solidFill>
            <a:schemeClr val="bg2"/>
          </a:solidFill>
          <a:ln/>
        </p:spPr>
      </p:sp>
      <p:pic>
        <p:nvPicPr>
          <p:cNvPr id="42" name="Headset-Halter Foto" descr="Violetter Headset-Halter mit schwarzem Headset"/>
          <p:cNvPicPr>
            <a:picLocks noChangeAspect="1"/>
          </p:cNvPicPr>
          <p:nvPr/>
        </p:nvPicPr>
        <p:blipFill>
          <a:blip r:embed="rId14"/>
          <a:stretch>
            <a:fillRect/>
          </a:stretch>
        </p:blipFill>
        <p:spPr>
          <a:xfrm>
            <a:off x="6309360" y="4562856"/>
            <a:ext cx="755904" cy="566928"/>
          </a:xfrm>
          <a:prstGeom prst="roundRect">
            <a:avLst>
              <a:gd name="adj" fmla="val 22000"/>
            </a:avLst>
          </a:prstGeom>
        </p:spPr>
      </p:pic>
      <p:sp>
        <p:nvSpPr>
          <p:cNvPr id="43" name="Headset-Halter Name"/>
          <p:cNvSpPr txBox="1"/>
          <p:nvPr/>
        </p:nvSpPr>
        <p:spPr>
          <a:xfrm>
            <a:off x="7205472" y="4608576"/>
            <a:ext cx="2898648" cy="256032"/>
          </a:xfrm>
          <a:prstGeom prst="rect">
            <a:avLst/>
          </a:prstGeom>
          <a:noFill/>
          <a:ln/>
        </p:spPr>
        <p:txBody>
          <a:bodyPr wrap="square" lIns="0" tIns="0" rIns="0" bIns="0" rtlCol="0" anchor="ctr"/>
          <a:lstStyle/>
          <a:p>
            <a:pPr indent="0" marL="0">
              <a:buNone/>
            </a:pPr>
            <a:r>
              <a:rPr lang="en-US" sz="1500" b="1" dirty="0">
                <a:solidFill>
                  <a:schemeClr val="tx1"/>
                </a:solidFill>
              </a:rPr>
              <a:t>Headset-Halter</a:t>
            </a:r>
            <a:endParaRPr lang="en-US" sz="1600" dirty="0"/>
          </a:p>
        </p:txBody>
      </p:sp>
      <p:sp>
        <p:nvSpPr>
          <p:cNvPr id="44" name="Headset-Halter Beschreibung"/>
          <p:cNvSpPr txBox="1"/>
          <p:nvPr/>
        </p:nvSpPr>
        <p:spPr>
          <a:xfrm>
            <a:off x="7205472" y="4864608"/>
            <a:ext cx="2898648" cy="219456"/>
          </a:xfrm>
          <a:prstGeom prst="rect">
            <a:avLst/>
          </a:prstGeom>
          <a:noFill/>
          <a:ln/>
        </p:spPr>
        <p:txBody>
          <a:bodyPr wrap="square" lIns="0" tIns="0" rIns="0" bIns="0" rtlCol="0" anchor="ctr"/>
          <a:lstStyle/>
          <a:p>
            <a:pPr indent="0" marL="0">
              <a:buNone/>
            </a:pPr>
            <a:r>
              <a:rPr lang="en-US" sz="1200" dirty="0">
                <a:solidFill>
                  <a:schemeClr val="accent6"/>
                </a:solidFill>
              </a:rPr>
              <a:t>mit graviertem Gamertag</a:t>
            </a:r>
            <a:endParaRPr lang="en-US" sz="1200" dirty="0"/>
          </a:p>
        </p:txBody>
      </p:sp>
      <p:sp>
        <p:nvSpPr>
          <p:cNvPr id="45" name="XXL-Mauspad Preis"/>
          <p:cNvSpPr txBox="1"/>
          <p:nvPr/>
        </p:nvSpPr>
        <p:spPr>
          <a:xfrm>
            <a:off x="10104120" y="1965960"/>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24,99 €</a:t>
            </a:r>
          </a:p>
        </p:txBody>
      </p:sp>
      <p:sp>
        <p:nvSpPr>
          <p:cNvPr id="46" name="Controller-Skin Preis"/>
          <p:cNvSpPr txBox="1"/>
          <p:nvPr/>
        </p:nvSpPr>
        <p:spPr>
          <a:xfrm>
            <a:off x="10104120" y="2615184"/>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14,99 €</a:t>
            </a:r>
          </a:p>
        </p:txBody>
      </p:sp>
      <p:sp>
        <p:nvSpPr>
          <p:cNvPr id="47" name="Custom Keycaps (4er-Set) Preis"/>
          <p:cNvSpPr txBox="1"/>
          <p:nvPr/>
        </p:nvSpPr>
        <p:spPr>
          <a:xfrm>
            <a:off x="10104120" y="3264408"/>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19,99 €</a:t>
            </a:r>
          </a:p>
        </p:txBody>
      </p:sp>
      <p:sp>
        <p:nvSpPr>
          <p:cNvPr id="48" name="LED-Schild Preis"/>
          <p:cNvSpPr txBox="1"/>
          <p:nvPr/>
        </p:nvSpPr>
        <p:spPr>
          <a:xfrm>
            <a:off x="10104120" y="3913632"/>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49,99 €</a:t>
            </a:r>
          </a:p>
        </p:txBody>
      </p:sp>
      <p:sp>
        <p:nvSpPr>
          <p:cNvPr id="49" name="Headset-Halter Preis"/>
          <p:cNvSpPr txBox="1"/>
          <p:nvPr/>
        </p:nvSpPr>
        <p:spPr>
          <a:xfrm>
            <a:off x="10104120" y="4562856"/>
            <a:ext cx="1353312" cy="566928"/>
          </a:xfrm>
          <a:prstGeom prst="rect">
            <a:avLst/>
          </a:prstGeom>
          <a:noFill/>
          <a:ln/>
        </p:spPr>
        <p:txBody>
          <a:bodyPr wrap="square" lIns="0" tIns="0" rIns="0" bIns="0" rtlCol="0" anchor="ctr"/>
          <a:lstStyle/>
          <a:p>
            <a:pPr algn="r" indent="0" marL="0">
              <a:buNone/>
            </a:pPr>
            <a:r>
              <a:rPr lang="de-DE" sz="1600" b="1" dirty="0">
                <a:solidFill>
                  <a:schemeClr val="accent1"/>
                </a:solidFill>
              </a:rPr>
              <a:t>29,99 €</a:t>
            </a:r>
          </a:p>
        </p:txBody>
      </p:sp>
      <p:sp>
        <p:nvSpPr>
          <p:cNvPr id="3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Logo und Domain</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2514600" cy="1645920"/>
          </a:xfrm>
          <a:prstGeom prst="roundRect">
            <a:avLst>
              <a:gd name="adj" fmla="val 6667"/>
            </a:avLst>
          </a:prstGeom>
          <a:solidFill>
            <a:schemeClr val="bg2"/>
          </a:solidFill>
          <a:ln/>
        </p:spPr>
      </p:sp>
      <p:sp>
        <p:nvSpPr>
          <p:cNvPr id="13" name="FIRMA Label"/>
          <p:cNvSpPr txBox="1"/>
          <p:nvPr/>
        </p:nvSpPr>
        <p:spPr>
          <a:xfrm>
            <a:off x="5074920" y="4069080"/>
            <a:ext cx="20574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057400"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057400" cy="41148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7543800" y="3886200"/>
            <a:ext cx="1600200" cy="1645920"/>
          </a:xfrm>
          <a:prstGeom prst="roundRect">
            <a:avLst>
              <a:gd name="adj" fmla="val 6667"/>
            </a:avLst>
          </a:prstGeom>
          <a:solidFill>
            <a:schemeClr val="bg2"/>
          </a:solidFill>
          <a:ln/>
        </p:spPr>
      </p:sp>
      <p:sp>
        <p:nvSpPr>
          <p:cNvPr id="17" name="MARKE Label"/>
          <p:cNvSpPr txBox="1"/>
          <p:nvPr/>
        </p:nvSpPr>
        <p:spPr>
          <a:xfrm>
            <a:off x="7744968" y="4069080"/>
            <a:ext cx="121615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7744968" y="4343400"/>
            <a:ext cx="121615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7744968" y="5029200"/>
            <a:ext cx="1216152" cy="411480"/>
          </a:xfrm>
          <a:prstGeom prst="rect">
            <a:avLst/>
          </a:prstGeom>
          <a:noFill/>
          <a:ln/>
        </p:spPr>
        <p:txBody>
          <a:bodyPr wrap="square" lIns="0" tIns="0" rIns="0" bIns="0" rtlCol="0" anchor="t"/>
          <a:lstStyle/>
          <a:p>
            <a:pPr indent="0" marL="0">
              <a:buNone/>
            </a:pPr>
            <a:r>
              <a:rPr lang="en-US" sz="1200" dirty="0">
                <a:solidFill>
                  <a:schemeClr val="accent6"/>
                </a:solidFill>
              </a:rPr>
              <a:t>so kennen uns die Kunden</a:t>
            </a:r>
            <a:endParaRPr lang="en-US" sz="1200" dirty="0"/>
          </a:p>
        </p:txBody>
      </p:sp>
      <p:sp>
        <p:nvSpPr>
          <p:cNvPr id="26" name="DOMAIN Karte"/>
          <p:cNvSpPr/>
          <p:nvPr/>
        </p:nvSpPr>
        <p:spPr>
          <a:xfrm>
            <a:off x="9326880" y="3886200"/>
            <a:ext cx="2313432" cy="1645920"/>
          </a:xfrm>
          <a:prstGeom prst="roundRect">
            <a:avLst>
              <a:gd name="adj" fmla="val 6667"/>
            </a:avLst>
          </a:prstGeom>
          <a:solidFill>
            <a:schemeClr val="bg2"/>
          </a:solidFill>
          <a:ln/>
        </p:spPr>
      </p:sp>
      <p:sp>
        <p:nvSpPr>
          <p:cNvPr id="27" name="DOMAIN Label"/>
          <p:cNvSpPr txBox="1"/>
          <p:nvPr/>
        </p:nvSpPr>
        <p:spPr>
          <a:xfrm>
            <a:off x="9555480" y="4069080"/>
            <a:ext cx="187452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DOMAIN</a:t>
            </a:r>
            <a:endParaRPr lang="en-US" sz="1200" dirty="0"/>
          </a:p>
        </p:txBody>
      </p:sp>
      <p:sp>
        <p:nvSpPr>
          <p:cNvPr id="28" name="DOMAIN Wert"/>
          <p:cNvSpPr txBox="1"/>
          <p:nvPr/>
        </p:nvSpPr>
        <p:spPr>
          <a:xfrm>
            <a:off x="9555480" y="4343400"/>
            <a:ext cx="1874520" cy="566928"/>
          </a:xfrm>
          <a:prstGeom prst="rect">
            <a:avLst/>
          </a:prstGeom>
          <a:noFill/>
          <a:ln/>
        </p:spPr>
        <p:txBody>
          <a:bodyPr wrap="square" lIns="0" tIns="0" rIns="0" bIns="0" rtlCol="0" anchor="t"/>
          <a:lstStyle/>
          <a:p>
            <a:pPr indent="0" marL="0">
              <a:buNone/>
            </a:pPr>
            <a:r>
              <a:rPr lang="en-US" sz="1600" b="1" dirty="0">
                <a:solidFill>
                  <a:schemeClr val="tx1"/>
                </a:solidFill>
              </a:rPr>
              <a:t>lootlager.de</a:t>
            </a:r>
            <a:endParaRPr lang="en-US" sz="1600" dirty="0"/>
          </a:p>
        </p:txBody>
      </p:sp>
      <p:sp>
        <p:nvSpPr>
          <p:cNvPr id="29" name="DOMAIN Beschreibung"/>
          <p:cNvSpPr txBox="1"/>
          <p:nvPr/>
        </p:nvSpPr>
        <p:spPr>
          <a:xfrm>
            <a:off x="9555480" y="5029200"/>
            <a:ext cx="1874520" cy="411480"/>
          </a:xfrm>
          <a:prstGeom prst="rect">
            <a:avLst/>
          </a:prstGeom>
          <a:noFill/>
          <a:ln/>
        </p:spPr>
        <p:txBody>
          <a:bodyPr wrap="square" lIns="0" tIns="0" rIns="0" bIns="0" rtlCol="0" anchor="t"/>
          <a:lstStyle/>
          <a:p>
            <a:pPr indent="0" marL="0">
              <a:buNone/>
            </a:pPr>
            <a:r>
              <a:rPr lang="en-US" sz="1200" dirty="0">
                <a:solidFill>
                  <a:schemeClr val="accent6"/>
                </a:solidFill>
              </a:rPr>
              <a:t>unsere Adresse im Internet</a:t>
            </a:r>
            <a:endParaRPr lang="en-US"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 je 500 € pro Person.</a:t>
            </a:r>
            <a:endParaRPr lang="en-US" sz="1400" dirty="0"/>
          </a:p>
        </p:txBody>
      </p:sp>
      <p:sp>
        <p:nvSpPr>
          <p:cNvPr id="13" name="Vorteil Zwei Gesellschafter"/>
          <p:cNvSpPr/>
          <p:nvPr/>
        </p:nvSpPr>
        <p:spPr>
          <a:xfrm>
            <a:off x="548640" y="3566160"/>
            <a:ext cx="3520440" cy="1828800"/>
          </a:xfrm>
          <a:prstGeom prst="roundRect">
            <a:avLst>
              <a:gd name="adj" fmla="val 6000"/>
            </a:avLst>
          </a:prstGeom>
          <a:solidFill>
            <a:schemeClr val="bg2"/>
          </a:solidFill>
          <a:ln/>
        </p:spPr>
      </p:sp>
      <p:sp>
        <p:nvSpPr>
          <p:cNvPr id="14" name="Zwei Gesellschafter Kreis"/>
          <p:cNvSpPr/>
          <p:nvPr/>
        </p:nvSpPr>
        <p:spPr>
          <a:xfrm>
            <a:off x="822960" y="3840480"/>
            <a:ext cx="548640" cy="548640"/>
          </a:xfrm>
          <a:prstGeom prst="ellipse">
            <a:avLst/>
          </a:prstGeom>
          <a:solidFill>
            <a:schemeClr val="accent1"/>
          </a:solidFill>
          <a:ln/>
        </p:spPr>
      </p:sp>
      <p:pic>
        <p:nvPicPr>
          <p:cNvPr id="15" name="Zwei Gesellschafter Icon" descr="Zwei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Zwei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Zwei Gesellschafter</a:t>
            </a:r>
            <a:endParaRPr lang="en-US" sz="1800" dirty="0"/>
          </a:p>
        </p:txBody>
      </p:sp>
      <p:sp>
        <p:nvSpPr>
          <p:cNvPr id="17" name="Zwei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Nick und Luca halten je 50 % und führen gemeinsam die Geschäfte.</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Anbietersuche: Womit bauen wir den Shop?</a:t>
            </a:r>
            <a:endParaRPr lang="en-US" sz="3400" dirty="0"/>
          </a:p>
        </p:txBody>
      </p:sp>
      <p:sp>
        <p:nvSpPr>
          <p:cNvPr id="3" name="Erklärung"/>
          <p:cNvSpPr txBox="1"/>
          <p:nvPr/>
        </p:nvSpPr>
        <p:spPr>
          <a:xfrm>
            <a:off x="548640" y="1133856"/>
            <a:ext cx="11091672" cy="320040"/>
          </a:xfrm>
          <a:prstGeom prst="rect">
            <a:avLst/>
          </a:prstGeom>
          <a:noFill/>
          <a:ln/>
        </p:spPr>
        <p:txBody>
          <a:bodyPr wrap="square" lIns="0" tIns="0" rIns="0" bIns="0" rtlCol="0" anchor="ctr"/>
          <a:lstStyle/>
          <a:p>
            <a:pPr indent="0" marL="0">
              <a:buNone/>
            </a:pPr>
            <a:r>
              <a:rPr lang="de-DE" sz="1400" b="1" dirty="0">
                <a:solidFill>
                  <a:schemeClr val="accent6"/>
                </a:solidFill>
              </a:rPr>
              <a:t>Nutzwertanalyse: </a:t>
            </a:r>
            <a:r>
              <a:rPr lang="de-DE" sz="1400" dirty="0">
                <a:solidFill>
                  <a:schemeClr val="accent6"/>
                </a:solidFill>
              </a:rPr>
              <a:t>Punkte von 1 (schlecht) bis 10 (sehr gut). Summe = Punkte × Gewichtung. Preise Stand Oktober 2026.</a:t>
            </a:r>
            <a:endParaRPr lang="de-DE" sz="1400" dirty="0"/>
          </a:p>
        </p:txBody>
      </p:sp>
      <p:sp>
        <p:nvSpPr>
          <p:cNvPr id="10" name="Excel Namenfeld"/>
          <p:cNvSpPr/>
          <p:nvPr/>
        </p:nvSpPr>
        <p:spPr>
          <a:xfrm>
            <a:off x="621792" y="1522476"/>
            <a:ext cx="566928" cy="192024"/>
          </a:xfrm>
          <a:prstGeom prst="rect">
            <a:avLst/>
          </a:prstGeom>
          <a:solidFill>
            <a:schemeClr val="bg1"/>
          </a:solidFill>
          <a:ln w="9525">
            <a:solidFill>
              <a:srgbClr val="D9DCE3"/>
            </a:solidFill>
          </a:ln>
        </p:spPr>
      </p:sp>
      <p:sp>
        <p:nvSpPr>
          <p:cNvPr id="11" name="Excel Namenfeld Text"/>
          <p:cNvSpPr txBox="1"/>
          <p:nvPr/>
        </p:nvSpPr>
        <p:spPr>
          <a:xfrm>
            <a:off x="621792" y="1522476"/>
            <a:ext cx="566928" cy="192024"/>
          </a:xfrm>
          <a:prstGeom prst="rect">
            <a:avLst/>
          </a:prstGeom>
          <a:noFill/>
          <a:ln/>
        </p:spPr>
        <p:txBody>
          <a:bodyPr wrap="square" lIns="0" tIns="0" rIns="0" bIns="0" rtlCol="0" anchor="ctr"/>
          <a:lstStyle/>
          <a:p>
            <a:pPr algn="ctr" indent="0" marL="0">
              <a:buNone/>
            </a:pPr>
            <a:r>
              <a:rPr lang="de-DE" sz="1000" dirty="0">
                <a:solidFill>
                  <a:schemeClr val="tx1"/>
                </a:solidFill>
              </a:rPr>
              <a:t>C10</a:t>
            </a:r>
          </a:p>
        </p:txBody>
      </p:sp>
      <p:sp>
        <p:nvSpPr>
          <p:cNvPr id="12" name="Excel fx"/>
          <p:cNvSpPr txBox="1"/>
          <p:nvPr/>
        </p:nvSpPr>
        <p:spPr>
          <a:xfrm>
            <a:off x="1298448" y="1481328"/>
            <a:ext cx="274320" cy="274320"/>
          </a:xfrm>
          <a:prstGeom prst="rect">
            <a:avLst/>
          </a:prstGeom>
          <a:noFill/>
          <a:ln/>
        </p:spPr>
        <p:txBody>
          <a:bodyPr wrap="square" lIns="0" tIns="0" rIns="0" bIns="0" rtlCol="0" anchor="ctr"/>
          <a:lstStyle/>
          <a:p>
            <a:pPr algn="ctr" indent="0" marL="0">
              <a:buNone/>
            </a:pPr>
            <a:r>
              <a:rPr lang="de-DE" sz="1100" i="1" dirty="0">
                <a:solidFill>
                  <a:schemeClr val="accent6"/>
                </a:solidFill>
              </a:rPr>
              <a:t>fx</a:t>
            </a:r>
          </a:p>
        </p:txBody>
      </p:sp>
      <p:sp>
        <p:nvSpPr>
          <p:cNvPr id="13" name="Excel Formelfeld"/>
          <p:cNvSpPr/>
          <p:nvPr/>
        </p:nvSpPr>
        <p:spPr>
          <a:xfrm>
            <a:off x="1609344" y="1522476"/>
            <a:ext cx="6035040" cy="192024"/>
          </a:xfrm>
          <a:prstGeom prst="rect">
            <a:avLst/>
          </a:prstGeom>
          <a:solidFill>
            <a:schemeClr val="bg1"/>
          </a:solidFill>
          <a:ln w="9525">
            <a:solidFill>
              <a:srgbClr val="D9DCE3"/>
            </a:solidFill>
          </a:ln>
        </p:spPr>
      </p:sp>
      <p:sp>
        <p:nvSpPr>
          <p:cNvPr id="14" name="Excel Formel"/>
          <p:cNvSpPr txBox="1"/>
          <p:nvPr/>
        </p:nvSpPr>
        <p:spPr>
          <a:xfrm>
            <a:off x="1609344" y="1522476"/>
            <a:ext cx="6035040" cy="192024"/>
          </a:xfrm>
          <a:prstGeom prst="rect">
            <a:avLst/>
          </a:prstGeom>
          <a:noFill/>
          <a:ln/>
        </p:spPr>
        <p:txBody>
          <a:bodyPr wrap="square" lIns="73152" tIns="0" rIns="73152" bIns="0" rtlCol="0" anchor="ctr"/>
          <a:lstStyle/>
          <a:p>
            <a:pPr algn="l" indent="0" marL="0">
              <a:buNone/>
            </a:pPr>
            <a:r>
              <a:rPr lang="de-DE" sz="1000" dirty="0">
                <a:solidFill>
                  <a:schemeClr val="tx1"/>
                </a:solidFill>
              </a:rPr>
              <a:t>=SUMMENPRODUKT($B$4:$B$9;C4:C9)</a:t>
            </a:r>
          </a:p>
        </p:txBody>
      </p:sp>
      <p:sp>
        <p:nvSpPr>
          <p:cNvPr id="15" name="Excel Dateiname"/>
          <p:cNvSpPr txBox="1"/>
          <p:nvPr/>
        </p:nvSpPr>
        <p:spPr>
          <a:xfrm>
            <a:off x="7863840" y="1481328"/>
            <a:ext cx="3776472" cy="274320"/>
          </a:xfrm>
          <a:prstGeom prst="rect">
            <a:avLst/>
          </a:prstGeom>
          <a:noFill/>
          <a:ln/>
        </p:spPr>
        <p:txBody>
          <a:bodyPr wrap="square" lIns="0" tIns="0" rIns="0" bIns="0" rtlCol="0" anchor="ctr"/>
          <a:lstStyle/>
          <a:p>
            <a:pPr algn="r" indent="0" marL="0">
              <a:buNone/>
            </a:pPr>
            <a:r>
              <a:rPr lang="de-DE" sz="1000" b="1" dirty="0">
                <a:solidFill>
                  <a:schemeClr val="accent6"/>
                </a:solidFill>
              </a:rPr>
              <a:t>Datei: Nutzwertanalyse.xlsx</a:t>
            </a:r>
          </a:p>
        </p:txBody>
      </p:sp>
      <p:graphicFrame>
        <p:nvGraphicFramePr>
          <p:cNvPr id="4" name="Nutzwertanalyse" descr="Nutzwertanalyse als Excel-Tabelle"/>
          <p:cNvGraphicFramePr>
            <a:graphicFrameLocks noGrp="1"/>
          </p:cNvGraphicFramePr>
          <p:nvPr/>
        </p:nvGraphicFramePr>
        <p:xfrm>
          <a:off x="548640" y="1755648"/>
          <a:ext cx="11000232" cy="3456432"/>
        </p:xfrm>
        <a:graphic>
          <a:graphicData uri="http://schemas.openxmlformats.org/drawingml/2006/table">
            <a:tbl>
              <a:tblPr>
                <a:tableStyleId>{5C22544A-7EE6-4342-B048-85BDC9FD1C3A}</a:tableStyleId>
              </a:tblPr>
              <a:tblGrid>
                <a:gridCol w="420624"/>
                <a:gridCol w="3310128"/>
                <a:gridCol w="1344168"/>
                <a:gridCol w="1481328"/>
                <a:gridCol w="1481328"/>
                <a:gridCol w="1481328"/>
                <a:gridCol w="1481328"/>
              </a:tblGrid>
              <a:tr h="228600">
                <a:tc>
                  <a:txBody>
                    <a:bodyPr/>
                    <a:lstStyle/>
                    <a:p>
                      <a:pPr algn="ctr"/>
                      <a:endParaRPr lang="de-DE" sz="8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A</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B</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C</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D</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E</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ctr"/>
                      <a:r>
                        <a:rPr lang="de-DE" sz="800" dirty="0">
                          <a:solidFill>
                            <a:schemeClr val="accent6"/>
                          </a:solidFill>
                        </a:rPr>
                        <a:t>F</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r>
              <a:tr h="329184">
                <a:tc>
                  <a:txBody>
                    <a:bodyPr/>
                    <a:lstStyle/>
                    <a:p>
                      <a:pPr algn="ctr"/>
                      <a:r>
                        <a:rPr lang="de-DE" sz="800" dirty="0">
                          <a:solidFill>
                            <a:schemeClr val="accent6"/>
                          </a:solidFill>
                        </a:rPr>
                        <a:t>1</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b="1" dirty="0">
                          <a:solidFill>
                            <a:schemeClr val="tx1"/>
                          </a:solidFill>
                        </a:rPr>
                        <a:t>Kriterium</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Gewichtung</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bg1"/>
                          </a:solidFill>
                        </a:rPr>
                        <a:t>Netlify</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accent1"/>
                    </a:solidFill>
                  </a:tcPr>
                </a:tc>
                <a:tc>
                  <a:txBody>
                    <a:bodyPr/>
                    <a:lstStyle/>
                    <a:p>
                      <a:pPr algn="ctr"/>
                      <a:r>
                        <a:rPr lang="de-DE" sz="1400" b="1" dirty="0">
                          <a:solidFill>
                            <a:schemeClr val="tx1"/>
                          </a:solidFill>
                        </a:rPr>
                        <a:t>Claude Code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Shopify</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tx1"/>
                          </a:solidFill>
                        </a:rPr>
                        <a:t>Jimdo</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r>
              <a:tr h="278892">
                <a:tc>
                  <a:txBody>
                    <a:bodyPr/>
                    <a:lstStyle/>
                    <a:p>
                      <a:pPr algn="ctr"/>
                      <a:r>
                        <a:rPr lang="de-DE" sz="800" dirty="0">
                          <a:solidFill>
                            <a:schemeClr val="accent6"/>
                          </a:solidFill>
                        </a:rPr>
                        <a:t>2</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000" dirty="0">
                          <a:solidFill>
                            <a:schemeClr val="accent6"/>
                          </a:solidFill>
                        </a:rPr>
                        <a:t>Art</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endParaRPr lang="de-DE" sz="10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dk2"/>
                          </a:solidFill>
                        </a:rPr>
                        <a:t>Hosting</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000" dirty="0">
                          <a:solidFill>
                            <a:schemeClr val="accent6"/>
                          </a:solidFill>
                        </a:rPr>
                        <a:t>KI-Programmierer</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Mietshop (SaaS)</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Homepage-Baukasten</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278892">
                <a:tc>
                  <a:txBody>
                    <a:bodyPr/>
                    <a:lstStyle/>
                    <a:p>
                      <a:pPr algn="ctr"/>
                      <a:r>
                        <a:rPr lang="de-DE" sz="800" dirty="0">
                          <a:solidFill>
                            <a:schemeClr val="accent6"/>
                          </a:solidFill>
                        </a:rPr>
                        <a:t>3</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000" dirty="0">
                          <a:solidFill>
                            <a:schemeClr val="accent6"/>
                          </a:solidFill>
                        </a:rPr>
                        <a:t>Preis pro Monat</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endParaRPr lang="de-DE" sz="1000" dirty="0"/>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dk2"/>
                          </a:solidFill>
                        </a:rPr>
                        <a:t>0 €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000" dirty="0">
                          <a:solidFill>
                            <a:schemeClr val="accent6"/>
                          </a:solidFill>
                        </a:rPr>
                        <a:t>ca. 21 €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ab 25 €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000" dirty="0">
                          <a:solidFill>
                            <a:schemeClr val="accent6"/>
                          </a:solidFill>
                        </a:rPr>
                        <a:t>ab 18 €</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4</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Kosten (Start + monatlich)</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25 %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5</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Bedienbarkeit für Einsteiger</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6</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Freiheit beim Design</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20 %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7</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7</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Warenkorb und Zahlung</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4</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4</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10</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8</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Domain und Hosting inklusive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15 %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1</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8</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29184">
                <a:tc>
                  <a:txBody>
                    <a:bodyPr/>
                    <a:lstStyle/>
                    <a:p>
                      <a:pPr algn="ctr"/>
                      <a:r>
                        <a:rPr lang="de-DE" sz="800" dirty="0">
                          <a:solidFill>
                            <a:schemeClr val="accent6"/>
                          </a:solidFill>
                        </a:rPr>
                        <a:t>9</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dirty="0">
                          <a:solidFill>
                            <a:schemeClr val="tx1"/>
                          </a:solidFill>
                        </a:rPr>
                        <a:t>Datenschutz (DSGVO)</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dirty="0">
                          <a:solidFill>
                            <a:schemeClr val="accent6"/>
                          </a:solidFill>
                        </a:rPr>
                        <a:t>10 %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EDE7FF"/>
                    </a:solidFill>
                  </a:tcPr>
                </a:tc>
                <a:tc>
                  <a:txBody>
                    <a:bodyPr/>
                    <a:lstStyle/>
                    <a:p>
                      <a:pPr algn="ctr"/>
                      <a:r>
                        <a:rPr lang="de-DE" sz="1400" b="1" dirty="0">
                          <a:solidFill>
                            <a:schemeClr val="tx1"/>
                          </a:solidFill>
                        </a:rPr>
                        <a:t>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6</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c>
                  <a:txBody>
                    <a:bodyPr/>
                    <a:lstStyle/>
                    <a:p>
                      <a:pPr algn="ctr"/>
                      <a:r>
                        <a:rPr lang="de-DE" sz="1400" b="1" dirty="0">
                          <a:solidFill>
                            <a:schemeClr val="tx1"/>
                          </a:solidFill>
                        </a:rPr>
                        <a:t>9</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1"/>
                    </a:solidFill>
                  </a:tcPr>
                </a:tc>
              </a:tr>
              <a:tr h="365760">
                <a:tc>
                  <a:txBody>
                    <a:bodyPr/>
                    <a:lstStyle/>
                    <a:p>
                      <a:pPr algn="ctr"/>
                      <a:r>
                        <a:rPr lang="de-DE" sz="800" dirty="0">
                          <a:solidFill>
                            <a:schemeClr val="accent6"/>
                          </a:solidFill>
                        </a:rPr>
                        <a:t>10</a:t>
                      </a:r>
                    </a:p>
                  </a:txBody>
                  <a:tcPr anchor="ctr" marL="91440" marR="91440" marT="0" marB="0">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rgbClr val="F3F4F6"/>
                    </a:solidFill>
                  </a:tcPr>
                </a:tc>
                <a:tc>
                  <a:txBody>
                    <a:bodyPr/>
                    <a:lstStyle/>
                    <a:p>
                      <a:pPr algn="l"/>
                      <a:r>
                        <a:rPr lang="de-DE" sz="1400" b="1" dirty="0">
                          <a:solidFill>
                            <a:schemeClr val="tx1"/>
                          </a:solidFill>
                        </a:rPr>
                        <a:t>Summe (gewichtete Punkte)</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400" b="1" dirty="0">
                          <a:solidFill>
                            <a:schemeClr val="accent6"/>
                          </a:solidFill>
                        </a:rPr>
                        <a:t>100 %</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bg1"/>
                          </a:solidFill>
                        </a:rPr>
                        <a:t>7,65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accent1"/>
                    </a:solidFill>
                  </a:tcPr>
                </a:tc>
                <a:tc>
                  <a:txBody>
                    <a:bodyPr/>
                    <a:lstStyle/>
                    <a:p>
                      <a:pPr algn="ctr"/>
                      <a:r>
                        <a:rPr lang="de-DE" sz="1600" b="1" dirty="0">
                          <a:solidFill>
                            <a:schemeClr val="tx1"/>
                          </a:solidFill>
                        </a:rPr>
                        <a:t>5,65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tx1"/>
                          </a:solidFill>
                        </a:rPr>
                        <a:t>7,45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c>
                  <a:txBody>
                    <a:bodyPr/>
                    <a:lstStyle/>
                    <a:p>
                      <a:pPr algn="ctr"/>
                      <a:r>
                        <a:rPr lang="de-DE" sz="1600" b="1" dirty="0">
                          <a:solidFill>
                            <a:schemeClr val="tx1"/>
                          </a:solidFill>
                        </a:rPr>
                        <a:t>6,85</a:t>
                      </a:r>
                    </a:p>
                  </a:txBody>
                  <a:tcPr anchor="ctr" marL="91440" marR="91440" marT="27432" marB="27432">
                    <a:lnL w="6350" cap="flat" cmpd="sng" algn="ctr">
                      <a:solidFill>
                        <a:srgbClr val="D9DCE3"/>
                      </a:solidFill>
                      <a:prstDash val="solid"/>
                    </a:lnL>
                    <a:lnR w="6350" cap="flat" cmpd="sng" algn="ctr">
                      <a:solidFill>
                        <a:srgbClr val="D9DCE3"/>
                      </a:solidFill>
                      <a:prstDash val="solid"/>
                    </a:lnR>
                    <a:lnT w="6350" cap="flat" cmpd="sng" algn="ctr">
                      <a:solidFill>
                        <a:srgbClr val="D9DCE3"/>
                      </a:solidFill>
                      <a:prstDash val="solid"/>
                    </a:lnT>
                    <a:lnB w="6350" cap="flat" cmpd="sng" algn="ctr">
                      <a:solidFill>
                        <a:srgbClr val="D9DCE3"/>
                      </a:solidFill>
                      <a:prstDash val="solid"/>
                    </a:lnB>
                    <a:solidFill>
                      <a:schemeClr val="bg2"/>
                    </a:solidFill>
                  </a:tcPr>
                </a:tc>
              </a:tr>
            </a:tbl>
          </a:graphicData>
        </a:graphic>
      </p:graphicFrame>
      <p:sp>
        <p:nvSpPr>
          <p:cNvPr id="5" name="Ergebnis Hintergrund"/>
          <p:cNvSpPr/>
          <p:nvPr/>
        </p:nvSpPr>
        <p:spPr>
          <a:xfrm>
            <a:off x="548640" y="5321808"/>
            <a:ext cx="11091672" cy="502920"/>
          </a:xfrm>
          <a:prstGeom prst="roundRect">
            <a:avLst>
              <a:gd name="adj" fmla="val 50000"/>
            </a:avLst>
          </a:prstGeom>
          <a:solidFill>
            <a:schemeClr val="accent1"/>
          </a:solidFill>
          <a:ln/>
        </p:spPr>
      </p:sp>
      <p:pic>
        <p:nvPicPr>
          <p:cNvPr id="6" name="Ergebnis Icon" descr="Ergebnis Icon"/>
          <p:cNvPicPr>
            <a:picLocks noChangeAspect="1"/>
          </p:cNvPicPr>
          <p:nvPr/>
        </p:nvPicPr>
        <p:blipFill>
          <a:blip r:embed="rId2"/>
          <a:stretch>
            <a:fillRect/>
          </a:stretch>
        </p:blipFill>
        <p:spPr>
          <a:xfrm>
            <a:off x="777240" y="5431536"/>
            <a:ext cx="274320" cy="274320"/>
          </a:xfrm>
          <a:prstGeom prst="rect">
            <a:avLst/>
          </a:prstGeom>
        </p:spPr>
      </p:pic>
      <p:sp>
        <p:nvSpPr>
          <p:cNvPr id="7" name="Ergebnis Text"/>
          <p:cNvSpPr txBox="1"/>
          <p:nvPr/>
        </p:nvSpPr>
        <p:spPr>
          <a:xfrm>
            <a:off x="1188720" y="5321808"/>
            <a:ext cx="10241280" cy="502920"/>
          </a:xfrm>
          <a:prstGeom prst="rect">
            <a:avLst/>
          </a:prstGeom>
          <a:noFill/>
          <a:ln/>
        </p:spPr>
        <p:txBody>
          <a:bodyPr wrap="square" lIns="0" tIns="0" rIns="0" bIns="0" rtlCol="0" anchor="ctr"/>
          <a:lstStyle/>
          <a:p>
            <a:pPr indent="0" marL="0">
              <a:buNone/>
            </a:pPr>
            <a:r>
              <a:rPr lang="de-DE" sz="1600" b="1" dirty="0">
                <a:solidFill>
                  <a:schemeClr val="bg1"/>
                </a:solidFill>
              </a:rPr>
              <a:t>Ergebnis: </a:t>
            </a:r>
            <a:r>
              <a:rPr lang="de-DE" sz="1600" dirty="0">
                <a:solidFill>
                  <a:schemeClr val="bg1"/>
                </a:solidFill>
              </a:rPr>
              <a:t>Netlify gewinnt knapp vor Shopify: kostenlos und volle Freiheit beim Design.</a:t>
            </a:r>
            <a:endParaRPr lang="de-DE" sz="1600" dirty="0"/>
          </a:p>
        </p:txBody>
      </p:sp>
      <p:sp>
        <p:nvSpPr>
          <p:cNvPr id="8" name="Fußnote"/>
          <p:cNvSpPr txBox="1"/>
          <p:nvPr/>
        </p:nvSpPr>
        <p:spPr>
          <a:xfrm>
            <a:off x="548640" y="5870448"/>
            <a:ext cx="9418320" cy="274320"/>
          </a:xfrm>
          <a:prstGeom prst="rect">
            <a:avLst/>
          </a:prstGeom>
          <a:noFill/>
          <a:ln/>
        </p:spPr>
        <p:txBody>
          <a:bodyPr wrap="square" lIns="0" tIns="0" rIns="0" bIns="0" rtlCol="0" anchor="ctr"/>
          <a:lstStyle/>
          <a:p>
            <a:pPr indent="0" marL="0">
              <a:buNone/>
            </a:pPr>
            <a:r>
              <a:rPr lang="de-DE" sz="1100" dirty="0">
                <a:solidFill>
                  <a:schemeClr val="accent6"/>
                </a:solidFill>
              </a:rPr>
              <a:t>Claude Code baut die Seite, stellt sie aber nicht ins Internet. Deshalb kombinieren wir: gebaut mit Claude Code, online bei Netlify.</a:t>
            </a:r>
            <a:endParaRPr lang="de-DE" sz="1100" dirty="0"/>
          </a:p>
        </p:txBody>
      </p:sp>
      <p:sp>
        <p:nvSpPr>
          <p:cNvPr id="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Unsere Wahl: Netlify</a:t>
            </a:r>
            <a:endParaRPr lang="en-US" sz="3400" dirty="0"/>
          </a:p>
        </p:txBody>
      </p:sp>
      <p:sp>
        <p:nvSpPr>
          <p:cNvPr id="3" name="Gründe Überschrift"/>
          <p:cNvSpPr txBox="1"/>
          <p:nvPr/>
        </p:nvSpPr>
        <p:spPr>
          <a:xfrm>
            <a:off x="548640" y="1371600"/>
            <a:ext cx="5303520" cy="411480"/>
          </a:xfrm>
          <a:prstGeom prst="rect">
            <a:avLst/>
          </a:prstGeom>
          <a:noFill/>
          <a:ln/>
        </p:spPr>
        <p:txBody>
          <a:bodyPr wrap="square" lIns="0" tIns="0" rIns="0" bIns="0" rtlCol="0" anchor="ctr"/>
          <a:lstStyle/>
          <a:p>
            <a:pPr indent="0" marL="0">
              <a:buNone/>
            </a:pPr>
            <a:r>
              <a:rPr lang="de-DE" sz="2000" b="1" dirty="0">
                <a:solidFill>
                  <a:schemeClr val="tx1"/>
                </a:solidFill>
              </a:rPr>
              <a:t>Warum Netlify?</a:t>
            </a:r>
            <a:endParaRPr lang="de-DE" sz="2000" dirty="0"/>
          </a:p>
        </p:txBody>
      </p:sp>
      <p:sp>
        <p:nvSpPr>
          <p:cNvPr id="4" name="Kostenlos starten Kreis"/>
          <p:cNvSpPr/>
          <p:nvPr/>
        </p:nvSpPr>
        <p:spPr>
          <a:xfrm>
            <a:off x="548640" y="1965960"/>
            <a:ext cx="502920" cy="502920"/>
          </a:xfrm>
          <a:prstGeom prst="ellipse">
            <a:avLst/>
          </a:prstGeom>
          <a:solidFill>
            <a:schemeClr val="accent1"/>
          </a:solidFill>
          <a:ln/>
        </p:spPr>
      </p:sp>
      <p:pic>
        <p:nvPicPr>
          <p:cNvPr id="5" name="Kostenlos starten Icon" descr="Kostenlos starten"/>
          <p:cNvPicPr>
            <a:picLocks noChangeAspect="1"/>
          </p:cNvPicPr>
          <p:nvPr/>
        </p:nvPicPr>
        <p:blipFill>
          <a:blip r:embed="rId5"/>
          <a:stretch>
            <a:fillRect/>
          </a:stretch>
        </p:blipFill>
        <p:spPr>
          <a:xfrm>
            <a:off x="674370" y="2091690"/>
            <a:ext cx="251460" cy="251460"/>
          </a:xfrm>
          <a:prstGeom prst="rect">
            <a:avLst/>
          </a:prstGeom>
        </p:spPr>
      </p:pic>
      <p:sp>
        <p:nvSpPr>
          <p:cNvPr id="6" name="Kostenlos starten Titel"/>
          <p:cNvSpPr txBox="1"/>
          <p:nvPr/>
        </p:nvSpPr>
        <p:spPr>
          <a:xfrm>
            <a:off x="1234440" y="1929384"/>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Kostenlos starten</a:t>
            </a:r>
            <a:endParaRPr lang="de-DE" sz="1600" dirty="0"/>
          </a:p>
        </p:txBody>
      </p:sp>
      <p:sp>
        <p:nvSpPr>
          <p:cNvPr id="7" name="Kostenlos starten Text"/>
          <p:cNvSpPr txBox="1"/>
          <p:nvPr/>
        </p:nvSpPr>
        <p:spPr>
          <a:xfrm>
            <a:off x="1234440" y="2249424"/>
            <a:ext cx="4617720" cy="457200"/>
          </a:xfrm>
          <a:prstGeom prst="rect">
            <a:avLst/>
          </a:prstGeom>
          <a:noFill/>
          <a:ln/>
        </p:spPr>
        <p:txBody>
          <a:bodyPr wrap="square" lIns="0" tIns="0" rIns="0" bIns="0" rtlCol="0" anchor="t"/>
          <a:lstStyle/>
          <a:p>
            <a:pPr indent="0" marL="0">
              <a:buNone/>
            </a:pPr>
            <a:r>
              <a:rPr lang="de-DE" sz="1300" dirty="0">
                <a:solidFill>
                  <a:schemeClr val="tx1"/>
                </a:solidFill>
              </a:rPr>
              <a:t>Free-Tarif für 0 € im Monat, 300 Credits inklusive</a:t>
            </a:r>
            <a:endParaRPr lang="de-DE" sz="1300" dirty="0"/>
          </a:p>
        </p:txBody>
      </p:sp>
      <p:sp>
        <p:nvSpPr>
          <p:cNvPr id="8" name="Volle Freiheit beim Design Kreis"/>
          <p:cNvSpPr/>
          <p:nvPr/>
        </p:nvSpPr>
        <p:spPr>
          <a:xfrm>
            <a:off x="548640" y="2752344"/>
            <a:ext cx="502920" cy="502920"/>
          </a:xfrm>
          <a:prstGeom prst="ellipse">
            <a:avLst/>
          </a:prstGeom>
          <a:solidFill>
            <a:schemeClr val="accent1"/>
          </a:solidFill>
          <a:ln/>
        </p:spPr>
      </p:sp>
      <p:pic>
        <p:nvPicPr>
          <p:cNvPr id="9" name="Volle Freiheit beim Design Icon" descr="Volle Freiheit beim Design"/>
          <p:cNvPicPr>
            <a:picLocks noChangeAspect="1"/>
          </p:cNvPicPr>
          <p:nvPr/>
        </p:nvPicPr>
        <p:blipFill>
          <a:blip r:embed="rId2"/>
          <a:stretch>
            <a:fillRect/>
          </a:stretch>
        </p:blipFill>
        <p:spPr>
          <a:xfrm>
            <a:off x="674370" y="2878074"/>
            <a:ext cx="251460" cy="251460"/>
          </a:xfrm>
          <a:prstGeom prst="rect">
            <a:avLst/>
          </a:prstGeom>
        </p:spPr>
      </p:pic>
      <p:sp>
        <p:nvSpPr>
          <p:cNvPr id="10" name="Volle Freiheit beim Design Titel"/>
          <p:cNvSpPr txBox="1"/>
          <p:nvPr/>
        </p:nvSpPr>
        <p:spPr>
          <a:xfrm>
            <a:off x="1234440" y="2715768"/>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Volle Freiheit beim Design</a:t>
            </a:r>
            <a:endParaRPr lang="de-DE" sz="1600" dirty="0"/>
          </a:p>
        </p:txBody>
      </p:sp>
      <p:sp>
        <p:nvSpPr>
          <p:cNvPr id="11" name="Volle Freiheit beim Design Text"/>
          <p:cNvSpPr txBox="1"/>
          <p:nvPr/>
        </p:nvSpPr>
        <p:spPr>
          <a:xfrm>
            <a:off x="1234440" y="3035808"/>
            <a:ext cx="4617720" cy="457200"/>
          </a:xfrm>
          <a:prstGeom prst="rect">
            <a:avLst/>
          </a:prstGeom>
          <a:noFill/>
          <a:ln/>
        </p:spPr>
        <p:txBody>
          <a:bodyPr wrap="square" lIns="0" tIns="0" rIns="0" bIns="0" rtlCol="0" anchor="t"/>
          <a:lstStyle/>
          <a:p>
            <a:pPr indent="0" marL="0">
              <a:buNone/>
            </a:pPr>
            <a:r>
              <a:rPr lang="de-DE" sz="1300" dirty="0">
                <a:solidFill>
                  <a:schemeClr val="tx1"/>
                </a:solidFill>
              </a:rPr>
              <a:t>Eigener Code statt Baukasten, gebaut mit Claude Code</a:t>
            </a:r>
            <a:endParaRPr lang="de-DE" sz="1300" dirty="0"/>
          </a:p>
        </p:txBody>
      </p:sp>
      <p:sp>
        <p:nvSpPr>
          <p:cNvPr id="12" name="Domain und HTTPS inklusive Kreis"/>
          <p:cNvSpPr/>
          <p:nvPr/>
        </p:nvSpPr>
        <p:spPr>
          <a:xfrm>
            <a:off x="548640" y="3538728"/>
            <a:ext cx="502920" cy="502920"/>
          </a:xfrm>
          <a:prstGeom prst="ellipse">
            <a:avLst/>
          </a:prstGeom>
          <a:solidFill>
            <a:schemeClr val="accent1"/>
          </a:solidFill>
          <a:ln/>
        </p:spPr>
      </p:sp>
      <p:pic>
        <p:nvPicPr>
          <p:cNvPr id="13" name="Domain und HTTPS inklusive Icon" descr="Domain und HTTPS inklusive"/>
          <p:cNvPicPr>
            <a:picLocks noChangeAspect="1"/>
          </p:cNvPicPr>
          <p:nvPr/>
        </p:nvPicPr>
        <p:blipFill>
          <a:blip r:embed="rId17"/>
          <a:stretch>
            <a:fillRect/>
          </a:stretch>
        </p:blipFill>
        <p:spPr>
          <a:xfrm>
            <a:off x="674370" y="3664458"/>
            <a:ext cx="251460" cy="251460"/>
          </a:xfrm>
          <a:prstGeom prst="rect">
            <a:avLst/>
          </a:prstGeom>
        </p:spPr>
      </p:pic>
      <p:sp>
        <p:nvSpPr>
          <p:cNvPr id="14" name="Domain und HTTPS inklusive Titel"/>
          <p:cNvSpPr txBox="1"/>
          <p:nvPr/>
        </p:nvSpPr>
        <p:spPr>
          <a:xfrm>
            <a:off x="1234440" y="3502152"/>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Domain und HTTPS inklusive</a:t>
            </a:r>
            <a:endParaRPr lang="de-DE" sz="1600" dirty="0"/>
          </a:p>
        </p:txBody>
      </p:sp>
      <p:sp>
        <p:nvSpPr>
          <p:cNvPr id="15" name="Domain und HTTPS inklusive Text"/>
          <p:cNvSpPr txBox="1"/>
          <p:nvPr/>
        </p:nvSpPr>
        <p:spPr>
          <a:xfrm>
            <a:off x="1234440" y="3822192"/>
            <a:ext cx="4617720" cy="457200"/>
          </a:xfrm>
          <a:prstGeom prst="rect">
            <a:avLst/>
          </a:prstGeom>
          <a:noFill/>
          <a:ln/>
        </p:spPr>
        <p:txBody>
          <a:bodyPr wrap="square" lIns="0" tIns="0" rIns="0" bIns="0" rtlCol="0" anchor="t"/>
          <a:lstStyle/>
          <a:p>
            <a:pPr indent="0" marL="0">
              <a:buNone/>
            </a:pPr>
            <a:r>
              <a:rPr lang="de-DE" sz="1300" dirty="0">
                <a:solidFill>
                  <a:schemeClr val="tx1"/>
                </a:solidFill>
              </a:rPr>
              <a:t>Gratis-Adresse lootlager.netlify.app, eigene Domain anschließbar</a:t>
            </a:r>
            <a:endParaRPr lang="de-DE" sz="1300" dirty="0"/>
          </a:p>
        </p:txBody>
      </p:sp>
      <p:sp>
        <p:nvSpPr>
          <p:cNvPr id="16" name="Schnell online Kreis"/>
          <p:cNvSpPr/>
          <p:nvPr/>
        </p:nvSpPr>
        <p:spPr>
          <a:xfrm>
            <a:off x="548640" y="4325112"/>
            <a:ext cx="502920" cy="502920"/>
          </a:xfrm>
          <a:prstGeom prst="ellipse">
            <a:avLst/>
          </a:prstGeom>
          <a:solidFill>
            <a:schemeClr val="accent1"/>
          </a:solidFill>
          <a:ln/>
        </p:spPr>
      </p:sp>
      <p:pic>
        <p:nvPicPr>
          <p:cNvPr id="17" name="Schnell online Icon" descr="Schnell online"/>
          <p:cNvPicPr>
            <a:picLocks noChangeAspect="1"/>
          </p:cNvPicPr>
          <p:nvPr/>
        </p:nvPicPr>
        <p:blipFill>
          <a:blip r:embed="rId3"/>
          <a:stretch>
            <a:fillRect/>
          </a:stretch>
        </p:blipFill>
        <p:spPr>
          <a:xfrm>
            <a:off x="674370" y="4450842"/>
            <a:ext cx="251460" cy="251460"/>
          </a:xfrm>
          <a:prstGeom prst="rect">
            <a:avLst/>
          </a:prstGeom>
        </p:spPr>
      </p:pic>
      <p:sp>
        <p:nvSpPr>
          <p:cNvPr id="18" name="Schnell online Titel"/>
          <p:cNvSpPr txBox="1"/>
          <p:nvPr/>
        </p:nvSpPr>
        <p:spPr>
          <a:xfrm>
            <a:off x="1234440" y="4288536"/>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Schnell online</a:t>
            </a:r>
            <a:endParaRPr lang="de-DE" sz="1600" dirty="0"/>
          </a:p>
        </p:txBody>
      </p:sp>
      <p:sp>
        <p:nvSpPr>
          <p:cNvPr id="19" name="Schnell online Text"/>
          <p:cNvSpPr txBox="1"/>
          <p:nvPr/>
        </p:nvSpPr>
        <p:spPr>
          <a:xfrm>
            <a:off x="1234440" y="4608576"/>
            <a:ext cx="4617720" cy="457200"/>
          </a:xfrm>
          <a:prstGeom prst="rect">
            <a:avLst/>
          </a:prstGeom>
          <a:noFill/>
          <a:ln/>
        </p:spPr>
        <p:txBody>
          <a:bodyPr wrap="square" lIns="0" tIns="0" rIns="0" bIns="0" rtlCol="0" anchor="t"/>
          <a:lstStyle/>
          <a:p>
            <a:pPr indent="0" marL="0">
              <a:buNone/>
            </a:pPr>
            <a:r>
              <a:rPr lang="de-DE" sz="1300" dirty="0">
                <a:solidFill>
                  <a:schemeClr val="tx1"/>
                </a:solidFill>
              </a:rPr>
              <a:t>Ordner hochladen oder GitHub verbinden, in Sekunden live</a:t>
            </a:r>
            <a:endParaRPr lang="de-DE" sz="1300" dirty="0"/>
          </a:p>
        </p:txBody>
      </p:sp>
      <p:sp>
        <p:nvSpPr>
          <p:cNvPr id="20" name="Nachteile Karte"/>
          <p:cNvSpPr/>
          <p:nvPr/>
        </p:nvSpPr>
        <p:spPr>
          <a:xfrm>
            <a:off x="548640" y="5138928"/>
            <a:ext cx="5303520" cy="850392"/>
          </a:xfrm>
          <a:prstGeom prst="roundRect">
            <a:avLst>
              <a:gd name="adj" fmla="val 9000"/>
            </a:avLst>
          </a:prstGeom>
          <a:solidFill>
            <a:schemeClr val="accent3">
              <a:alpha val="18000"/>
            </a:schemeClr>
          </a:solidFill>
          <a:ln/>
        </p:spPr>
      </p:sp>
      <p:sp>
        <p:nvSpPr>
          <p:cNvPr id="21" name="Nachteile Kreis"/>
          <p:cNvSpPr/>
          <p:nvPr/>
        </p:nvSpPr>
        <p:spPr>
          <a:xfrm>
            <a:off x="749808" y="5358384"/>
            <a:ext cx="411480" cy="411480"/>
          </a:xfrm>
          <a:prstGeom prst="ellipse">
            <a:avLst/>
          </a:prstGeom>
          <a:solidFill>
            <a:schemeClr val="accent3"/>
          </a:solidFill>
          <a:ln/>
        </p:spPr>
      </p:sp>
      <p:pic>
        <p:nvPicPr>
          <p:cNvPr id="22" name="Nachteile Icon" descr="Nachteile Icon"/>
          <p:cNvPicPr>
            <a:picLocks noChangeAspect="1"/>
          </p:cNvPicPr>
          <p:nvPr/>
        </p:nvPicPr>
        <p:blipFill>
          <a:blip r:embed="rId6"/>
          <a:stretch>
            <a:fillRect/>
          </a:stretch>
        </p:blipFill>
        <p:spPr>
          <a:xfrm>
            <a:off x="852678" y="5461254"/>
            <a:ext cx="205740" cy="205740"/>
          </a:xfrm>
          <a:prstGeom prst="rect">
            <a:avLst/>
          </a:prstGeom>
        </p:spPr>
      </p:pic>
      <p:sp>
        <p:nvSpPr>
          <p:cNvPr id="23" name="Nachteile Text"/>
          <p:cNvSpPr txBox="1"/>
          <p:nvPr/>
        </p:nvSpPr>
        <p:spPr>
          <a:xfrm>
            <a:off x="1325880" y="5138928"/>
            <a:ext cx="4389120" cy="850392"/>
          </a:xfrm>
          <a:prstGeom prst="rect">
            <a:avLst/>
          </a:prstGeom>
          <a:noFill/>
          <a:ln/>
        </p:spPr>
        <p:txBody>
          <a:bodyPr wrap="square" lIns="0" tIns="0" rIns="0" bIns="0" rtlCol="0" anchor="ctr"/>
          <a:lstStyle/>
          <a:p>
            <a:pPr indent="0" marL="0">
              <a:buNone/>
            </a:pPr>
            <a:r>
              <a:rPr lang="de-DE" sz="1200" b="1" dirty="0">
                <a:solidFill>
                  <a:schemeClr val="tx1"/>
                </a:solidFill>
              </a:rPr>
              <a:t>Nachteile: </a:t>
            </a:r>
            <a:r>
              <a:rPr lang="de-DE" sz="1200" dirty="0">
                <a:solidFill>
                  <a:schemeClr val="tx1"/>
                </a:solidFill>
              </a:rPr>
              <a:t>Kein fertiges Shopsystem: Warenkorb und Zahlung bauen wir selbst ein. Die Server stehen in den USA. Rechtstexte schreiben wir selbst.</a:t>
            </a:r>
            <a:endParaRPr lang="de-DE" sz="1200" dirty="0"/>
          </a:p>
        </p:txBody>
      </p:sp>
      <p:sp>
        <p:nvSpPr>
          <p:cNvPr id="25" name="Browser Rahmen"/>
          <p:cNvSpPr/>
          <p:nvPr/>
        </p:nvSpPr>
        <p:spPr>
          <a:xfrm>
            <a:off x="6537960" y="1371600"/>
            <a:ext cx="5102352" cy="4631150"/>
          </a:xfrm>
          <a:prstGeom prst="roundRect">
            <a:avLst>
              <a:gd name="adj" fmla="val 3000"/>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sp>
        <p:nvSpPr>
          <p:cNvPr id="26" name="Browser Punkt 1"/>
          <p:cNvSpPr/>
          <p:nvPr/>
        </p:nvSpPr>
        <p:spPr>
          <a:xfrm>
            <a:off x="6665976" y="1499616"/>
            <a:ext cx="82296" cy="82296"/>
          </a:xfrm>
          <a:prstGeom prst="ellipse">
            <a:avLst/>
          </a:prstGeom>
          <a:solidFill>
            <a:srgbClr val="F87171"/>
          </a:solidFill>
          <a:ln/>
        </p:spPr>
      </p:sp>
      <p:sp>
        <p:nvSpPr>
          <p:cNvPr id="27" name="Browser Punkt 2"/>
          <p:cNvSpPr/>
          <p:nvPr/>
        </p:nvSpPr>
        <p:spPr>
          <a:xfrm>
            <a:off x="6803136" y="1499616"/>
            <a:ext cx="82296" cy="82296"/>
          </a:xfrm>
          <a:prstGeom prst="ellipse">
            <a:avLst/>
          </a:prstGeom>
          <a:solidFill>
            <a:srgbClr val="FBBF24"/>
          </a:solidFill>
          <a:ln/>
        </p:spPr>
      </p:sp>
      <p:sp>
        <p:nvSpPr>
          <p:cNvPr id="28" name="Browser Punkt 3"/>
          <p:cNvSpPr/>
          <p:nvPr/>
        </p:nvSpPr>
        <p:spPr>
          <a:xfrm>
            <a:off x="6940296" y="1499616"/>
            <a:ext cx="82296" cy="82296"/>
          </a:xfrm>
          <a:prstGeom prst="ellipse">
            <a:avLst/>
          </a:prstGeom>
          <a:solidFill>
            <a:srgbClr val="34D399"/>
          </a:solidFill>
          <a:ln/>
        </p:spPr>
      </p:sp>
      <p:sp>
        <p:nvSpPr>
          <p:cNvPr id="29" name="Adresszeile"/>
          <p:cNvSpPr/>
          <p:nvPr/>
        </p:nvSpPr>
        <p:spPr>
          <a:xfrm>
            <a:off x="7214616" y="1440180"/>
            <a:ext cx="2377440" cy="201168"/>
          </a:xfrm>
          <a:prstGeom prst="roundRect">
            <a:avLst>
              <a:gd name="adj" fmla="val 50000"/>
            </a:avLst>
          </a:prstGeom>
          <a:solidFill>
            <a:srgbClr val="F3F4F6"/>
          </a:solidFill>
          <a:ln/>
        </p:spPr>
      </p:sp>
      <p:sp>
        <p:nvSpPr>
          <p:cNvPr id="30" name="Adresse"/>
          <p:cNvSpPr txBox="1"/>
          <p:nvPr/>
        </p:nvSpPr>
        <p:spPr>
          <a:xfrm>
            <a:off x="7214616" y="1440180"/>
            <a:ext cx="2377440" cy="201168"/>
          </a:xfrm>
          <a:prstGeom prst="rect">
            <a:avLst/>
          </a:prstGeom>
          <a:noFill/>
          <a:ln/>
        </p:spPr>
        <p:txBody>
          <a:bodyPr wrap="square" lIns="109728" tIns="0" rIns="109728" bIns="0" rtlCol="0" anchor="ctr"/>
          <a:lstStyle/>
          <a:p>
            <a:pPr indent="0" marL="0">
              <a:buNone/>
            </a:pPr>
            <a:r>
              <a:rPr lang="de-DE" sz="800" dirty="0">
                <a:solidFill>
                  <a:schemeClr val="accent6"/>
                </a:solidFill>
              </a:rPr>
              <a:t>lootlager.de</a:t>
            </a:r>
            <a:endParaRPr lang="de-DE" sz="800" dirty="0"/>
          </a:p>
        </p:txBody>
      </p:sp>
      <p:sp>
        <p:nvSpPr>
          <p:cNvPr id="66" name="Startseite Hinweis"/>
          <p:cNvSpPr txBox="1"/>
          <p:nvPr/>
        </p:nvSpPr>
        <p:spPr>
          <a:xfrm>
            <a:off x="9738360" y="1440180"/>
            <a:ext cx="1773936" cy="201168"/>
          </a:xfrm>
          <a:prstGeom prst="rect">
            <a:avLst/>
          </a:prstGeom>
          <a:noFill/>
          <a:ln/>
        </p:spPr>
        <p:txBody>
          <a:bodyPr wrap="square" lIns="0" tIns="0" rIns="0" bIns="0" rtlCol="0" anchor="ctr"/>
          <a:lstStyle/>
          <a:p>
            <a:pPr algn="r" indent="0" marL="0">
              <a:buNone/>
            </a:pPr>
            <a:r>
              <a:rPr lang="de-DE" sz="900" b="1" dirty="0">
                <a:solidFill>
                  <a:schemeClr val="accent6"/>
                </a:solidFill>
              </a:rPr>
              <a:t>Unsere Startseite</a:t>
            </a:r>
          </a:p>
        </p:txBody>
      </p:sp>
      <p:pic>
        <p:nvPicPr>
          <p:cNvPr id="67" name="Startseite" descr="Startseite von LootLager mit Logo, Slogan und fünf Produkten"/>
          <p:cNvPicPr>
            <a:picLocks noChangeAspect="1"/>
          </p:cNvPicPr>
          <p:nvPr/>
        </p:nvPicPr>
        <p:blipFill>
          <a:blip r:embed="rId18"/>
          <a:stretch>
            <a:fillRect/>
          </a:stretch>
        </p:blipFill>
        <p:spPr>
          <a:xfrm>
            <a:off x="6665976" y="1709928"/>
            <a:ext cx="4846320" cy="4164806"/>
          </a:xfrm>
          <a:prstGeom prst="rect">
            <a:avLst/>
          </a:prstGeom>
        </p:spPr>
      </p:pic>
      <p:sp>
        <p:nvSpPr>
          <p:cNvPr id="6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Fazit und Ausblick</a:t>
            </a:r>
            <a:endParaRPr lang="en-US" sz="3400" dirty="0"/>
          </a:p>
        </p:txBody>
      </p:sp>
      <p:sp>
        <p:nvSpPr>
          <p:cNvPr id="3" name="Fazit Karte"/>
          <p:cNvSpPr/>
          <p:nvPr/>
        </p:nvSpPr>
        <p:spPr>
          <a:xfrm>
            <a:off x="548640" y="1463040"/>
            <a:ext cx="5120640" cy="3977640"/>
          </a:xfrm>
          <a:prstGeom prst="roundRect">
            <a:avLst>
              <a:gd name="adj" fmla="val 4000"/>
            </a:avLst>
          </a:prstGeom>
          <a:solidFill>
            <a:schemeClr val="bg2"/>
          </a:solidFill>
          <a:ln/>
        </p:spPr>
      </p:sp>
      <p:sp>
        <p:nvSpPr>
          <p:cNvPr id="4" name="Fazit Überschrift"/>
          <p:cNvSpPr txBox="1"/>
          <p:nvPr/>
        </p:nvSpPr>
        <p:spPr>
          <a:xfrm>
            <a:off x="822960" y="1645920"/>
            <a:ext cx="4572000" cy="411480"/>
          </a:xfrm>
          <a:prstGeom prst="rect">
            <a:avLst/>
          </a:prstGeom>
          <a:noFill/>
          <a:ln/>
        </p:spPr>
        <p:txBody>
          <a:bodyPr wrap="square" lIns="0" tIns="0" rIns="0" bIns="0" rtlCol="0" anchor="ctr"/>
          <a:lstStyle/>
          <a:p>
            <a:pPr indent="0" marL="0">
              <a:buNone/>
            </a:pPr>
            <a:r>
              <a:rPr lang="de-DE" sz="2000" b="1" dirty="0">
                <a:solidFill>
                  <a:schemeClr val="tx1"/>
                </a:solidFill>
              </a:rPr>
              <a:t>Das steht fest</a:t>
            </a:r>
            <a:endParaRPr lang="de-DE" sz="2000" dirty="0"/>
          </a:p>
        </p:txBody>
      </p:sp>
      <p:sp>
        <p:nvSpPr>
          <p:cNvPr id="5" name="Firma Kreis"/>
          <p:cNvSpPr/>
          <p:nvPr/>
        </p:nvSpPr>
        <p:spPr>
          <a:xfrm>
            <a:off x="822960" y="2176272"/>
            <a:ext cx="402336" cy="402336"/>
          </a:xfrm>
          <a:prstGeom prst="ellipse">
            <a:avLst/>
          </a:prstGeom>
          <a:solidFill>
            <a:schemeClr val="accent1"/>
          </a:solidFill>
          <a:ln/>
        </p:spPr>
      </p:sp>
      <p:pic>
        <p:nvPicPr>
          <p:cNvPr id="6" name="Firma Icon" descr="Firma Icon"/>
          <p:cNvPicPr>
            <a:picLocks noChangeAspect="1"/>
          </p:cNvPicPr>
          <p:nvPr/>
        </p:nvPicPr>
        <p:blipFill>
          <a:blip r:embed="rId2"/>
          <a:stretch>
            <a:fillRect/>
          </a:stretch>
        </p:blipFill>
        <p:spPr>
          <a:xfrm>
            <a:off x="923544" y="2276856"/>
            <a:ext cx="201168" cy="201168"/>
          </a:xfrm>
          <a:prstGeom prst="rect">
            <a:avLst/>
          </a:prstGeom>
        </p:spPr>
      </p:pic>
      <p:sp>
        <p:nvSpPr>
          <p:cNvPr id="7" name="FIRMA Label"/>
          <p:cNvSpPr txBox="1"/>
          <p:nvPr/>
        </p:nvSpPr>
        <p:spPr>
          <a:xfrm>
            <a:off x="1463040" y="21396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FIRMA</a:t>
            </a:r>
            <a:endParaRPr lang="de-DE" sz="1100" dirty="0"/>
          </a:p>
        </p:txBody>
      </p:sp>
      <p:sp>
        <p:nvSpPr>
          <p:cNvPr id="8" name="FIRMA Wert"/>
          <p:cNvSpPr txBox="1"/>
          <p:nvPr/>
        </p:nvSpPr>
        <p:spPr>
          <a:xfrm>
            <a:off x="1463040" y="235000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UG (haftungsbeschränkt)</a:t>
            </a:r>
            <a:endParaRPr lang="de-DE" sz="1500" dirty="0"/>
          </a:p>
        </p:txBody>
      </p:sp>
      <p:sp>
        <p:nvSpPr>
          <p:cNvPr id="9" name="Rechtsform Kreis"/>
          <p:cNvSpPr/>
          <p:nvPr/>
        </p:nvSpPr>
        <p:spPr>
          <a:xfrm>
            <a:off x="822960" y="2702052"/>
            <a:ext cx="402336" cy="402336"/>
          </a:xfrm>
          <a:prstGeom prst="ellipse">
            <a:avLst/>
          </a:prstGeom>
          <a:solidFill>
            <a:schemeClr val="accent1"/>
          </a:solidFill>
          <a:ln/>
        </p:spPr>
      </p:sp>
      <p:pic>
        <p:nvPicPr>
          <p:cNvPr id="10" name="Rechtsform Icon" descr="Rechtsform Icon"/>
          <p:cNvPicPr>
            <a:picLocks noChangeAspect="1"/>
          </p:cNvPicPr>
          <p:nvPr/>
        </p:nvPicPr>
        <p:blipFill>
          <a:blip r:embed="rId3"/>
          <a:stretch>
            <a:fillRect/>
          </a:stretch>
        </p:blipFill>
        <p:spPr>
          <a:xfrm>
            <a:off x="923544" y="2802636"/>
            <a:ext cx="201168" cy="201168"/>
          </a:xfrm>
          <a:prstGeom prst="rect">
            <a:avLst/>
          </a:prstGeom>
        </p:spPr>
      </p:pic>
      <p:sp>
        <p:nvSpPr>
          <p:cNvPr id="11" name="RECHTSFORM Label"/>
          <p:cNvSpPr txBox="1"/>
          <p:nvPr/>
        </p:nvSpPr>
        <p:spPr>
          <a:xfrm>
            <a:off x="1463040" y="266547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RECHTSFORM</a:t>
            </a:r>
            <a:endParaRPr lang="de-DE" sz="1100" dirty="0"/>
          </a:p>
        </p:txBody>
      </p:sp>
      <p:sp>
        <p:nvSpPr>
          <p:cNvPr id="12" name="RECHTSFORM Wert"/>
          <p:cNvSpPr txBox="1"/>
          <p:nvPr/>
        </p:nvSpPr>
        <p:spPr>
          <a:xfrm>
            <a:off x="1463040" y="287578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UG, Stammkapital 1.000 €</a:t>
            </a:r>
            <a:endParaRPr lang="de-DE" sz="1500" dirty="0"/>
          </a:p>
        </p:txBody>
      </p:sp>
      <p:sp>
        <p:nvSpPr>
          <p:cNvPr id="13" name="Marke Kreis"/>
          <p:cNvSpPr/>
          <p:nvPr/>
        </p:nvSpPr>
        <p:spPr>
          <a:xfrm>
            <a:off x="822960" y="3227832"/>
            <a:ext cx="402336" cy="402336"/>
          </a:xfrm>
          <a:prstGeom prst="ellipse">
            <a:avLst/>
          </a:prstGeom>
          <a:solidFill>
            <a:schemeClr val="accent1"/>
          </a:solidFill>
          <a:ln/>
        </p:spPr>
      </p:sp>
      <p:pic>
        <p:nvPicPr>
          <p:cNvPr id="14" name="Marke Icon" descr="Marke Icon"/>
          <p:cNvPicPr>
            <a:picLocks noChangeAspect="1"/>
          </p:cNvPicPr>
          <p:nvPr/>
        </p:nvPicPr>
        <p:blipFill>
          <a:blip r:embed="rId4"/>
          <a:stretch>
            <a:fillRect/>
          </a:stretch>
        </p:blipFill>
        <p:spPr>
          <a:xfrm>
            <a:off x="923544" y="3328416"/>
            <a:ext cx="201168" cy="201168"/>
          </a:xfrm>
          <a:prstGeom prst="rect">
            <a:avLst/>
          </a:prstGeom>
        </p:spPr>
      </p:pic>
      <p:sp>
        <p:nvSpPr>
          <p:cNvPr id="15" name="MARKE Label"/>
          <p:cNvSpPr txBox="1"/>
          <p:nvPr/>
        </p:nvSpPr>
        <p:spPr>
          <a:xfrm>
            <a:off x="1463040" y="319125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MARKE</a:t>
            </a:r>
            <a:endParaRPr lang="de-DE" sz="1100" dirty="0"/>
          </a:p>
        </p:txBody>
      </p:sp>
      <p:sp>
        <p:nvSpPr>
          <p:cNvPr id="16" name="MARKE Wert"/>
          <p:cNvSpPr txBox="1"/>
          <p:nvPr/>
        </p:nvSpPr>
        <p:spPr>
          <a:xfrm>
            <a:off x="1463040" y="340156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 „Level up dein Setup.“</a:t>
            </a:r>
            <a:endParaRPr lang="de-DE" sz="1500" dirty="0"/>
          </a:p>
        </p:txBody>
      </p:sp>
      <p:sp>
        <p:nvSpPr>
          <p:cNvPr id="17" name="Homepage Kreis"/>
          <p:cNvSpPr/>
          <p:nvPr/>
        </p:nvSpPr>
        <p:spPr>
          <a:xfrm>
            <a:off x="822960" y="4279392"/>
            <a:ext cx="402336" cy="402336"/>
          </a:xfrm>
          <a:prstGeom prst="ellipse">
            <a:avLst/>
          </a:prstGeom>
          <a:solidFill>
            <a:schemeClr val="accent1"/>
          </a:solidFill>
          <a:ln/>
        </p:spPr>
      </p:sp>
      <p:pic>
        <p:nvPicPr>
          <p:cNvPr id="18" name="Homepage Icon" descr="Shopsystem Icon"/>
          <p:cNvPicPr>
            <a:picLocks noChangeAspect="1"/>
          </p:cNvPicPr>
          <p:nvPr/>
        </p:nvPicPr>
        <p:blipFill>
          <a:blip r:embed="rId5"/>
          <a:stretch>
            <a:fillRect/>
          </a:stretch>
        </p:blipFill>
        <p:spPr>
          <a:xfrm>
            <a:off x="923544" y="4379976"/>
            <a:ext cx="201168" cy="201168"/>
          </a:xfrm>
          <a:prstGeom prst="rect">
            <a:avLst/>
          </a:prstGeom>
        </p:spPr>
      </p:pic>
      <p:sp>
        <p:nvSpPr>
          <p:cNvPr id="19" name="HOMEPAGE Label"/>
          <p:cNvSpPr txBox="1"/>
          <p:nvPr/>
        </p:nvSpPr>
        <p:spPr>
          <a:xfrm>
            <a:off x="1463040" y="424281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HOMEPAGE</a:t>
            </a:r>
            <a:endParaRPr lang="de-DE" sz="1100" dirty="0"/>
          </a:p>
        </p:txBody>
      </p:sp>
      <p:sp>
        <p:nvSpPr>
          <p:cNvPr id="20" name="HOMEPAGE Wert"/>
          <p:cNvSpPr txBox="1"/>
          <p:nvPr/>
        </p:nvSpPr>
        <p:spPr>
          <a:xfrm>
            <a:off x="1463040" y="445312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Netlify, gebaut mit Claude Code</a:t>
            </a:r>
            <a:endParaRPr lang="de-DE" sz="1500" dirty="0"/>
          </a:p>
        </p:txBody>
      </p:sp>
      <p:sp>
        <p:nvSpPr>
          <p:cNvPr id="21" name="Logo Kreis"/>
          <p:cNvSpPr/>
          <p:nvPr/>
        </p:nvSpPr>
        <p:spPr>
          <a:xfrm>
            <a:off x="822960" y="4805172"/>
            <a:ext cx="402336" cy="402336"/>
          </a:xfrm>
          <a:prstGeom prst="ellipse">
            <a:avLst/>
          </a:prstGeom>
          <a:solidFill>
            <a:schemeClr val="accent1"/>
          </a:solidFill>
          <a:ln/>
        </p:spPr>
      </p:sp>
      <p:pic>
        <p:nvPicPr>
          <p:cNvPr id="22" name="Logo Icon" descr="Logo Icon"/>
          <p:cNvPicPr>
            <a:picLocks noChangeAspect="1"/>
          </p:cNvPicPr>
          <p:nvPr/>
        </p:nvPicPr>
        <p:blipFill>
          <a:blip r:embed="rId6"/>
          <a:stretch>
            <a:fillRect/>
          </a:stretch>
        </p:blipFill>
        <p:spPr>
          <a:xfrm>
            <a:off x="923544" y="4905756"/>
            <a:ext cx="201168" cy="201168"/>
          </a:xfrm>
          <a:prstGeom prst="rect">
            <a:avLst/>
          </a:prstGeom>
        </p:spPr>
      </p:pic>
      <p:sp>
        <p:nvSpPr>
          <p:cNvPr id="23" name="LOGO Label"/>
          <p:cNvSpPr txBox="1"/>
          <p:nvPr/>
        </p:nvSpPr>
        <p:spPr>
          <a:xfrm>
            <a:off x="1463040" y="47685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LOGO UND BILDER</a:t>
            </a:r>
            <a:endParaRPr lang="de-DE" sz="1100" dirty="0"/>
          </a:p>
        </p:txBody>
      </p:sp>
      <p:sp>
        <p:nvSpPr>
          <p:cNvPr id="24" name="LOGO Wert"/>
          <p:cNvSpPr txBox="1"/>
          <p:nvPr/>
        </p:nvSpPr>
        <p:spPr>
          <a:xfrm>
            <a:off x="1463040" y="497890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mit KI erstellt (ChatGPT und Gemini)</a:t>
            </a:r>
            <a:endParaRPr lang="de-DE" sz="1500" dirty="0"/>
          </a:p>
        </p:txBody>
      </p:sp>
      <p:sp>
        <p:nvSpPr>
          <p:cNvPr id="25" name="Schritte Überschrift"/>
          <p:cNvSpPr txBox="1"/>
          <p:nvPr/>
        </p:nvSpPr>
        <p:spPr>
          <a:xfrm>
            <a:off x="6172200" y="1645920"/>
            <a:ext cx="5468112" cy="411480"/>
          </a:xfrm>
          <a:prstGeom prst="rect">
            <a:avLst/>
          </a:prstGeom>
          <a:noFill/>
          <a:ln/>
        </p:spPr>
        <p:txBody>
          <a:bodyPr wrap="square" lIns="0" tIns="0" rIns="0" bIns="0" rtlCol="0" anchor="ctr"/>
          <a:lstStyle/>
          <a:p>
            <a:pPr indent="0" marL="0">
              <a:buNone/>
            </a:pPr>
            <a:r>
              <a:rPr lang="de-DE" sz="2000" b="1" dirty="0">
                <a:solidFill>
                  <a:schemeClr val="tx1"/>
                </a:solidFill>
              </a:rPr>
              <a:t>Unsere nächsten Schritte</a:t>
            </a:r>
            <a:endParaRPr lang="de-DE" sz="2000" dirty="0"/>
          </a:p>
        </p:txBody>
      </p:sp>
      <p:sp>
        <p:nvSpPr>
          <p:cNvPr id="26" name="Schritt 1 Kreis"/>
          <p:cNvSpPr/>
          <p:nvPr/>
        </p:nvSpPr>
        <p:spPr>
          <a:xfrm>
            <a:off x="6172200" y="2240280"/>
            <a:ext cx="457200" cy="457200"/>
          </a:xfrm>
          <a:prstGeom prst="ellipse">
            <a:avLst/>
          </a:prstGeom>
          <a:solidFill>
            <a:schemeClr val="accent1"/>
          </a:solidFill>
          <a:ln/>
        </p:spPr>
      </p:sp>
      <p:sp>
        <p:nvSpPr>
          <p:cNvPr id="27" name="Schritt 1 Nummer"/>
          <p:cNvSpPr txBox="1"/>
          <p:nvPr/>
        </p:nvSpPr>
        <p:spPr>
          <a:xfrm>
            <a:off x="6172200" y="2240280"/>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1</a:t>
            </a:r>
            <a:endParaRPr lang="de-DE" sz="1600" dirty="0"/>
          </a:p>
        </p:txBody>
      </p:sp>
      <p:sp>
        <p:nvSpPr>
          <p:cNvPr id="28" name="Schritt 1 Titel"/>
          <p:cNvSpPr txBox="1"/>
          <p:nvPr/>
        </p:nvSpPr>
        <p:spPr>
          <a:xfrm>
            <a:off x="6812280" y="2194560"/>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Gründen</a:t>
            </a:r>
            <a:endParaRPr lang="de-DE" sz="1600" dirty="0"/>
          </a:p>
        </p:txBody>
      </p:sp>
      <p:sp>
        <p:nvSpPr>
          <p:cNvPr id="29" name="Schritt 1 Text"/>
          <p:cNvSpPr txBox="1"/>
          <p:nvPr/>
        </p:nvSpPr>
        <p:spPr>
          <a:xfrm>
            <a:off x="6812280" y="2496312"/>
            <a:ext cx="4828032" cy="384048"/>
          </a:xfrm>
          <a:prstGeom prst="rect">
            <a:avLst/>
          </a:prstGeom>
          <a:noFill/>
          <a:ln/>
        </p:spPr>
        <p:txBody>
          <a:bodyPr wrap="square" lIns="0" tIns="0" rIns="0" bIns="0" rtlCol="0" anchor="t"/>
          <a:lstStyle/>
          <a:p>
            <a:pPr indent="0" marL="0">
              <a:buNone/>
            </a:pPr>
            <a:r>
              <a:rPr lang="de-DE" sz="1250" dirty="0">
                <a:solidFill>
                  <a:schemeClr val="tx1"/>
                </a:solidFill>
              </a:rPr>
              <a:t>Gesellschaftsvertrag beim Notar, 1.000 € Stammkapital einzahlen</a:t>
            </a:r>
            <a:endParaRPr lang="de-DE" sz="1250" dirty="0"/>
          </a:p>
        </p:txBody>
      </p:sp>
      <p:sp>
        <p:nvSpPr>
          <p:cNvPr id="30" name="Schritt 2 Kreis"/>
          <p:cNvSpPr/>
          <p:nvPr/>
        </p:nvSpPr>
        <p:spPr>
          <a:xfrm>
            <a:off x="6172200" y="2898648"/>
            <a:ext cx="457200" cy="457200"/>
          </a:xfrm>
          <a:prstGeom prst="ellipse">
            <a:avLst/>
          </a:prstGeom>
          <a:solidFill>
            <a:schemeClr val="accent1"/>
          </a:solidFill>
          <a:ln/>
        </p:spPr>
      </p:sp>
      <p:sp>
        <p:nvSpPr>
          <p:cNvPr id="31" name="Schritt 2 Nummer"/>
          <p:cNvSpPr txBox="1"/>
          <p:nvPr/>
        </p:nvSpPr>
        <p:spPr>
          <a:xfrm>
            <a:off x="6172200" y="2898648"/>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2</a:t>
            </a:r>
            <a:endParaRPr lang="de-DE" sz="1600" dirty="0"/>
          </a:p>
        </p:txBody>
      </p:sp>
      <p:sp>
        <p:nvSpPr>
          <p:cNvPr id="32" name="Schritt 2 Titel"/>
          <p:cNvSpPr txBox="1"/>
          <p:nvPr/>
        </p:nvSpPr>
        <p:spPr>
          <a:xfrm>
            <a:off x="6812280" y="2852928"/>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Anmelden</a:t>
            </a:r>
            <a:endParaRPr lang="de-DE" sz="1600" dirty="0"/>
          </a:p>
        </p:txBody>
      </p:sp>
      <p:sp>
        <p:nvSpPr>
          <p:cNvPr id="33" name="Schritt 2 Text"/>
          <p:cNvSpPr txBox="1"/>
          <p:nvPr/>
        </p:nvSpPr>
        <p:spPr>
          <a:xfrm>
            <a:off x="6812280" y="3154680"/>
            <a:ext cx="4828032" cy="384048"/>
          </a:xfrm>
          <a:prstGeom prst="rect">
            <a:avLst/>
          </a:prstGeom>
          <a:noFill/>
          <a:ln/>
        </p:spPr>
        <p:txBody>
          <a:bodyPr wrap="square" lIns="0" tIns="0" rIns="0" bIns="0" rtlCol="0" anchor="t"/>
          <a:lstStyle/>
          <a:p>
            <a:pPr indent="0" marL="0">
              <a:buNone/>
            </a:pPr>
            <a:r>
              <a:rPr lang="de-DE" sz="1250" dirty="0">
                <a:solidFill>
                  <a:schemeClr val="tx1"/>
                </a:solidFill>
              </a:rPr>
              <a:t>Handelsregister, Gewerbeamt und Finanzamt</a:t>
            </a:r>
            <a:endParaRPr lang="de-DE" sz="1250" dirty="0"/>
          </a:p>
        </p:txBody>
      </p:sp>
      <p:sp>
        <p:nvSpPr>
          <p:cNvPr id="34" name="Schritt 3 Kreis"/>
          <p:cNvSpPr/>
          <p:nvPr/>
        </p:nvSpPr>
        <p:spPr>
          <a:xfrm>
            <a:off x="6172200" y="3557016"/>
            <a:ext cx="457200" cy="457200"/>
          </a:xfrm>
          <a:prstGeom prst="ellipse">
            <a:avLst/>
          </a:prstGeom>
          <a:solidFill>
            <a:schemeClr val="accent1"/>
          </a:solidFill>
          <a:ln/>
        </p:spPr>
      </p:sp>
      <p:sp>
        <p:nvSpPr>
          <p:cNvPr id="35" name="Schritt 3 Nummer"/>
          <p:cNvSpPr txBox="1"/>
          <p:nvPr/>
        </p:nvSpPr>
        <p:spPr>
          <a:xfrm>
            <a:off x="6172200" y="3557016"/>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3</a:t>
            </a:r>
            <a:endParaRPr lang="de-DE" sz="1600" dirty="0"/>
          </a:p>
        </p:txBody>
      </p:sp>
      <p:sp>
        <p:nvSpPr>
          <p:cNvPr id="36" name="Schritt 3 Titel"/>
          <p:cNvSpPr txBox="1"/>
          <p:nvPr/>
        </p:nvSpPr>
        <p:spPr>
          <a:xfrm>
            <a:off x="6812280" y="3511296"/>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Namen sichern</a:t>
            </a:r>
            <a:endParaRPr lang="de-DE" sz="1600" dirty="0"/>
          </a:p>
        </p:txBody>
      </p:sp>
      <p:sp>
        <p:nvSpPr>
          <p:cNvPr id="37" name="Schritt 3 Text"/>
          <p:cNvSpPr txBox="1"/>
          <p:nvPr/>
        </p:nvSpPr>
        <p:spPr>
          <a:xfrm>
            <a:off x="6812280" y="3813048"/>
            <a:ext cx="4828032" cy="384048"/>
          </a:xfrm>
          <a:prstGeom prst="rect">
            <a:avLst/>
          </a:prstGeom>
          <a:noFill/>
          <a:ln/>
        </p:spPr>
        <p:txBody>
          <a:bodyPr wrap="square" lIns="0" tIns="0" rIns="0" bIns="0" rtlCol="0" anchor="t"/>
          <a:lstStyle/>
          <a:p>
            <a:pPr indent="0" marL="0">
              <a:buNone/>
            </a:pPr>
            <a:r>
              <a:rPr lang="de-DE" sz="1250" dirty="0">
                <a:solidFill>
                  <a:schemeClr val="tx1"/>
                </a:solidFill>
              </a:rPr>
              <a:t>Domain lootlager.de mit Netlify verbinden, Marke beim DPMA anmelden</a:t>
            </a:r>
            <a:endParaRPr lang="de-DE" sz="1250" dirty="0"/>
          </a:p>
        </p:txBody>
      </p:sp>
      <p:sp>
        <p:nvSpPr>
          <p:cNvPr id="38" name="Schritt 4 Kreis"/>
          <p:cNvSpPr/>
          <p:nvPr/>
        </p:nvSpPr>
        <p:spPr>
          <a:xfrm>
            <a:off x="6172200" y="4215384"/>
            <a:ext cx="457200" cy="457200"/>
          </a:xfrm>
          <a:prstGeom prst="ellipse">
            <a:avLst/>
          </a:prstGeom>
          <a:solidFill>
            <a:schemeClr val="accent1"/>
          </a:solidFill>
          <a:ln/>
        </p:spPr>
      </p:sp>
      <p:sp>
        <p:nvSpPr>
          <p:cNvPr id="39" name="Schritt 4 Nummer"/>
          <p:cNvSpPr txBox="1"/>
          <p:nvPr/>
        </p:nvSpPr>
        <p:spPr>
          <a:xfrm>
            <a:off x="6172200" y="4215384"/>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4</a:t>
            </a:r>
            <a:endParaRPr lang="de-DE" sz="1600" dirty="0"/>
          </a:p>
        </p:txBody>
      </p:sp>
      <p:sp>
        <p:nvSpPr>
          <p:cNvPr id="40" name="Schritt 4 Titel"/>
          <p:cNvSpPr txBox="1"/>
          <p:nvPr/>
        </p:nvSpPr>
        <p:spPr>
          <a:xfrm>
            <a:off x="6812280" y="4169664"/>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Shop fertig machen</a:t>
            </a:r>
            <a:endParaRPr lang="de-DE" sz="1600" dirty="0"/>
          </a:p>
        </p:txBody>
      </p:sp>
      <p:sp>
        <p:nvSpPr>
          <p:cNvPr id="41" name="Schritt 4 Text"/>
          <p:cNvSpPr txBox="1"/>
          <p:nvPr/>
        </p:nvSpPr>
        <p:spPr>
          <a:xfrm>
            <a:off x="6812280" y="4471416"/>
            <a:ext cx="4828032" cy="384048"/>
          </a:xfrm>
          <a:prstGeom prst="rect">
            <a:avLst/>
          </a:prstGeom>
          <a:noFill/>
          <a:ln/>
        </p:spPr>
        <p:txBody>
          <a:bodyPr wrap="square" lIns="0" tIns="0" rIns="0" bIns="0" rtlCol="0" anchor="t"/>
          <a:lstStyle/>
          <a:p>
            <a:pPr indent="0" marL="0">
              <a:buNone/>
            </a:pPr>
            <a:r>
              <a:rPr lang="de-DE" sz="1250" dirty="0">
                <a:solidFill>
                  <a:schemeClr val="tx1"/>
                </a:solidFill>
              </a:rPr>
              <a:t>Zahlung per PayPal oder Stripe einbauen, Rechtstexte ergänzen</a:t>
            </a:r>
            <a:endParaRPr lang="de-DE" sz="1250" dirty="0"/>
          </a:p>
        </p:txBody>
      </p:sp>
      <p:sp>
        <p:nvSpPr>
          <p:cNvPr id="42" name="Schritt 5 Kreis"/>
          <p:cNvSpPr/>
          <p:nvPr/>
        </p:nvSpPr>
        <p:spPr>
          <a:xfrm>
            <a:off x="6172200" y="4873752"/>
            <a:ext cx="457200" cy="457200"/>
          </a:xfrm>
          <a:prstGeom prst="ellipse">
            <a:avLst/>
          </a:prstGeom>
          <a:solidFill>
            <a:schemeClr val="accent1"/>
          </a:solidFill>
          <a:ln/>
        </p:spPr>
      </p:sp>
      <p:sp>
        <p:nvSpPr>
          <p:cNvPr id="43" name="Schritt 5 Nummer"/>
          <p:cNvSpPr txBox="1"/>
          <p:nvPr/>
        </p:nvSpPr>
        <p:spPr>
          <a:xfrm>
            <a:off x="6172200" y="4873752"/>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5</a:t>
            </a:r>
            <a:endParaRPr lang="de-DE" sz="1600" dirty="0"/>
          </a:p>
        </p:txBody>
      </p:sp>
      <p:sp>
        <p:nvSpPr>
          <p:cNvPr id="44" name="Schritt 5 Titel"/>
          <p:cNvSpPr txBox="1"/>
          <p:nvPr/>
        </p:nvSpPr>
        <p:spPr>
          <a:xfrm>
            <a:off x="6812280" y="4828032"/>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Live gehen</a:t>
            </a:r>
            <a:endParaRPr lang="de-DE" sz="1600" dirty="0"/>
          </a:p>
        </p:txBody>
      </p:sp>
      <p:sp>
        <p:nvSpPr>
          <p:cNvPr id="45" name="Schritt 5 Text"/>
          <p:cNvSpPr txBox="1"/>
          <p:nvPr/>
        </p:nvSpPr>
        <p:spPr>
          <a:xfrm>
            <a:off x="6812280" y="5129784"/>
            <a:ext cx="4828032" cy="384048"/>
          </a:xfrm>
          <a:prstGeom prst="rect">
            <a:avLst/>
          </a:prstGeom>
          <a:noFill/>
          <a:ln/>
        </p:spPr>
        <p:txBody>
          <a:bodyPr wrap="square" lIns="0" tIns="0" rIns="0" bIns="0" rtlCol="0" anchor="t"/>
          <a:lstStyle/>
          <a:p>
            <a:pPr indent="0" marL="0">
              <a:buNone/>
            </a:pPr>
            <a:r>
              <a:rPr lang="de-DE" sz="1250" dirty="0">
                <a:solidFill>
                  <a:schemeClr val="tx1"/>
                </a:solidFill>
              </a:rPr>
              <a:t>Testbestellung machen, dann Start mit Werbung auf Instagram und TikTok</a:t>
            </a:r>
            <a:endParaRPr lang="de-DE" sz="1250" dirty="0"/>
          </a:p>
        </p:txBody>
      </p:sp>
      <p:sp>
        <p:nvSpPr>
          <p:cNvPr id="46" name="Quellen"/>
          <p:cNvSpPr txBox="1"/>
          <p:nvPr/>
        </p:nvSpPr>
        <p:spPr>
          <a:xfrm>
            <a:off x="548640" y="5559552"/>
            <a:ext cx="11091672" cy="457200"/>
          </a:xfrm>
          <a:prstGeom prst="rect">
            <a:avLst/>
          </a:prstGeom>
          <a:noFill/>
          <a:ln/>
        </p:spPr>
        <p:txBody>
          <a:bodyPr wrap="square" lIns="0" tIns="0" rIns="0" bIns="0" rtlCol="0" anchor="t"/>
          <a:lstStyle/>
          <a:p>
            <a:pPr indent="0" marL="0">
              <a:buNone/>
            </a:pPr>
            <a:r>
              <a:rPr lang="de-DE" sz="1000" b="1" dirty="0">
                <a:solidFill>
                  <a:schemeClr val="accent6"/>
                </a:solidFill>
              </a:rPr>
              <a:t>Quellen: </a:t>
            </a:r>
            <a:r>
              <a:rPr lang="de-DE" sz="1000" dirty="0">
                <a:solidFill>
                  <a:schemeClr val="accent6"/>
                </a:solidFill>
              </a:rPr>
              <a:t>HGB §§ 17–19, GmbHG §§ 4 und 5a, BGB § 312g · Preise: netlify.com/pricing und Preisvergleiche auf qualimero.com, trusted.de und eesel.ai (abgerufen am 13.10.2026) · Logo: ChatGPT (KI) · Bilder: Gemini (KI) · Shop: gebaut mit Claude Code (KI)</a:t>
            </a:r>
            <a:endParaRPr lang="de-DE" sz="1000" dirty="0"/>
          </a:p>
        </p:txBody>
      </p:sp>
      <p:sp>
        <p:nvSpPr>
          <p:cNvPr id="48" name="Domain Kreis"/>
          <p:cNvSpPr/>
          <p:nvPr/>
        </p:nvSpPr>
        <p:spPr>
          <a:xfrm>
            <a:off x="822960" y="3753612"/>
            <a:ext cx="402336" cy="402336"/>
          </a:xfrm>
          <a:prstGeom prst="ellipse">
            <a:avLst/>
          </a:prstGeom>
          <a:solidFill>
            <a:schemeClr val="accent1"/>
          </a:solidFill>
          <a:ln/>
        </p:spPr>
      </p:sp>
      <p:pic>
        <p:nvPicPr>
          <p:cNvPr id="49" name="Domain Icon" descr="Domain"/>
          <p:cNvPicPr>
            <a:picLocks noChangeAspect="1"/>
          </p:cNvPicPr>
          <p:nvPr/>
        </p:nvPicPr>
        <p:blipFill>
          <a:blip r:embed="rId8"/>
          <a:stretch>
            <a:fillRect/>
          </a:stretch>
        </p:blipFill>
        <p:spPr>
          <a:xfrm>
            <a:off x="923544" y="3854196"/>
            <a:ext cx="201168" cy="201168"/>
          </a:xfrm>
          <a:prstGeom prst="rect">
            <a:avLst/>
          </a:prstGeom>
        </p:spPr>
      </p:pic>
      <p:sp>
        <p:nvSpPr>
          <p:cNvPr id="50" name="DOMAIN Label"/>
          <p:cNvSpPr txBox="1"/>
          <p:nvPr/>
        </p:nvSpPr>
        <p:spPr>
          <a:xfrm>
            <a:off x="1463040" y="371703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DOMAIN</a:t>
            </a:r>
            <a:endParaRPr lang="de-DE" sz="1100" dirty="0"/>
          </a:p>
        </p:txBody>
      </p:sp>
      <p:sp>
        <p:nvSpPr>
          <p:cNvPr id="51" name="DOMAIN Wert"/>
          <p:cNvSpPr txBox="1"/>
          <p:nvPr/>
        </p:nvSpPr>
        <p:spPr>
          <a:xfrm>
            <a:off x="1463040" y="392734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lootlager.de</a:t>
            </a:r>
            <a:endParaRPr lang="de-DE" sz="1500" dirty="0"/>
          </a:p>
        </p:txBody>
      </p:sp>
      <p:sp>
        <p:nvSpPr>
          <p:cNvPr id="47"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Hintergrund" descr="Gaming-Schreibtisch bei Nacht mit XXL-Mauspad, Tastatur, Controller, Headset-Halter und leuchtendem GG!-Neon-Schild"/>
          <p:cNvPicPr>
            <a:picLocks noChangeAspect="1"/>
          </p:cNvPicPr>
          <p:nvPr/>
        </p:nvPicPr>
        <p:blipFill>
          <a:blip r:embed="rId1"/>
          <a:stretch>
            <a:fillRect/>
          </a:stretch>
        </p:blipFill>
        <p:spPr>
          <a:xfrm>
            <a:off x="0" y="0"/>
            <a:ext cx="12192000" cy="6858000"/>
          </a:xfrm>
          <a:prstGeom prst="rect">
            <a:avLst/>
          </a:prstGeom>
        </p:spPr>
      </p:pic>
      <p:sp>
        <p:nvSpPr>
          <p:cNvPr id="4" name="Text 0"/>
          <p:cNvSpPr/>
          <p:nvPr>
            <p:ph idx="100" type="title" hasCustomPrompt="1"/>
          </p:nvPr>
        </p:nvSpPr>
        <p:spPr>
          <a:xfrm>
            <a:off x="548640" y="2103120"/>
            <a:ext cx="4754880" cy="822960"/>
          </a:xfrm>
          <a:prstGeom prst="rect">
            <a:avLst/>
          </a:prstGeom>
          <a:noFill/>
          <a:ln/>
        </p:spPr>
        <p:txBody>
          <a:bodyPr wrap="square" lIns="0" tIns="0" rIns="0" bIns="0" rtlCol="0" anchor="ctr"/>
          <a:lstStyle/>
          <a:p>
            <a:pPr algn="l" indent="0" marL="0">
              <a:buNone/>
            </a:pPr>
            <a:r>
              <a:rPr lang="de-DE" sz="4800" b="1" i="0" dirty="0">
                <a:solidFill>
                  <a:schemeClr val="bg1"/>
                </a:solidFill>
              </a:rPr>
              <a:t>Vielen Dank!</a:t>
            </a:r>
            <a:endParaRPr lang="de-DE" sz="4800" dirty="0"/>
          </a:p>
        </p:txBody>
      </p:sp>
      <p:sp>
        <p:nvSpPr>
          <p:cNvPr id="5" name="Fragen"/>
          <p:cNvSpPr txBox="1"/>
          <p:nvPr/>
        </p:nvSpPr>
        <p:spPr>
          <a:xfrm>
            <a:off x="548640" y="3017520"/>
            <a:ext cx="4754880" cy="457200"/>
          </a:xfrm>
          <a:prstGeom prst="rect">
            <a:avLst/>
          </a:prstGeom>
          <a:noFill/>
          <a:ln/>
        </p:spPr>
        <p:txBody>
          <a:bodyPr wrap="square" lIns="0" tIns="0" rIns="0" bIns="0" rtlCol="0" anchor="ctr"/>
          <a:lstStyle/>
          <a:p>
            <a:pPr algn="l" indent="0" marL="0">
              <a:buNone/>
            </a:pPr>
            <a:r>
              <a:rPr lang="de-DE" sz="2400" b="1" i="0" dirty="0">
                <a:solidFill>
                  <a:schemeClr val="accent2"/>
                </a:solidFill>
              </a:rPr>
              <a:t>Habt ihr noch Fragen?</a:t>
            </a:r>
            <a:endParaRPr lang="de-DE" sz="2400" dirty="0"/>
          </a:p>
        </p:txBody>
      </p:sp>
      <p:sp>
        <p:nvSpPr>
          <p:cNvPr id="6" name="Slogan"/>
          <p:cNvSpPr txBox="1"/>
          <p:nvPr/>
        </p:nvSpPr>
        <p:spPr>
          <a:xfrm>
            <a:off x="548640" y="3566160"/>
            <a:ext cx="4754880" cy="365760"/>
          </a:xfrm>
          <a:prstGeom prst="rect">
            <a:avLst/>
          </a:prstGeom>
          <a:noFill/>
          <a:ln/>
        </p:spPr>
        <p:txBody>
          <a:bodyPr wrap="square" lIns="0" tIns="0" rIns="0" bIns="0" rtlCol="0" anchor="ctr"/>
          <a:lstStyle/>
          <a:p>
            <a:pPr algn="l" indent="0" marL="0">
              <a:buNone/>
            </a:pPr>
            <a:r>
              <a:rPr lang="de-DE" sz="1800" b="0" i="1" dirty="0">
                <a:solidFill>
                  <a:schemeClr val="accent5"/>
                </a:solidFill>
              </a:rPr>
              <a:t>„Level up dein Setup.“</a:t>
            </a:r>
            <a:endParaRPr lang="de-DE" sz="1800" dirty="0"/>
          </a:p>
        </p:txBody>
      </p:sp>
      <p:sp>
        <p:nvSpPr>
          <p:cNvPr id="7" name="Logo Karte"/>
          <p:cNvSpPr/>
          <p:nvPr/>
        </p:nvSpPr>
        <p:spPr>
          <a:xfrm>
            <a:off x="548640" y="5486400"/>
            <a:ext cx="2103120" cy="640080"/>
          </a:xfrm>
          <a:prstGeom prst="roundRect">
            <a:avLst>
              <a:gd name="adj" fmla="val 22000"/>
            </a:avLst>
          </a:prstGeom>
          <a:solidFill>
            <a:schemeClr val="bg1"/>
          </a:solidFill>
          <a:ln>
            <a:noFill/>
          </a:ln>
        </p:spPr>
      </p:sp>
      <p:pic>
        <p:nvPicPr>
          <p:cNvPr id="8" name="Firmenlogo" descr="Logo von LootLager"/>
          <p:cNvPicPr>
            <a:picLocks noChangeAspect="1"/>
          </p:cNvPicPr>
          <p:nvPr/>
        </p:nvPicPr>
        <p:blipFill>
          <a:blip r:embed="rId2"/>
          <a:stretch>
            <a:fillRect/>
          </a:stretch>
        </p:blipFill>
        <p:spPr>
          <a:xfrm>
            <a:off x="828776" y="5596128"/>
            <a:ext cx="1542849" cy="420624"/>
          </a:xfrm>
          <a:prstGeom prst="rect">
            <a:avLst/>
          </a:prstGeom>
        </p:spPr>
      </p:pic>
      <p:sp>
        <p:nvSpPr>
          <p:cNvPr id="9" name="Gruppe"/>
          <p:cNvSpPr txBox="1"/>
          <p:nvPr/>
        </p:nvSpPr>
        <p:spPr>
          <a:xfrm>
            <a:off x="2880360" y="5486400"/>
            <a:ext cx="3200400" cy="640080"/>
          </a:xfrm>
          <a:prstGeom prst="rect">
            <a:avLst/>
          </a:prstGeom>
          <a:noFill/>
          <a:ln/>
        </p:spPr>
        <p:txBody>
          <a:bodyPr wrap="square" lIns="0" tIns="0" rIns="0" bIns="0" rtlCol="0" anchor="ctr"/>
          <a:lstStyle/>
          <a:p>
            <a:pPr algn="l" indent="0" marL="0">
              <a:buNone/>
            </a:pPr>
            <a:r>
              <a:rPr lang="de-DE" sz="1400" b="0" i="0" dirty="0">
                <a:solidFill>
                  <a:schemeClr val="bg1"/>
                </a:solidFill>
              </a:rPr>
              <a:t>Gruppe 4  ·  Nick und Luca</a:t>
            </a:r>
            <a:endParaRPr lang="de-DE" sz="1400" dirty="0"/>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2026-10-06T12:57:31Z</dcterms:created>
  <dcterms:modified xsi:type="dcterms:W3CDTF">2026-10-06T12:57:31Z</dcterms:modified>
</cp:coreProperties>
</file>