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8b2633a6-3486-809e-f6cf-50b33d16ec60}">
          <p14:sldIdLst>
            <p14:sldId id="256"/>
          </p14:sldIdLst>
        </p14:section>
        <p14:section name="Unser Unternehmen" id="{7cf94b8d-eb77-2773-e436-d1b9f7dd084e}">
          <p14:sldIdLst>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(ca. 30 Sekunden):
Wir sind die LootLager UG (haftungsbeschränkt). Wir verkaufen Gaming-Zubehör mit Custom Designs: Unsere Kunden bekommen ihr eigenes Design, entweder selbst hochgeladen oder von uns gestaltet. Unsere Marke heißt genauso wie die Firma: LootLager. Unser Slogan ist „Level up dein Setup.“ Als Rechtsform haben wir die UG (haftungsbeschränkt) gewählt: Wir haften nicht mit unserem Privatvermögen und brauchen kein großes Startkapital.
NACHFRAGE „Warum die UG?“:
Wir sind zwei Gründer und wollen nicht mit unserem Privatvermögen haften. Für eine GmbH fehlen uns die 25.000 € Stammkapital. Die UG gibt uns die beschränkte Haftung schon ab 1 € Stammkapital.
NACHFRAGE „Wer führt die Geschäfte?“:
Wir beide: Nick und Luca sind gemeinsam Geschäftsführer.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verkaufen Gaming-Zubehör, das unsere Kunden selbst gestalten können. Man wählt ein Produkt aus, lädt ein eigenes Motiv hoch oder lässt es von uns gestalten, und wir produzieren und versenden es. Unser Sortiment: XXL-Mauspads, Controller-Skins, Custom Keycaps und LED-Schilder. Unsere Zielgruppe sind Gamer und Streamer zwischen 16 und 30, die ein einzigartiges Setup wollen.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„Loot“ ist in Videospielen die Beute, die man als Belohnung bekommt. „Lager“ steht für unseren Shop, in dem alles für dein Gaming-Setup bereitliegt. Der Name ist kurz, passt zu unserer Zielgruppe und ist durch das doppelte L leicht zu merken.
Logo: Die Truhe ist eine Loot-Kiste wie in Videospielen. Wer bei uns bestellt, bekommt seine Belohnung. Violett und Türkis sind typische Gaming-Farben. Das Logo haben wir mit ChatGPT erstellt.
NACHFRAGE „Unterschied Firma und Marke?“:
Die Firma ist der rechtliche Name unseres Unternehmens. Sie steht im Handelsregister und enthält die Rechtsform: LootLager UG (haftungsbeschränkt). Die Marke ist der Name, unter dem die Kunden unseren Shop und unsere Produkte kennen: LootLager. Bei uns heißen beide gleich, so erkennt man uns leichter wieder.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DIE UG?
Wir sind zwei Gründer und wollen nicht mit unserem Privatvermögen haften. Für eine GmbH fehlen uns die 25.000 € Stammkapital. Die UG gibt uns die beschränkte Haftung schon ab 1 € Stammkapital.
WAS HEISST HAFTUNGSBESCHRÄNKT?
Wenn die Firma Schulden hat, haftet nur das Vermögen der Gesellschaft. Unser privates Geld ist geschützt.
WARUM KEINE GbR ODER OHG?
Dort haftet jeder Gesellschafter unbeschränkt mit seinem Privatvermögen, auch für die Schulden der anderen. Im Onlinehandel ist das zu riskant, z. B. bei Abmahnungen oder wenn wir auf Ware sitzen bleiben.
WARUM KEIN EINZELUNTERNEHMEN?
Ein Einzelunternehmen hat nur einen Inhaber, wir sind aber zu zweit. Außerdem haftet der Inhaber unbeschränkt.
WIE VIEL STAMMKAPITAL?
1.000 €. Nick und Luca sind die Gesellschafter und zahlen je 500 € ein.
WER FÜHRT DIE GESCHÄFTE?
Wir beide: Nick und Luca sind gemeinsam Geschäftsführer. Die Geschäftsführung bestimmen die Gesellschafter, und das sind bei uns auch wir zwei.
WIE GRÜNDET MAN EINE UG?
Gesellschaftsvertrag beim Notar → Stammkapital einzahlen → Eintrag ins Handelsregister → Gewerbe anmelden → Finanzamt.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0"/>
            <a:ext cx="11094415" cy="548640"/>
          </a:xfrm>
          <a:prstGeom prst="rect">
            <a:avLst/>
          </a:prstGeom>
          <a:noFill/>
          <a:ln/>
        </p:spPr>
        <p:txBody>
          <a:bodyPr wrap="square" rtlCol="0"/>
          <a:lstStyle>
            <a:lvl1pPr algn="ctr" indent="0" marL="0">
              <a:buNone/>
              <a:defRPr lang="en-US" sz="2400" i="1" dirty="0">
                <a:solidFill>
                  <a:schemeClr val="accent1"/>
                </a:solidFill>
              </a:defRPr>
            </a:lvl1pPr>
          </a:lstStyle>
          <a:p>
            <a:pPr algn="ctr" indent="0" marL="0">
              <a:buNone/>
            </a:pPr>
            <a:r>
              <a:rPr lang="en-US" sz="2400" i="1" dirty="0">
                <a:solidFill>
                  <a:schemeClr val="accent1"/>
                </a:solidFill>
              </a:rPr>
              <a:t>Slogan</a:t>
            </a:r>
            <a:endParaRPr lang="en-US" sz="2400" dirty="0"/>
          </a:p>
        </p:txBody>
      </p:sp>
      <p:sp>
        <p:nvSpPr>
          <p:cNvPr id="3" name="Text 0"/>
          <p:cNvSpPr/>
          <p:nvPr>
            <p:ph idx="101" type="body" hasCustomPrompt="1"/>
          </p:nvPr>
        </p:nvSpPr>
        <p:spPr>
          <a:xfrm>
            <a:off x="548640" y="6126480"/>
            <a:ext cx="11094415" cy="365760"/>
          </a:xfrm>
          <a:prstGeom prst="rect">
            <a:avLst/>
          </a:prstGeom>
          <a:noFill/>
          <a:ln/>
        </p:spPr>
        <p:txBody>
          <a:bodyPr wrap="square" rtlCol="0"/>
          <a:lstStyle>
            <a:lvl1pPr algn="ctr" indent="0" marL="0">
              <a:buNone/>
              <a:defRPr lang="en-US" sz="1300" dirty="0">
                <a:solidFill>
                  <a:schemeClr val="accent6"/>
                </a:solidFill>
              </a:defRPr>
            </a:lvl1pPr>
          </a:lstStyle>
          <a:p>
            <a:pPr algn="ctr" indent="0" marL="0">
              <a:buNone/>
            </a:pPr>
            <a:r>
              <a:rPr lang="en-US" sz="1300" dirty="0">
                <a:solidFill>
                  <a:schemeClr val="accent6"/>
                </a:solidFill>
              </a:rPr>
              <a:t>Gruppe</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r>
              <a:rPr lang="en-US" sz="3400" b="1" dirty="0">
                <a:solidFill>
                  <a:schemeClr val="tx1"/>
                </a:solidFill>
              </a:rPr>
              <a:t>Titel</a:t>
            </a:r>
            <a:endParaRPr lang="en-US" sz="3400" dirty="0"/>
          </a:p>
        </p:txBody>
      </p:sp>
      <p:pic>
        <p:nvPicPr>
          <p:cNvPr id="3" name="Image 0" descr="/home/user/EcomShopRepo/assets/logo-lootlager.png">    </p:cNvPr>
          <p:cNvPicPr>
            <a:picLocks noChangeAspect="1"/>
          </p:cNvPicPr>
          <p:nvPr/>
        </p:nvPicPr>
        <p:blipFill>
          <a:blip r:embed="rId1"/>
          <a:stretch>
            <a:fillRect/>
          </a:stretch>
        </p:blipFill>
        <p:spPr>
          <a:xfrm>
            <a:off x="10088575" y="6263640"/>
            <a:ext cx="1554480" cy="423800"/>
          </a:xfrm>
          <a:prstGeom prst="rect">
            <a:avLst/>
          </a:prstGeom>
        </p:spPr>
      </p:pic>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irmenlogo" descr="Logo von LootLager: eine offene violette Schatztruhe neben dem Schriftzug LootLager">    </p:cNvPr>
          <p:cNvPicPr>
            <a:picLocks noChangeAspect="1"/>
          </p:cNvPicPr>
          <p:nvPr/>
        </p:nvPicPr>
        <p:blipFill>
          <a:blip r:embed="rId1"/>
          <a:stretch>
            <a:fillRect/>
          </a:stretch>
        </p:blipFill>
        <p:spPr>
          <a:xfrm>
            <a:off x="2255368" y="457200"/>
            <a:ext cx="7680960" cy="2094072"/>
          </a:xfrm>
          <a:prstGeom prst="rect">
            <a:avLst/>
          </a:prstGeom>
        </p:spPr>
      </p:pic>
      <p:sp>
        <p:nvSpPr>
          <p:cNvPr id="3" name="Text 0"/>
          <p:cNvSpPr/>
          <p:nvPr>
            <p:ph idx="100" type="title" hasCustomPrompt="1"/>
          </p:nvPr>
        </p:nvSpPr>
        <p:spPr>
          <a:xfrm>
            <a:off x="548640" y="2743200"/>
            <a:ext cx="11094415" cy="548640"/>
          </a:xfrm>
          <a:prstGeom prst="rect">
            <a:avLst/>
          </a:prstGeom>
          <a:noFill/>
          <a:ln/>
        </p:spPr>
        <p:txBody>
          <a:bodyPr wrap="square" lIns="0" tIns="0" rIns="0" bIns="0" rtlCol="0" anchor="ctr"/>
          <a:lstStyle/>
          <a:p>
            <a:pPr algn="ctr" indent="0" marL="0">
              <a:buNone/>
            </a:pPr>
            <a:r>
              <a:rPr lang="en-US" sz="2400" i="1" dirty="0">
                <a:solidFill>
                  <a:schemeClr val="accent1"/>
                </a:solidFill>
              </a:rPr>
              <a:t>„Level up dein Setup.“</a:t>
            </a:r>
            <a:endParaRPr lang="en-US" sz="2400" dirty="0"/>
          </a:p>
        </p:txBody>
      </p:sp>
      <p:sp>
        <p:nvSpPr>
          <p:cNvPr id="4" name="Karte FIRMENNAME"/>
          <p:cNvSpPr/>
          <p:nvPr/>
        </p:nvSpPr>
        <p:spPr>
          <a:xfrm>
            <a:off x="540868" y="3611880"/>
            <a:ext cx="3520440" cy="2148840"/>
          </a:xfrm>
          <a:prstGeom prst="roundRect">
            <a:avLst>
              <a:gd name="adj" fmla="val 6383"/>
            </a:avLst>
          </a:prstGeom>
          <a:solidFill>
            <a:schemeClr val="bg2"/>
          </a:solidFill>
          <a:ln/>
        </p:spPr>
      </p:sp>
      <p:sp>
        <p:nvSpPr>
          <p:cNvPr id="5" name="FIRMENNAME Kreis"/>
          <p:cNvSpPr/>
          <p:nvPr/>
        </p:nvSpPr>
        <p:spPr>
          <a:xfrm>
            <a:off x="815188" y="3886200"/>
            <a:ext cx="548640" cy="548640"/>
          </a:xfrm>
          <a:prstGeom prst="ellipse">
            <a:avLst/>
          </a:prstGeom>
          <a:solidFill>
            <a:schemeClr val="accent1"/>
          </a:solidFill>
          <a:ln/>
        </p:spPr>
      </p:sp>
      <p:pic>
        <p:nvPicPr>
          <p:cNvPr id="6" name="FIRMENNAME Icon" descr="FIRMENNAME">    </p:cNvPr>
          <p:cNvPicPr>
            <a:picLocks noChangeAspect="1"/>
          </p:cNvPicPr>
          <p:nvPr/>
        </p:nvPicPr>
        <p:blipFill>
          <a:blip r:embed="rId2"/>
          <a:stretch>
            <a:fillRect/>
          </a:stretch>
        </p:blipFill>
        <p:spPr>
          <a:xfrm>
            <a:off x="952348" y="4023360"/>
            <a:ext cx="274320" cy="274320"/>
          </a:xfrm>
          <a:prstGeom prst="rect">
            <a:avLst/>
          </a:prstGeom>
        </p:spPr>
      </p:pic>
      <p:sp>
        <p:nvSpPr>
          <p:cNvPr id="7" name="FIRMENNAME Label"/>
          <p:cNvSpPr txBox="1"/>
          <p:nvPr/>
        </p:nvSpPr>
        <p:spPr>
          <a:xfrm>
            <a:off x="150098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FIRMENNAME</a:t>
            </a:r>
            <a:endParaRPr lang="en-US" sz="1300" dirty="0"/>
          </a:p>
        </p:txBody>
      </p:sp>
      <p:sp>
        <p:nvSpPr>
          <p:cNvPr id="8" name="FIRMENNAME Wert"/>
          <p:cNvSpPr txBox="1"/>
          <p:nvPr/>
        </p:nvSpPr>
        <p:spPr>
          <a:xfrm>
            <a:off x="81518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 UG (haftungsbeschränkt)</a:t>
            </a:r>
            <a:endParaRPr lang="en-US" sz="2000" dirty="0"/>
          </a:p>
        </p:txBody>
      </p:sp>
      <p:sp>
        <p:nvSpPr>
          <p:cNvPr id="9" name="FIRMENNAME Hinweis"/>
          <p:cNvSpPr txBox="1"/>
          <p:nvPr/>
        </p:nvSpPr>
        <p:spPr>
          <a:xfrm>
            <a:off x="81518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rechtlicher Name im Handelsregister</a:t>
            </a:r>
            <a:endParaRPr lang="en-US" sz="1200" dirty="0"/>
          </a:p>
        </p:txBody>
      </p:sp>
      <p:sp>
        <p:nvSpPr>
          <p:cNvPr id="10" name="Karte RECHTSFORM"/>
          <p:cNvSpPr/>
          <p:nvPr/>
        </p:nvSpPr>
        <p:spPr>
          <a:xfrm>
            <a:off x="4335628" y="3611880"/>
            <a:ext cx="3520440" cy="2148840"/>
          </a:xfrm>
          <a:prstGeom prst="roundRect">
            <a:avLst>
              <a:gd name="adj" fmla="val 6383"/>
            </a:avLst>
          </a:prstGeom>
          <a:solidFill>
            <a:schemeClr val="bg2"/>
          </a:solidFill>
          <a:ln/>
        </p:spPr>
      </p:sp>
      <p:sp>
        <p:nvSpPr>
          <p:cNvPr id="11" name="RECHTSFORM Kreis"/>
          <p:cNvSpPr/>
          <p:nvPr/>
        </p:nvSpPr>
        <p:spPr>
          <a:xfrm>
            <a:off x="4609948" y="3886200"/>
            <a:ext cx="548640" cy="548640"/>
          </a:xfrm>
          <a:prstGeom prst="ellipse">
            <a:avLst/>
          </a:prstGeom>
          <a:solidFill>
            <a:schemeClr val="accent1"/>
          </a:solidFill>
          <a:ln/>
        </p:spPr>
      </p:sp>
      <p:pic>
        <p:nvPicPr>
          <p:cNvPr id="12" name="RECHTSFORM Icon" descr="RECHTSFORM">    </p:cNvPr>
          <p:cNvPicPr>
            <a:picLocks noChangeAspect="1"/>
          </p:cNvPicPr>
          <p:nvPr/>
        </p:nvPicPr>
        <p:blipFill>
          <a:blip r:embed="rId3"/>
          <a:stretch>
            <a:fillRect/>
          </a:stretch>
        </p:blipFill>
        <p:spPr>
          <a:xfrm>
            <a:off x="4747108" y="4023360"/>
            <a:ext cx="274320" cy="274320"/>
          </a:xfrm>
          <a:prstGeom prst="rect">
            <a:avLst/>
          </a:prstGeom>
        </p:spPr>
      </p:pic>
      <p:sp>
        <p:nvSpPr>
          <p:cNvPr id="13" name="RECHTSFORM Label"/>
          <p:cNvSpPr txBox="1"/>
          <p:nvPr/>
        </p:nvSpPr>
        <p:spPr>
          <a:xfrm>
            <a:off x="529574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RECHTSFORM</a:t>
            </a:r>
            <a:endParaRPr lang="en-US" sz="1300" dirty="0"/>
          </a:p>
        </p:txBody>
      </p:sp>
      <p:sp>
        <p:nvSpPr>
          <p:cNvPr id="14" name="RECHTSFORM Wert"/>
          <p:cNvSpPr txBox="1"/>
          <p:nvPr/>
        </p:nvSpPr>
        <p:spPr>
          <a:xfrm>
            <a:off x="460994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UG (haftungsbeschränkt)</a:t>
            </a:r>
            <a:endParaRPr lang="en-US" sz="2000" dirty="0"/>
          </a:p>
        </p:txBody>
      </p:sp>
      <p:sp>
        <p:nvSpPr>
          <p:cNvPr id="15" name="RECHTSFORM Hinweis"/>
          <p:cNvSpPr txBox="1"/>
          <p:nvPr/>
        </p:nvSpPr>
        <p:spPr>
          <a:xfrm>
            <a:off x="460994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Unternehmergesellschaft nach § 5a GmbHG</a:t>
            </a:r>
            <a:endParaRPr lang="en-US" sz="1200" dirty="0"/>
          </a:p>
        </p:txBody>
      </p:sp>
      <p:sp>
        <p:nvSpPr>
          <p:cNvPr id="16" name="Karte MARKE"/>
          <p:cNvSpPr/>
          <p:nvPr/>
        </p:nvSpPr>
        <p:spPr>
          <a:xfrm>
            <a:off x="8130388" y="3611880"/>
            <a:ext cx="3520440" cy="2148840"/>
          </a:xfrm>
          <a:prstGeom prst="roundRect">
            <a:avLst>
              <a:gd name="adj" fmla="val 6383"/>
            </a:avLst>
          </a:prstGeom>
          <a:solidFill>
            <a:schemeClr val="bg2"/>
          </a:solidFill>
          <a:ln/>
        </p:spPr>
      </p:sp>
      <p:sp>
        <p:nvSpPr>
          <p:cNvPr id="17" name="MARKE Kreis"/>
          <p:cNvSpPr/>
          <p:nvPr/>
        </p:nvSpPr>
        <p:spPr>
          <a:xfrm>
            <a:off x="8404708" y="3886200"/>
            <a:ext cx="548640" cy="548640"/>
          </a:xfrm>
          <a:prstGeom prst="ellipse">
            <a:avLst/>
          </a:prstGeom>
          <a:solidFill>
            <a:schemeClr val="accent1"/>
          </a:solidFill>
          <a:ln/>
        </p:spPr>
      </p:sp>
      <p:pic>
        <p:nvPicPr>
          <p:cNvPr id="18" name="MARKE Icon" descr="MARKE">    </p:cNvPr>
          <p:cNvPicPr>
            <a:picLocks noChangeAspect="1"/>
          </p:cNvPicPr>
          <p:nvPr/>
        </p:nvPicPr>
        <p:blipFill>
          <a:blip r:embed="rId4"/>
          <a:stretch>
            <a:fillRect/>
          </a:stretch>
        </p:blipFill>
        <p:spPr>
          <a:xfrm>
            <a:off x="8541868" y="4023360"/>
            <a:ext cx="274320" cy="274320"/>
          </a:xfrm>
          <a:prstGeom prst="rect">
            <a:avLst/>
          </a:prstGeom>
        </p:spPr>
      </p:pic>
      <p:sp>
        <p:nvSpPr>
          <p:cNvPr id="19" name="MARKE Label"/>
          <p:cNvSpPr txBox="1"/>
          <p:nvPr/>
        </p:nvSpPr>
        <p:spPr>
          <a:xfrm>
            <a:off x="909050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MARKE</a:t>
            </a:r>
            <a:endParaRPr lang="en-US" sz="1300" dirty="0"/>
          </a:p>
        </p:txBody>
      </p:sp>
      <p:sp>
        <p:nvSpPr>
          <p:cNvPr id="20" name="MARKE Wert"/>
          <p:cNvSpPr txBox="1"/>
          <p:nvPr/>
        </p:nvSpPr>
        <p:spPr>
          <a:xfrm>
            <a:off x="840470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a:t>
            </a:r>
            <a:endParaRPr lang="en-US" sz="2000" dirty="0"/>
          </a:p>
        </p:txBody>
      </p:sp>
      <p:sp>
        <p:nvSpPr>
          <p:cNvPr id="21" name="MARKE Hinweis"/>
          <p:cNvSpPr txBox="1"/>
          <p:nvPr/>
        </p:nvSpPr>
        <p:spPr>
          <a:xfrm>
            <a:off x="840470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gleicher Name für Shop und Produkte</a:t>
            </a:r>
            <a:endParaRPr lang="en-US" sz="1200" dirty="0"/>
          </a:p>
        </p:txBody>
      </p:sp>
      <p:sp>
        <p:nvSpPr>
          <p:cNvPr id="22" name="Text 0"/>
          <p:cNvSpPr/>
          <p:nvPr>
            <p:ph idx="101" type="body" hasCustomPrompt="1"/>
          </p:nvPr>
        </p:nvSpPr>
        <p:spPr>
          <a:xfrm>
            <a:off x="548640" y="6126480"/>
            <a:ext cx="11094415" cy="365760"/>
          </a:xfrm>
          <a:prstGeom prst="rect">
            <a:avLst/>
          </a:prstGeom>
          <a:noFill/>
          <a:ln/>
        </p:spPr>
        <p:txBody>
          <a:bodyPr wrap="square" lIns="0" tIns="0" rIns="0" bIns="0" rtlCol="0" anchor="ctr"/>
          <a:lstStyle/>
          <a:p>
            <a:pPr algn="ctr" indent="0" marL="0">
              <a:buNone/>
            </a:pPr>
            <a:r>
              <a:rPr lang="en-US" sz="1300" dirty="0">
                <a:solidFill>
                  <a:schemeClr val="accent6"/>
                </a:solidFill>
              </a:rPr>
              <a:t>Gruppe 4  ·  Nick und Luca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Gaming-Zubehör mit deinem eigenen Design</a:t>
            </a:r>
            <a:endParaRPr lang="en-US" sz="3400" dirty="0"/>
          </a:p>
        </p:txBody>
      </p:sp>
      <p:sp>
        <p:nvSpPr>
          <p:cNvPr id="3" name="Ablauf Überschrift"/>
          <p:cNvSpPr txBox="1"/>
          <p:nvPr/>
        </p:nvSpPr>
        <p:spPr>
          <a:xfrm>
            <a:off x="548640" y="1417320"/>
            <a:ext cx="5120640" cy="411480"/>
          </a:xfrm>
          <a:prstGeom prst="rect">
            <a:avLst/>
          </a:prstGeom>
          <a:noFill/>
          <a:ln/>
        </p:spPr>
        <p:txBody>
          <a:bodyPr wrap="square" lIns="0" tIns="0" rIns="0" bIns="0" rtlCol="0" anchor="ctr"/>
          <a:lstStyle/>
          <a:p>
            <a:pPr indent="0" marL="0">
              <a:buNone/>
            </a:pPr>
            <a:r>
              <a:rPr lang="en-US" sz="2000" b="1" dirty="0">
                <a:solidFill>
                  <a:schemeClr val="tx1"/>
                </a:solidFill>
              </a:rPr>
              <a:t>So funktioniert’s</a:t>
            </a:r>
            <a:endParaRPr lang="en-US" sz="2000" dirty="0"/>
          </a:p>
        </p:txBody>
      </p:sp>
      <p:sp>
        <p:nvSpPr>
          <p:cNvPr id="4" name="Schritt 1 Kreis"/>
          <p:cNvSpPr/>
          <p:nvPr/>
        </p:nvSpPr>
        <p:spPr>
          <a:xfrm>
            <a:off x="548640" y="2057400"/>
            <a:ext cx="548640" cy="548640"/>
          </a:xfrm>
          <a:prstGeom prst="ellipse">
            <a:avLst/>
          </a:prstGeom>
          <a:solidFill>
            <a:schemeClr val="accent1"/>
          </a:solidFill>
          <a:ln/>
        </p:spPr>
      </p:sp>
      <p:sp>
        <p:nvSpPr>
          <p:cNvPr id="5" name="Schritt 1 Nummer"/>
          <p:cNvSpPr txBox="1"/>
          <p:nvPr/>
        </p:nvSpPr>
        <p:spPr>
          <a:xfrm>
            <a:off x="548640" y="20574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chritt 1 Titel"/>
          <p:cNvSpPr txBox="1"/>
          <p:nvPr/>
        </p:nvSpPr>
        <p:spPr>
          <a:xfrm>
            <a:off x="1325880" y="2011680"/>
            <a:ext cx="4389120" cy="365760"/>
          </a:xfrm>
          <a:prstGeom prst="rect">
            <a:avLst/>
          </a:prstGeom>
          <a:noFill/>
          <a:ln/>
        </p:spPr>
        <p:txBody>
          <a:bodyPr wrap="square" lIns="0" tIns="0" rIns="0" bIns="0" rtlCol="0" anchor="t"/>
          <a:lstStyle/>
          <a:p>
            <a:pPr indent="0" marL="0">
              <a:buNone/>
            </a:pPr>
            <a:r>
              <a:rPr lang="en-US" sz="1800" b="1" dirty="0">
                <a:solidFill>
                  <a:schemeClr val="tx1"/>
                </a:solidFill>
              </a:rPr>
              <a:t>Produkt auswählen</a:t>
            </a:r>
            <a:endParaRPr lang="en-US" sz="1800" dirty="0"/>
          </a:p>
        </p:txBody>
      </p:sp>
      <p:sp>
        <p:nvSpPr>
          <p:cNvPr id="7" name="Schritt 1 Text"/>
          <p:cNvSpPr txBox="1"/>
          <p:nvPr/>
        </p:nvSpPr>
        <p:spPr>
          <a:xfrm>
            <a:off x="1325880" y="239572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Mauspad, Controller-Skin, Keycaps oder LED-Schild</a:t>
            </a:r>
            <a:endParaRPr lang="en-US" sz="1400" dirty="0"/>
          </a:p>
        </p:txBody>
      </p:sp>
      <p:sp>
        <p:nvSpPr>
          <p:cNvPr id="8" name="Schritt 2 Kreis"/>
          <p:cNvSpPr/>
          <p:nvPr/>
        </p:nvSpPr>
        <p:spPr>
          <a:xfrm>
            <a:off x="548640" y="3154680"/>
            <a:ext cx="548640" cy="548640"/>
          </a:xfrm>
          <a:prstGeom prst="ellipse">
            <a:avLst/>
          </a:prstGeom>
          <a:solidFill>
            <a:schemeClr val="accent1"/>
          </a:solidFill>
          <a:ln/>
        </p:spPr>
      </p:sp>
      <p:sp>
        <p:nvSpPr>
          <p:cNvPr id="9" name="Schritt 2 Nummer"/>
          <p:cNvSpPr txBox="1"/>
          <p:nvPr/>
        </p:nvSpPr>
        <p:spPr>
          <a:xfrm>
            <a:off x="548640" y="3154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chritt 2 Titel"/>
          <p:cNvSpPr txBox="1"/>
          <p:nvPr/>
        </p:nvSpPr>
        <p:spPr>
          <a:xfrm>
            <a:off x="1325880" y="3108960"/>
            <a:ext cx="4389120" cy="365760"/>
          </a:xfrm>
          <a:prstGeom prst="rect">
            <a:avLst/>
          </a:prstGeom>
          <a:noFill/>
          <a:ln/>
        </p:spPr>
        <p:txBody>
          <a:bodyPr wrap="square" lIns="0" tIns="0" rIns="0" bIns="0" rtlCol="0" anchor="t"/>
          <a:lstStyle/>
          <a:p>
            <a:pPr indent="0" marL="0">
              <a:buNone/>
            </a:pPr>
            <a:r>
              <a:rPr lang="en-US" sz="1800" b="1" dirty="0">
                <a:solidFill>
                  <a:schemeClr val="tx1"/>
                </a:solidFill>
              </a:rPr>
              <a:t>Design festlegen</a:t>
            </a:r>
            <a:endParaRPr lang="en-US" sz="1800" dirty="0"/>
          </a:p>
        </p:txBody>
      </p:sp>
      <p:sp>
        <p:nvSpPr>
          <p:cNvPr id="11" name="Schritt 2 Text"/>
          <p:cNvSpPr txBox="1"/>
          <p:nvPr/>
        </p:nvSpPr>
        <p:spPr>
          <a:xfrm>
            <a:off x="1325880" y="349300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Eigenes Motiv hochladen oder von unserem Team gestalten lassen</a:t>
            </a:r>
            <a:endParaRPr lang="en-US" sz="1400" dirty="0"/>
          </a:p>
        </p:txBody>
      </p:sp>
      <p:sp>
        <p:nvSpPr>
          <p:cNvPr id="12" name="Schritt 3 Kreis"/>
          <p:cNvSpPr/>
          <p:nvPr/>
        </p:nvSpPr>
        <p:spPr>
          <a:xfrm>
            <a:off x="548640" y="4251960"/>
            <a:ext cx="548640" cy="548640"/>
          </a:xfrm>
          <a:prstGeom prst="ellipse">
            <a:avLst/>
          </a:prstGeom>
          <a:solidFill>
            <a:schemeClr val="accent1"/>
          </a:solidFill>
          <a:ln/>
        </p:spPr>
      </p:sp>
      <p:sp>
        <p:nvSpPr>
          <p:cNvPr id="13" name="Schritt 3 Nummer"/>
          <p:cNvSpPr txBox="1"/>
          <p:nvPr/>
        </p:nvSpPr>
        <p:spPr>
          <a:xfrm>
            <a:off x="54864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chritt 3 Titel"/>
          <p:cNvSpPr txBox="1"/>
          <p:nvPr/>
        </p:nvSpPr>
        <p:spPr>
          <a:xfrm>
            <a:off x="1325880" y="4206240"/>
            <a:ext cx="4389120" cy="365760"/>
          </a:xfrm>
          <a:prstGeom prst="rect">
            <a:avLst/>
          </a:prstGeom>
          <a:noFill/>
          <a:ln/>
        </p:spPr>
        <p:txBody>
          <a:bodyPr wrap="square" lIns="0" tIns="0" rIns="0" bIns="0" rtlCol="0" anchor="t"/>
          <a:lstStyle/>
          <a:p>
            <a:pPr indent="0" marL="0">
              <a:buNone/>
            </a:pPr>
            <a:r>
              <a:rPr lang="en-US" sz="1800" b="1" dirty="0">
                <a:solidFill>
                  <a:schemeClr val="tx1"/>
                </a:solidFill>
              </a:rPr>
              <a:t>Wir produzieren und versenden</a:t>
            </a:r>
            <a:endParaRPr lang="en-US" sz="1800" dirty="0"/>
          </a:p>
        </p:txBody>
      </p:sp>
      <p:sp>
        <p:nvSpPr>
          <p:cNvPr id="15" name="Schritt 3 Text"/>
          <p:cNvSpPr txBox="1"/>
          <p:nvPr/>
        </p:nvSpPr>
        <p:spPr>
          <a:xfrm>
            <a:off x="1325880" y="459028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Fertig bedruckt und schnell geliefert aus Deutschland</a:t>
            </a:r>
            <a:endParaRPr lang="en-US" sz="1400" dirty="0"/>
          </a:p>
        </p:txBody>
      </p:sp>
      <p:sp>
        <p:nvSpPr>
          <p:cNvPr id="16" name="Sortiment Überschrift"/>
          <p:cNvSpPr txBox="1"/>
          <p:nvPr/>
        </p:nvSpPr>
        <p:spPr>
          <a:xfrm>
            <a:off x="6309360" y="1417320"/>
            <a:ext cx="5330952" cy="411480"/>
          </a:xfrm>
          <a:prstGeom prst="rect">
            <a:avLst/>
          </a:prstGeom>
          <a:noFill/>
          <a:ln/>
        </p:spPr>
        <p:txBody>
          <a:bodyPr wrap="square" lIns="0" tIns="0" rIns="0" bIns="0" rtlCol="0" anchor="ctr"/>
          <a:lstStyle/>
          <a:p>
            <a:pPr indent="0" marL="0">
              <a:buNone/>
            </a:pPr>
            <a:r>
              <a:rPr lang="en-US" sz="2000" b="1" dirty="0">
                <a:solidFill>
                  <a:schemeClr val="tx1"/>
                </a:solidFill>
              </a:rPr>
              <a:t>Unser Sortiment</a:t>
            </a:r>
            <a:endParaRPr lang="en-US" sz="2000" dirty="0"/>
          </a:p>
        </p:txBody>
      </p:sp>
      <p:sp>
        <p:nvSpPr>
          <p:cNvPr id="17" name="Produkt XXL-Mauspads"/>
          <p:cNvSpPr/>
          <p:nvPr/>
        </p:nvSpPr>
        <p:spPr>
          <a:xfrm>
            <a:off x="6309360" y="2011680"/>
            <a:ext cx="2514600" cy="1463040"/>
          </a:xfrm>
          <a:prstGeom prst="roundRect">
            <a:avLst>
              <a:gd name="adj" fmla="val 7500"/>
            </a:avLst>
          </a:prstGeom>
          <a:solidFill>
            <a:schemeClr val="bg2"/>
          </a:solidFill>
          <a:ln/>
        </p:spPr>
      </p:sp>
      <p:sp>
        <p:nvSpPr>
          <p:cNvPr id="18" name="XXL-Mauspads Kreis"/>
          <p:cNvSpPr/>
          <p:nvPr/>
        </p:nvSpPr>
        <p:spPr>
          <a:xfrm>
            <a:off x="6537960" y="2240280"/>
            <a:ext cx="502920" cy="502920"/>
          </a:xfrm>
          <a:prstGeom prst="ellipse">
            <a:avLst/>
          </a:prstGeom>
          <a:solidFill>
            <a:schemeClr val="accent1"/>
          </a:solidFill>
          <a:ln/>
        </p:spPr>
      </p:sp>
      <p:pic>
        <p:nvPicPr>
          <p:cNvPr id="19" name="XXL-Mauspads Icon" descr="XXL-Mauspads">    </p:cNvPr>
          <p:cNvPicPr>
            <a:picLocks noChangeAspect="1"/>
          </p:cNvPicPr>
          <p:nvPr/>
        </p:nvPicPr>
        <p:blipFill>
          <a:blip r:embed="rId1"/>
          <a:stretch>
            <a:fillRect/>
          </a:stretch>
        </p:blipFill>
        <p:spPr>
          <a:xfrm>
            <a:off x="6663690" y="2366010"/>
            <a:ext cx="251460" cy="251460"/>
          </a:xfrm>
          <a:prstGeom prst="rect">
            <a:avLst/>
          </a:prstGeom>
        </p:spPr>
      </p:pic>
      <p:sp>
        <p:nvSpPr>
          <p:cNvPr id="20" name="XXL-Mauspads Name"/>
          <p:cNvSpPr txBox="1"/>
          <p:nvPr/>
        </p:nvSpPr>
        <p:spPr>
          <a:xfrm>
            <a:off x="6537960" y="2834640"/>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XXL-Mauspads</a:t>
            </a:r>
            <a:endParaRPr lang="en-US" sz="1600" dirty="0"/>
          </a:p>
        </p:txBody>
      </p:sp>
      <p:sp>
        <p:nvSpPr>
          <p:cNvPr id="21" name="XXL-Mauspads Beschreibung"/>
          <p:cNvSpPr txBox="1"/>
          <p:nvPr/>
        </p:nvSpPr>
        <p:spPr>
          <a:xfrm>
            <a:off x="6537960" y="3108960"/>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mit eigenem Motiv</a:t>
            </a:r>
            <a:endParaRPr lang="en-US" sz="1200" dirty="0"/>
          </a:p>
        </p:txBody>
      </p:sp>
      <p:sp>
        <p:nvSpPr>
          <p:cNvPr id="22" name="Produkt Controller-Skins"/>
          <p:cNvSpPr/>
          <p:nvPr/>
        </p:nvSpPr>
        <p:spPr>
          <a:xfrm>
            <a:off x="9125712" y="2011680"/>
            <a:ext cx="2514600" cy="1463040"/>
          </a:xfrm>
          <a:prstGeom prst="roundRect">
            <a:avLst>
              <a:gd name="adj" fmla="val 7500"/>
            </a:avLst>
          </a:prstGeom>
          <a:solidFill>
            <a:schemeClr val="bg2"/>
          </a:solidFill>
          <a:ln/>
        </p:spPr>
      </p:sp>
      <p:sp>
        <p:nvSpPr>
          <p:cNvPr id="23" name="Controller-Skins Kreis"/>
          <p:cNvSpPr/>
          <p:nvPr/>
        </p:nvSpPr>
        <p:spPr>
          <a:xfrm>
            <a:off x="9354312" y="2240280"/>
            <a:ext cx="502920" cy="502920"/>
          </a:xfrm>
          <a:prstGeom prst="ellipse">
            <a:avLst/>
          </a:prstGeom>
          <a:solidFill>
            <a:schemeClr val="accent4"/>
          </a:solidFill>
          <a:ln/>
        </p:spPr>
      </p:sp>
      <p:pic>
        <p:nvPicPr>
          <p:cNvPr id="24" name="Controller-Skins Icon" descr="Controller-Skins">    </p:cNvPr>
          <p:cNvPicPr>
            <a:picLocks noChangeAspect="1"/>
          </p:cNvPicPr>
          <p:nvPr/>
        </p:nvPicPr>
        <p:blipFill>
          <a:blip r:embed="rId2"/>
          <a:stretch>
            <a:fillRect/>
          </a:stretch>
        </p:blipFill>
        <p:spPr>
          <a:xfrm>
            <a:off x="9480042" y="2366010"/>
            <a:ext cx="251460" cy="251460"/>
          </a:xfrm>
          <a:prstGeom prst="rect">
            <a:avLst/>
          </a:prstGeom>
        </p:spPr>
      </p:pic>
      <p:sp>
        <p:nvSpPr>
          <p:cNvPr id="25" name="Controller-Skins Name"/>
          <p:cNvSpPr txBox="1"/>
          <p:nvPr/>
        </p:nvSpPr>
        <p:spPr>
          <a:xfrm>
            <a:off x="9354312" y="2834640"/>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Controller-Skins</a:t>
            </a:r>
            <a:endParaRPr lang="en-US" sz="1600" dirty="0"/>
          </a:p>
        </p:txBody>
      </p:sp>
      <p:sp>
        <p:nvSpPr>
          <p:cNvPr id="26" name="Controller-Skins Beschreibung"/>
          <p:cNvSpPr txBox="1"/>
          <p:nvPr/>
        </p:nvSpPr>
        <p:spPr>
          <a:xfrm>
            <a:off x="9354312" y="3108960"/>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für PS5, Xbox und Switch</a:t>
            </a:r>
            <a:endParaRPr lang="en-US" sz="1200" dirty="0"/>
          </a:p>
        </p:txBody>
      </p:sp>
      <p:sp>
        <p:nvSpPr>
          <p:cNvPr id="27" name="Produkt Custom Keycaps"/>
          <p:cNvSpPr/>
          <p:nvPr/>
        </p:nvSpPr>
        <p:spPr>
          <a:xfrm>
            <a:off x="6309360" y="3776472"/>
            <a:ext cx="2514600" cy="1463040"/>
          </a:xfrm>
          <a:prstGeom prst="roundRect">
            <a:avLst>
              <a:gd name="adj" fmla="val 7500"/>
            </a:avLst>
          </a:prstGeom>
          <a:solidFill>
            <a:schemeClr val="bg2"/>
          </a:solidFill>
          <a:ln/>
        </p:spPr>
      </p:sp>
      <p:sp>
        <p:nvSpPr>
          <p:cNvPr id="28" name="Custom Keycaps Kreis"/>
          <p:cNvSpPr/>
          <p:nvPr/>
        </p:nvSpPr>
        <p:spPr>
          <a:xfrm>
            <a:off x="6537960" y="4005072"/>
            <a:ext cx="502920" cy="502920"/>
          </a:xfrm>
          <a:prstGeom prst="ellipse">
            <a:avLst/>
          </a:prstGeom>
          <a:solidFill>
            <a:schemeClr val="accent1"/>
          </a:solidFill>
          <a:ln/>
        </p:spPr>
      </p:sp>
      <p:pic>
        <p:nvPicPr>
          <p:cNvPr id="29" name="Custom Keycaps Icon" descr="Custom Keycaps">    </p:cNvPr>
          <p:cNvPicPr>
            <a:picLocks noChangeAspect="1"/>
          </p:cNvPicPr>
          <p:nvPr/>
        </p:nvPicPr>
        <p:blipFill>
          <a:blip r:embed="rId3"/>
          <a:stretch>
            <a:fillRect/>
          </a:stretch>
        </p:blipFill>
        <p:spPr>
          <a:xfrm>
            <a:off x="6663690" y="4130802"/>
            <a:ext cx="251460" cy="251460"/>
          </a:xfrm>
          <a:prstGeom prst="rect">
            <a:avLst/>
          </a:prstGeom>
        </p:spPr>
      </p:pic>
      <p:sp>
        <p:nvSpPr>
          <p:cNvPr id="30" name="Custom Keycaps Name"/>
          <p:cNvSpPr txBox="1"/>
          <p:nvPr/>
        </p:nvSpPr>
        <p:spPr>
          <a:xfrm>
            <a:off x="6537960" y="4599432"/>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Custom Keycaps</a:t>
            </a:r>
            <a:endParaRPr lang="en-US" sz="1600" dirty="0"/>
          </a:p>
        </p:txBody>
      </p:sp>
      <p:sp>
        <p:nvSpPr>
          <p:cNvPr id="31" name="Custom Keycaps Beschreibung"/>
          <p:cNvSpPr txBox="1"/>
          <p:nvPr/>
        </p:nvSpPr>
        <p:spPr>
          <a:xfrm>
            <a:off x="6537960" y="4873752"/>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mit Gamertag oder Logo</a:t>
            </a:r>
            <a:endParaRPr lang="en-US" sz="1200" dirty="0"/>
          </a:p>
        </p:txBody>
      </p:sp>
      <p:sp>
        <p:nvSpPr>
          <p:cNvPr id="32" name="Produkt LED-Schilder"/>
          <p:cNvSpPr/>
          <p:nvPr/>
        </p:nvSpPr>
        <p:spPr>
          <a:xfrm>
            <a:off x="9125712" y="3776472"/>
            <a:ext cx="2514600" cy="1463040"/>
          </a:xfrm>
          <a:prstGeom prst="roundRect">
            <a:avLst>
              <a:gd name="adj" fmla="val 7500"/>
            </a:avLst>
          </a:prstGeom>
          <a:solidFill>
            <a:schemeClr val="bg2"/>
          </a:solidFill>
          <a:ln/>
        </p:spPr>
      </p:sp>
      <p:sp>
        <p:nvSpPr>
          <p:cNvPr id="33" name="LED-Schilder Kreis"/>
          <p:cNvSpPr/>
          <p:nvPr/>
        </p:nvSpPr>
        <p:spPr>
          <a:xfrm>
            <a:off x="9354312" y="4005072"/>
            <a:ext cx="502920" cy="502920"/>
          </a:xfrm>
          <a:prstGeom prst="ellipse">
            <a:avLst/>
          </a:prstGeom>
          <a:solidFill>
            <a:schemeClr val="accent4"/>
          </a:solidFill>
          <a:ln/>
        </p:spPr>
      </p:sp>
      <p:pic>
        <p:nvPicPr>
          <p:cNvPr id="34" name="LED-Schilder Icon" descr="LED-Schilder">    </p:cNvPr>
          <p:cNvPicPr>
            <a:picLocks noChangeAspect="1"/>
          </p:cNvPicPr>
          <p:nvPr/>
        </p:nvPicPr>
        <p:blipFill>
          <a:blip r:embed="rId4"/>
          <a:stretch>
            <a:fillRect/>
          </a:stretch>
        </p:blipFill>
        <p:spPr>
          <a:xfrm>
            <a:off x="9480042" y="4130802"/>
            <a:ext cx="251460" cy="251460"/>
          </a:xfrm>
          <a:prstGeom prst="rect">
            <a:avLst/>
          </a:prstGeom>
        </p:spPr>
      </p:pic>
      <p:sp>
        <p:nvSpPr>
          <p:cNvPr id="35" name="LED-Schilder Name"/>
          <p:cNvSpPr txBox="1"/>
          <p:nvPr/>
        </p:nvSpPr>
        <p:spPr>
          <a:xfrm>
            <a:off x="9354312" y="4599432"/>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LED-Schilder</a:t>
            </a:r>
            <a:endParaRPr lang="en-US" sz="1600" dirty="0"/>
          </a:p>
        </p:txBody>
      </p:sp>
      <p:sp>
        <p:nvSpPr>
          <p:cNvPr id="36" name="LED-Schilder Beschreibung"/>
          <p:cNvSpPr txBox="1"/>
          <p:nvPr/>
        </p:nvSpPr>
        <p:spPr>
          <a:xfrm>
            <a:off x="9354312" y="4873752"/>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Neon-Schriftzug mit Namen</a:t>
            </a:r>
            <a:endParaRPr lang="en-US" sz="1200" dirty="0"/>
          </a:p>
        </p:txBody>
      </p:sp>
      <p:sp>
        <p:nvSpPr>
          <p:cNvPr id="37" name="Zielgruppe Hintergrund"/>
          <p:cNvSpPr/>
          <p:nvPr/>
        </p:nvSpPr>
        <p:spPr>
          <a:xfrm>
            <a:off x="548640" y="5440680"/>
            <a:ext cx="11094415" cy="548640"/>
          </a:xfrm>
          <a:prstGeom prst="roundRect">
            <a:avLst>
              <a:gd name="adj" fmla="val 50000"/>
            </a:avLst>
          </a:prstGeom>
          <a:solidFill>
            <a:schemeClr val="accent1"/>
          </a:solidFill>
          <a:ln/>
        </p:spPr>
      </p:sp>
      <p:sp>
        <p:nvSpPr>
          <p:cNvPr id="38" name="Zielgruppe Text"/>
          <p:cNvSpPr txBox="1"/>
          <p:nvPr/>
        </p:nvSpPr>
        <p:spPr>
          <a:xfrm>
            <a:off x="822960" y="5440680"/>
            <a:ext cx="10545775" cy="548640"/>
          </a:xfrm>
          <a:prstGeom prst="rect">
            <a:avLst/>
          </a:prstGeom>
          <a:noFill/>
          <a:ln/>
        </p:spPr>
        <p:txBody>
          <a:bodyPr wrap="square" lIns="0" tIns="0" rIns="0" bIns="0" rtlCol="0" anchor="ctr"/>
          <a:lstStyle/>
          <a:p>
            <a:pPr indent="0" marL="0">
              <a:buNone/>
            </a:pPr>
            <a:r>
              <a:rPr lang="en-US" sz="1600" b="1" dirty="0">
                <a:solidFill>
                  <a:schemeClr val="bg1"/>
                </a:solidFill>
              </a:rPr>
              <a:t>Zielgruppe: </a:t>
            </a:r>
            <a:pPr indent="0" marL="0">
              <a:buNone/>
            </a:pPr>
            <a:r>
              <a:rPr lang="en-US" sz="1600" dirty="0">
                <a:solidFill>
                  <a:schemeClr val="bg1"/>
                </a:solidFill>
              </a:rPr>
              <a:t>Gamer und Streamer zwischen 16 und 30, die ein Setup wollen, das es nur einmal gibt</a:t>
            </a:r>
            <a:endParaRPr lang="en-US" sz="1600" dirty="0"/>
          </a:p>
        </p:txBody>
      </p:sp>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Name und Logo</a:t>
            </a:r>
            <a:endParaRPr lang="en-US" sz="3400" dirty="0"/>
          </a:p>
        </p:txBody>
      </p:sp>
      <p:sp>
        <p:nvSpPr>
          <p:cNvPr id="3" name="Logo Karte"/>
          <p:cNvSpPr/>
          <p:nvPr/>
        </p:nvSpPr>
        <p:spPr>
          <a:xfrm>
            <a:off x="548640" y="1463040"/>
            <a:ext cx="3840480" cy="3840480"/>
          </a:xfrm>
          <a:prstGeom prst="roundRect">
            <a:avLst>
              <a:gd name="adj" fmla="val 3571"/>
            </a:avLst>
          </a:prstGeom>
          <a:solidFill>
            <a:schemeClr val="bg1"/>
          </a:solidFill>
          <a:ln w="12700">
            <a:solidFill>
              <a:srgbClr val="E5E0F5"/>
            </a:solidFill>
            <a:prstDash val="solid"/>
          </a:ln>
          <a:effectLst>
            <a:outerShdw sx="100000" sy="100000" kx="0" ky="0" algn="bl" rotWithShape="0" blurRad="101600" dist="25400" dir="5400000">
              <a:srgbClr val="2E1065">
                <a:alpha val="12000"/>
              </a:srgbClr>
            </a:outerShdw>
          </a:effectLst>
        </p:spPr>
      </p:sp>
      <p:pic>
        <p:nvPicPr>
          <p:cNvPr id="4" name="Logo Symbol" descr="Logo-Symbol: offene violette Schatztruhe mit goldenen Beschlägen, aus der Licht strahlt">    </p:cNvPr>
          <p:cNvPicPr>
            <a:picLocks noChangeAspect="1"/>
          </p:cNvPicPr>
          <p:nvPr/>
        </p:nvPicPr>
        <p:blipFill>
          <a:blip r:embed="rId1"/>
          <a:stretch>
            <a:fillRect/>
          </a:stretch>
        </p:blipFill>
        <p:spPr>
          <a:xfrm>
            <a:off x="868680" y="1783080"/>
            <a:ext cx="3200400" cy="3200400"/>
          </a:xfrm>
          <a:prstGeom prst="rect">
            <a:avLst/>
          </a:prstGeom>
        </p:spPr>
      </p:pic>
      <p:sp>
        <p:nvSpPr>
          <p:cNvPr id="5" name="Logo Erklärung"/>
          <p:cNvSpPr txBox="1"/>
          <p:nvPr/>
        </p:nvSpPr>
        <p:spPr>
          <a:xfrm>
            <a:off x="548640" y="5440680"/>
            <a:ext cx="3840480" cy="594360"/>
          </a:xfrm>
          <a:prstGeom prst="rect">
            <a:avLst/>
          </a:prstGeom>
          <a:noFill/>
          <a:ln/>
        </p:spPr>
        <p:txBody>
          <a:bodyPr wrap="square" lIns="0" tIns="0" rIns="0" bIns="0" rtlCol="0" anchor="t"/>
          <a:lstStyle/>
          <a:p>
            <a:pPr algn="l" indent="0" marL="0">
              <a:buNone/>
            </a:pPr>
            <a:r>
              <a:rPr lang="en-US" sz="1200" dirty="0">
                <a:solidFill>
                  <a:schemeClr val="accent6"/>
                </a:solidFill>
              </a:rPr>
              <a:t>Die Loot-Truhe: Wer bei uns bestellt, bekommt seine Belohnung.</a:t>
            </a:r>
            <a:endParaRPr lang="en-US" sz="1200" dirty="0"/>
          </a:p>
          <a:p>
            <a:pPr algn="l" indent="0" marL="0">
              <a:buNone/>
            </a:pPr>
            <a:r>
              <a:rPr lang="en-US" sz="1200" i="1" dirty="0">
                <a:solidFill>
                  <a:schemeClr val="accent6"/>
                </a:solidFill>
              </a:rPr>
              <a:t>Logo erstellt mit ChatGPT (KI)</a:t>
            </a:r>
            <a:endParaRPr lang="en-US" sz="1200" dirty="0"/>
          </a:p>
        </p:txBody>
      </p:sp>
      <p:sp>
        <p:nvSpPr>
          <p:cNvPr id="6" name="Wort Loot"/>
          <p:cNvSpPr txBox="1"/>
          <p:nvPr/>
        </p:nvSpPr>
        <p:spPr>
          <a:xfrm>
            <a:off x="4846320" y="1463040"/>
            <a:ext cx="21945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Loot</a:t>
            </a:r>
            <a:endParaRPr lang="en-US" sz="2800" dirty="0"/>
          </a:p>
        </p:txBody>
      </p:sp>
      <p:sp>
        <p:nvSpPr>
          <p:cNvPr id="7" name="Bedeutung Loot"/>
          <p:cNvSpPr txBox="1"/>
          <p:nvPr/>
        </p:nvSpPr>
        <p:spPr>
          <a:xfrm>
            <a:off x="7086600" y="1463040"/>
            <a:ext cx="4556455" cy="548640"/>
          </a:xfrm>
          <a:prstGeom prst="rect">
            <a:avLst/>
          </a:prstGeom>
          <a:noFill/>
          <a:ln/>
        </p:spPr>
        <p:txBody>
          <a:bodyPr wrap="square" lIns="0" tIns="0" rIns="0" bIns="0" rtlCol="0" anchor="ctr"/>
          <a:lstStyle/>
          <a:p>
            <a:pPr indent="0" marL="0">
              <a:buNone/>
            </a:pPr>
            <a:r>
              <a:rPr lang="en-US" sz="1700" dirty="0">
                <a:solidFill>
                  <a:schemeClr val="tx1"/>
                </a:solidFill>
              </a:rPr>
              <a:t>= Beute bzw. Belohnung in Videospielen</a:t>
            </a:r>
            <a:endParaRPr lang="en-US" sz="1700" dirty="0"/>
          </a:p>
        </p:txBody>
      </p:sp>
      <p:sp>
        <p:nvSpPr>
          <p:cNvPr id="8" name="Wort Lager"/>
          <p:cNvSpPr txBox="1"/>
          <p:nvPr/>
        </p:nvSpPr>
        <p:spPr>
          <a:xfrm>
            <a:off x="4846320" y="2240280"/>
            <a:ext cx="2194560" cy="54864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Lager</a:t>
            </a:r>
            <a:endParaRPr lang="en-US" sz="2800" dirty="0"/>
          </a:p>
        </p:txBody>
      </p:sp>
      <p:sp>
        <p:nvSpPr>
          <p:cNvPr id="9" name="Bedeutung Lager"/>
          <p:cNvSpPr txBox="1"/>
          <p:nvPr/>
        </p:nvSpPr>
        <p:spPr>
          <a:xfrm>
            <a:off x="7086600" y="2240280"/>
            <a:ext cx="4556455" cy="548640"/>
          </a:xfrm>
          <a:prstGeom prst="rect">
            <a:avLst/>
          </a:prstGeom>
          <a:noFill/>
          <a:ln/>
        </p:spPr>
        <p:txBody>
          <a:bodyPr wrap="square" lIns="0" tIns="0" rIns="0" bIns="0" rtlCol="0" anchor="ctr"/>
          <a:lstStyle/>
          <a:p>
            <a:pPr indent="0" marL="0">
              <a:buNone/>
            </a:pPr>
            <a:r>
              <a:rPr lang="en-US" sz="1700" dirty="0">
                <a:solidFill>
                  <a:schemeClr val="tx1"/>
                </a:solidFill>
              </a:rPr>
              <a:t>= unser Shop, in dem alles bereitliegt</a:t>
            </a:r>
            <a:endParaRPr lang="en-US" sz="1700" dirty="0"/>
          </a:p>
        </p:txBody>
      </p:sp>
      <p:sp>
        <p:nvSpPr>
          <p:cNvPr id="10" name="Wort LootLager"/>
          <p:cNvSpPr txBox="1"/>
          <p:nvPr/>
        </p:nvSpPr>
        <p:spPr>
          <a:xfrm>
            <a:off x="4846320" y="3017520"/>
            <a:ext cx="2194560" cy="548640"/>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LootLager</a:t>
            </a:r>
            <a:endParaRPr lang="en-US" sz="2800" dirty="0"/>
          </a:p>
        </p:txBody>
      </p:sp>
      <p:sp>
        <p:nvSpPr>
          <p:cNvPr id="11" name="Bedeutung LootLager"/>
          <p:cNvSpPr txBox="1"/>
          <p:nvPr/>
        </p:nvSpPr>
        <p:spPr>
          <a:xfrm>
            <a:off x="7086600" y="3017520"/>
            <a:ext cx="4556455" cy="548640"/>
          </a:xfrm>
          <a:prstGeom prst="rect">
            <a:avLst/>
          </a:prstGeom>
          <a:noFill/>
          <a:ln/>
        </p:spPr>
        <p:txBody>
          <a:bodyPr wrap="square" lIns="0" tIns="0" rIns="0" bIns="0" rtlCol="0" anchor="ctr"/>
          <a:lstStyle/>
          <a:p>
            <a:pPr indent="0" marL="0">
              <a:buNone/>
            </a:pPr>
            <a:r>
              <a:rPr lang="en-US" sz="1700" dirty="0">
                <a:solidFill>
                  <a:schemeClr val="tx1"/>
                </a:solidFill>
              </a:rPr>
              <a:t>= das Lager voller Beute für dein Setup</a:t>
            </a:r>
            <a:endParaRPr lang="en-US" sz="1700" dirty="0"/>
          </a:p>
        </p:txBody>
      </p:sp>
      <p:sp>
        <p:nvSpPr>
          <p:cNvPr id="12" name="FIRMA Karte"/>
          <p:cNvSpPr/>
          <p:nvPr/>
        </p:nvSpPr>
        <p:spPr>
          <a:xfrm>
            <a:off x="4846320" y="3886200"/>
            <a:ext cx="3247492" cy="1645920"/>
          </a:xfrm>
          <a:prstGeom prst="roundRect">
            <a:avLst>
              <a:gd name="adj" fmla="val 6667"/>
            </a:avLst>
          </a:prstGeom>
          <a:solidFill>
            <a:schemeClr val="bg2"/>
          </a:solidFill>
          <a:ln/>
        </p:spPr>
      </p:sp>
      <p:sp>
        <p:nvSpPr>
          <p:cNvPr id="13" name="FIRMA Label"/>
          <p:cNvSpPr txBox="1"/>
          <p:nvPr/>
        </p:nvSpPr>
        <p:spPr>
          <a:xfrm>
            <a:off x="5074920" y="4069080"/>
            <a:ext cx="2790292"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FIRMA</a:t>
            </a:r>
            <a:endParaRPr lang="en-US" sz="1200" dirty="0"/>
          </a:p>
        </p:txBody>
      </p:sp>
      <p:sp>
        <p:nvSpPr>
          <p:cNvPr id="14" name="FIRMA Wert"/>
          <p:cNvSpPr txBox="1"/>
          <p:nvPr/>
        </p:nvSpPr>
        <p:spPr>
          <a:xfrm>
            <a:off x="5074920" y="4343400"/>
            <a:ext cx="2790292" cy="566928"/>
          </a:xfrm>
          <a:prstGeom prst="rect">
            <a:avLst/>
          </a:prstGeom>
          <a:noFill/>
          <a:ln/>
        </p:spPr>
        <p:txBody>
          <a:bodyPr wrap="square" lIns="0" tIns="0" rIns="0" bIns="0" rtlCol="0" anchor="t"/>
          <a:lstStyle/>
          <a:p>
            <a:pPr indent="0" marL="0">
              <a:buNone/>
            </a:pPr>
            <a:r>
              <a:rPr lang="en-US" sz="1600" b="1" dirty="0">
                <a:solidFill>
                  <a:schemeClr val="tx1"/>
                </a:solidFill>
              </a:rPr>
              <a:t>LootLager UG (haftungsbeschränkt)</a:t>
            </a:r>
            <a:endParaRPr lang="en-US" sz="1600" dirty="0"/>
          </a:p>
        </p:txBody>
      </p:sp>
      <p:sp>
        <p:nvSpPr>
          <p:cNvPr id="15" name="FIRMA Beschreibung"/>
          <p:cNvSpPr txBox="1"/>
          <p:nvPr/>
        </p:nvSpPr>
        <p:spPr>
          <a:xfrm>
            <a:off x="5074920" y="5029200"/>
            <a:ext cx="2790292" cy="320040"/>
          </a:xfrm>
          <a:prstGeom prst="rect">
            <a:avLst/>
          </a:prstGeom>
          <a:noFill/>
          <a:ln/>
        </p:spPr>
        <p:txBody>
          <a:bodyPr wrap="square" lIns="0" tIns="0" rIns="0" bIns="0" rtlCol="0" anchor="t"/>
          <a:lstStyle/>
          <a:p>
            <a:pPr indent="0" marL="0">
              <a:buNone/>
            </a:pPr>
            <a:r>
              <a:rPr lang="en-US" sz="1200" dirty="0">
                <a:solidFill>
                  <a:schemeClr val="accent6"/>
                </a:solidFill>
              </a:rPr>
              <a:t>rechtlicher Name, steht im Handelsregister</a:t>
            </a:r>
            <a:endParaRPr lang="en-US" sz="1200" dirty="0"/>
          </a:p>
        </p:txBody>
      </p:sp>
      <p:sp>
        <p:nvSpPr>
          <p:cNvPr id="16" name="MARKE Karte"/>
          <p:cNvSpPr/>
          <p:nvPr/>
        </p:nvSpPr>
        <p:spPr>
          <a:xfrm>
            <a:off x="8395564" y="3886200"/>
            <a:ext cx="3247492" cy="1645920"/>
          </a:xfrm>
          <a:prstGeom prst="roundRect">
            <a:avLst>
              <a:gd name="adj" fmla="val 6667"/>
            </a:avLst>
          </a:prstGeom>
          <a:solidFill>
            <a:schemeClr val="bg2"/>
          </a:solidFill>
          <a:ln/>
        </p:spPr>
      </p:sp>
      <p:sp>
        <p:nvSpPr>
          <p:cNvPr id="17" name="MARKE Label"/>
          <p:cNvSpPr txBox="1"/>
          <p:nvPr/>
        </p:nvSpPr>
        <p:spPr>
          <a:xfrm>
            <a:off x="8624164" y="4069080"/>
            <a:ext cx="2790292"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MARKE</a:t>
            </a:r>
            <a:endParaRPr lang="en-US" sz="1200" dirty="0"/>
          </a:p>
        </p:txBody>
      </p:sp>
      <p:sp>
        <p:nvSpPr>
          <p:cNvPr id="18" name="MARKE Wert"/>
          <p:cNvSpPr txBox="1"/>
          <p:nvPr/>
        </p:nvSpPr>
        <p:spPr>
          <a:xfrm>
            <a:off x="8624164" y="4343400"/>
            <a:ext cx="2790292" cy="566928"/>
          </a:xfrm>
          <a:prstGeom prst="rect">
            <a:avLst/>
          </a:prstGeom>
          <a:noFill/>
          <a:ln/>
        </p:spPr>
        <p:txBody>
          <a:bodyPr wrap="square" lIns="0" tIns="0" rIns="0" bIns="0" rtlCol="0" anchor="t"/>
          <a:lstStyle/>
          <a:p>
            <a:pPr indent="0" marL="0">
              <a:buNone/>
            </a:pPr>
            <a:r>
              <a:rPr lang="en-US" sz="1600" b="1" dirty="0">
                <a:solidFill>
                  <a:schemeClr val="tx1"/>
                </a:solidFill>
              </a:rPr>
              <a:t>LootLager</a:t>
            </a:r>
            <a:endParaRPr lang="en-US" sz="1600" dirty="0"/>
          </a:p>
        </p:txBody>
      </p:sp>
      <p:sp>
        <p:nvSpPr>
          <p:cNvPr id="19" name="MARKE Beschreibung"/>
          <p:cNvSpPr txBox="1"/>
          <p:nvPr/>
        </p:nvSpPr>
        <p:spPr>
          <a:xfrm>
            <a:off x="8624164" y="5029200"/>
            <a:ext cx="2790292" cy="320040"/>
          </a:xfrm>
          <a:prstGeom prst="rect">
            <a:avLst/>
          </a:prstGeom>
          <a:noFill/>
          <a:ln/>
        </p:spPr>
        <p:txBody>
          <a:bodyPr wrap="square" lIns="0" tIns="0" rIns="0" bIns="0" rtlCol="0" anchor="t"/>
          <a:lstStyle/>
          <a:p>
            <a:pPr indent="0" marL="0">
              <a:buNone/>
            </a:pPr>
            <a:r>
              <a:rPr lang="en-US" sz="1200" dirty="0">
                <a:solidFill>
                  <a:schemeClr val="accent6"/>
                </a:solidFill>
              </a:rPr>
              <a:t>Name, unter dem Kunden uns kennen</a:t>
            </a:r>
            <a:endParaRPr lang="en-US" sz="1200" dirty="0"/>
          </a:p>
        </p:txBody>
      </p:sp>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Warum eine UG (haftungsbeschränkt)?</a:t>
            </a:r>
            <a:endParaRPr lang="en-US" sz="3400" dirty="0"/>
          </a:p>
        </p:txBody>
      </p:sp>
      <p:sp>
        <p:nvSpPr>
          <p:cNvPr id="3" name="Vorteil Haftung beschränkt"/>
          <p:cNvSpPr/>
          <p:nvPr/>
        </p:nvSpPr>
        <p:spPr>
          <a:xfrm>
            <a:off x="548640" y="1463040"/>
            <a:ext cx="3520440" cy="1828800"/>
          </a:xfrm>
          <a:prstGeom prst="roundRect">
            <a:avLst>
              <a:gd name="adj" fmla="val 6000"/>
            </a:avLst>
          </a:prstGeom>
          <a:solidFill>
            <a:schemeClr val="bg2"/>
          </a:solidFill>
          <a:ln/>
        </p:spPr>
      </p:sp>
      <p:sp>
        <p:nvSpPr>
          <p:cNvPr id="4" name="Haftung beschränkt Kreis"/>
          <p:cNvSpPr/>
          <p:nvPr/>
        </p:nvSpPr>
        <p:spPr>
          <a:xfrm>
            <a:off x="822960" y="1737360"/>
            <a:ext cx="548640" cy="548640"/>
          </a:xfrm>
          <a:prstGeom prst="ellipse">
            <a:avLst/>
          </a:prstGeom>
          <a:solidFill>
            <a:schemeClr val="accent1"/>
          </a:solidFill>
          <a:ln/>
        </p:spPr>
      </p:sp>
      <p:pic>
        <p:nvPicPr>
          <p:cNvPr id="5" name="Haftung beschränkt Icon" descr="Haftung beschränkt">    </p:cNvPr>
          <p:cNvPicPr>
            <a:picLocks noChangeAspect="1"/>
          </p:cNvPicPr>
          <p:nvPr/>
        </p:nvPicPr>
        <p:blipFill>
          <a:blip r:embed="rId1"/>
          <a:stretch>
            <a:fillRect/>
          </a:stretch>
        </p:blipFill>
        <p:spPr>
          <a:xfrm>
            <a:off x="960120" y="1874520"/>
            <a:ext cx="274320" cy="274320"/>
          </a:xfrm>
          <a:prstGeom prst="rect">
            <a:avLst/>
          </a:prstGeom>
        </p:spPr>
      </p:pic>
      <p:sp>
        <p:nvSpPr>
          <p:cNvPr id="6" name="Haftung beschränkt Titel"/>
          <p:cNvSpPr txBox="1"/>
          <p:nvPr/>
        </p:nvSpPr>
        <p:spPr>
          <a:xfrm>
            <a:off x="150876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Haftung beschränkt</a:t>
            </a:r>
            <a:endParaRPr lang="en-US" sz="1800" dirty="0"/>
          </a:p>
        </p:txBody>
      </p:sp>
      <p:sp>
        <p:nvSpPr>
          <p:cNvPr id="7" name="Haftung beschränkt Text"/>
          <p:cNvSpPr txBox="1"/>
          <p:nvPr/>
        </p:nvSpPr>
        <p:spPr>
          <a:xfrm>
            <a:off x="82296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Bei Schulden haftet nur die Firma, nicht unser Privatvermögen.</a:t>
            </a:r>
            <a:endParaRPr lang="en-US" sz="1400" dirty="0"/>
          </a:p>
        </p:txBody>
      </p:sp>
      <p:sp>
        <p:nvSpPr>
          <p:cNvPr id="8" name="Vorteil Wenig Startkapital"/>
          <p:cNvSpPr/>
          <p:nvPr/>
        </p:nvSpPr>
        <p:spPr>
          <a:xfrm>
            <a:off x="4343400" y="1463040"/>
            <a:ext cx="3520440" cy="1828800"/>
          </a:xfrm>
          <a:prstGeom prst="roundRect">
            <a:avLst>
              <a:gd name="adj" fmla="val 6000"/>
            </a:avLst>
          </a:prstGeom>
          <a:solidFill>
            <a:schemeClr val="bg2"/>
          </a:solidFill>
          <a:ln/>
        </p:spPr>
      </p:sp>
      <p:sp>
        <p:nvSpPr>
          <p:cNvPr id="9" name="Wenig Startkapital Kreis"/>
          <p:cNvSpPr/>
          <p:nvPr/>
        </p:nvSpPr>
        <p:spPr>
          <a:xfrm>
            <a:off x="4617720" y="1737360"/>
            <a:ext cx="548640" cy="548640"/>
          </a:xfrm>
          <a:prstGeom prst="ellipse">
            <a:avLst/>
          </a:prstGeom>
          <a:solidFill>
            <a:schemeClr val="accent1"/>
          </a:solidFill>
          <a:ln/>
        </p:spPr>
      </p:sp>
      <p:pic>
        <p:nvPicPr>
          <p:cNvPr id="10" name="Wenig Startkapital Icon" descr="Wenig Startkapital">    </p:cNvPr>
          <p:cNvPicPr>
            <a:picLocks noChangeAspect="1"/>
          </p:cNvPicPr>
          <p:nvPr/>
        </p:nvPicPr>
        <p:blipFill>
          <a:blip r:embed="rId2"/>
          <a:stretch>
            <a:fillRect/>
          </a:stretch>
        </p:blipFill>
        <p:spPr>
          <a:xfrm>
            <a:off x="4754880" y="1874520"/>
            <a:ext cx="274320" cy="274320"/>
          </a:xfrm>
          <a:prstGeom prst="rect">
            <a:avLst/>
          </a:prstGeom>
        </p:spPr>
      </p:pic>
      <p:sp>
        <p:nvSpPr>
          <p:cNvPr id="11" name="Wenig Startkapital Titel"/>
          <p:cNvSpPr txBox="1"/>
          <p:nvPr/>
        </p:nvSpPr>
        <p:spPr>
          <a:xfrm>
            <a:off x="530352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Wenig Startkapital</a:t>
            </a:r>
            <a:endParaRPr lang="en-US" sz="1800" dirty="0"/>
          </a:p>
        </p:txBody>
      </p:sp>
      <p:sp>
        <p:nvSpPr>
          <p:cNvPr id="12" name="Wenig Startkapital Text"/>
          <p:cNvSpPr txBox="1"/>
          <p:nvPr/>
        </p:nvSpPr>
        <p:spPr>
          <a:xfrm>
            <a:off x="461772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Gründung ab 1 € möglich. Wir starten mit 1.000 €, je 500 € pro Person.</a:t>
            </a:r>
            <a:endParaRPr lang="en-US" sz="1400" dirty="0"/>
          </a:p>
        </p:txBody>
      </p:sp>
      <p:sp>
        <p:nvSpPr>
          <p:cNvPr id="13" name="Vorteil Zwei Gesellschafter"/>
          <p:cNvSpPr/>
          <p:nvPr/>
        </p:nvSpPr>
        <p:spPr>
          <a:xfrm>
            <a:off x="548640" y="3566160"/>
            <a:ext cx="3520440" cy="1828800"/>
          </a:xfrm>
          <a:prstGeom prst="roundRect">
            <a:avLst>
              <a:gd name="adj" fmla="val 6000"/>
            </a:avLst>
          </a:prstGeom>
          <a:solidFill>
            <a:schemeClr val="bg2"/>
          </a:solidFill>
          <a:ln/>
        </p:spPr>
      </p:sp>
      <p:sp>
        <p:nvSpPr>
          <p:cNvPr id="14" name="Zwei Gesellschafter Kreis"/>
          <p:cNvSpPr/>
          <p:nvPr/>
        </p:nvSpPr>
        <p:spPr>
          <a:xfrm>
            <a:off x="822960" y="3840480"/>
            <a:ext cx="548640" cy="548640"/>
          </a:xfrm>
          <a:prstGeom prst="ellipse">
            <a:avLst/>
          </a:prstGeom>
          <a:solidFill>
            <a:schemeClr val="accent1"/>
          </a:solidFill>
          <a:ln/>
        </p:spPr>
      </p:sp>
      <p:pic>
        <p:nvPicPr>
          <p:cNvPr id="15" name="Zwei Gesellschafter Icon" descr="Zwei Gesellschafter">    </p:cNvPr>
          <p:cNvPicPr>
            <a:picLocks noChangeAspect="1"/>
          </p:cNvPicPr>
          <p:nvPr/>
        </p:nvPicPr>
        <p:blipFill>
          <a:blip r:embed="rId3"/>
          <a:stretch>
            <a:fillRect/>
          </a:stretch>
        </p:blipFill>
        <p:spPr>
          <a:xfrm>
            <a:off x="960120" y="3977640"/>
            <a:ext cx="274320" cy="274320"/>
          </a:xfrm>
          <a:prstGeom prst="rect">
            <a:avLst/>
          </a:prstGeom>
        </p:spPr>
      </p:pic>
      <p:sp>
        <p:nvSpPr>
          <p:cNvPr id="16" name="Zwei Gesellschafter Titel"/>
          <p:cNvSpPr txBox="1"/>
          <p:nvPr/>
        </p:nvSpPr>
        <p:spPr>
          <a:xfrm>
            <a:off x="150876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Zwei Gesellschafter</a:t>
            </a:r>
            <a:endParaRPr lang="en-US" sz="1800" dirty="0"/>
          </a:p>
        </p:txBody>
      </p:sp>
      <p:sp>
        <p:nvSpPr>
          <p:cNvPr id="17" name="Zwei Gesellschafter Text"/>
          <p:cNvSpPr txBox="1"/>
          <p:nvPr/>
        </p:nvSpPr>
        <p:spPr>
          <a:xfrm>
            <a:off x="82296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Nick und Luca halten je 50 % und führen gemeinsam die Geschäfte.</a:t>
            </a:r>
            <a:endParaRPr lang="en-US" sz="1400" dirty="0"/>
          </a:p>
        </p:txBody>
      </p:sp>
      <p:sp>
        <p:nvSpPr>
          <p:cNvPr id="18" name="Vorteil Später eine GmbH"/>
          <p:cNvSpPr/>
          <p:nvPr/>
        </p:nvSpPr>
        <p:spPr>
          <a:xfrm>
            <a:off x="4343400" y="3566160"/>
            <a:ext cx="3520440" cy="1828800"/>
          </a:xfrm>
          <a:prstGeom prst="roundRect">
            <a:avLst>
              <a:gd name="adj" fmla="val 6000"/>
            </a:avLst>
          </a:prstGeom>
          <a:solidFill>
            <a:schemeClr val="bg2"/>
          </a:solidFill>
          <a:ln/>
        </p:spPr>
      </p:sp>
      <p:sp>
        <p:nvSpPr>
          <p:cNvPr id="19" name="Später eine GmbH Kreis"/>
          <p:cNvSpPr/>
          <p:nvPr/>
        </p:nvSpPr>
        <p:spPr>
          <a:xfrm>
            <a:off x="4617720" y="3840480"/>
            <a:ext cx="548640" cy="548640"/>
          </a:xfrm>
          <a:prstGeom prst="ellipse">
            <a:avLst/>
          </a:prstGeom>
          <a:solidFill>
            <a:schemeClr val="accent1"/>
          </a:solidFill>
          <a:ln/>
        </p:spPr>
      </p:sp>
      <p:pic>
        <p:nvPicPr>
          <p:cNvPr id="20" name="Später eine GmbH Icon" descr="Später eine GmbH">    </p:cNvPr>
          <p:cNvPicPr>
            <a:picLocks noChangeAspect="1"/>
          </p:cNvPicPr>
          <p:nvPr/>
        </p:nvPicPr>
        <p:blipFill>
          <a:blip r:embed="rId4"/>
          <a:stretch>
            <a:fillRect/>
          </a:stretch>
        </p:blipFill>
        <p:spPr>
          <a:xfrm>
            <a:off x="4754880" y="3977640"/>
            <a:ext cx="274320" cy="274320"/>
          </a:xfrm>
          <a:prstGeom prst="rect">
            <a:avLst/>
          </a:prstGeom>
        </p:spPr>
      </p:pic>
      <p:sp>
        <p:nvSpPr>
          <p:cNvPr id="21" name="Später eine GmbH Titel"/>
          <p:cNvSpPr txBox="1"/>
          <p:nvPr/>
        </p:nvSpPr>
        <p:spPr>
          <a:xfrm>
            <a:off x="530352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Später eine GmbH</a:t>
            </a:r>
            <a:endParaRPr lang="en-US" sz="1800" dirty="0"/>
          </a:p>
        </p:txBody>
      </p:sp>
      <p:sp>
        <p:nvSpPr>
          <p:cNvPr id="22" name="Später eine GmbH Text"/>
          <p:cNvSpPr txBox="1"/>
          <p:nvPr/>
        </p:nvSpPr>
        <p:spPr>
          <a:xfrm>
            <a:off x="461772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Ab 25.000 € Stammkapital können wir zur GmbH werden.</a:t>
            </a:r>
            <a:endParaRPr lang="en-US" sz="1400" dirty="0"/>
          </a:p>
        </p:txBody>
      </p:sp>
      <p:sp>
        <p:nvSpPr>
          <p:cNvPr id="23" name="Nachteile Karte"/>
          <p:cNvSpPr/>
          <p:nvPr/>
        </p:nvSpPr>
        <p:spPr>
          <a:xfrm>
            <a:off x="8183880" y="1463040"/>
            <a:ext cx="3459175" cy="3931920"/>
          </a:xfrm>
          <a:prstGeom prst="roundRect">
            <a:avLst>
              <a:gd name="adj" fmla="val 3172"/>
            </a:avLst>
          </a:prstGeom>
          <a:solidFill>
            <a:schemeClr val="accent3">
              <a:alpha val="18000"/>
            </a:schemeClr>
          </a:solidFill>
          <a:ln/>
        </p:spPr>
      </p:sp>
      <p:sp>
        <p:nvSpPr>
          <p:cNvPr id="24" name="Nachteile Kreis"/>
          <p:cNvSpPr/>
          <p:nvPr/>
        </p:nvSpPr>
        <p:spPr>
          <a:xfrm>
            <a:off x="8458200" y="1737360"/>
            <a:ext cx="548640" cy="548640"/>
          </a:xfrm>
          <a:prstGeom prst="ellipse">
            <a:avLst/>
          </a:prstGeom>
          <a:solidFill>
            <a:schemeClr val="accent3"/>
          </a:solidFill>
          <a:ln/>
        </p:spPr>
      </p:sp>
      <p:pic>
        <p:nvPicPr>
          <p:cNvPr id="25" name="Nachteile Icon" descr="Nachteile">    </p:cNvPr>
          <p:cNvPicPr>
            <a:picLocks noChangeAspect="1"/>
          </p:cNvPicPr>
          <p:nvPr/>
        </p:nvPicPr>
        <p:blipFill>
          <a:blip r:embed="rId5"/>
          <a:stretch>
            <a:fillRect/>
          </a:stretch>
        </p:blipFill>
        <p:spPr>
          <a:xfrm>
            <a:off x="8595360" y="1874520"/>
            <a:ext cx="274320" cy="274320"/>
          </a:xfrm>
          <a:prstGeom prst="rect">
            <a:avLst/>
          </a:prstGeom>
        </p:spPr>
      </p:pic>
      <p:sp>
        <p:nvSpPr>
          <p:cNvPr id="26" name="Nachteile Titel"/>
          <p:cNvSpPr txBox="1"/>
          <p:nvPr/>
        </p:nvSpPr>
        <p:spPr>
          <a:xfrm>
            <a:off x="9144000" y="1737360"/>
            <a:ext cx="2270455" cy="548640"/>
          </a:xfrm>
          <a:prstGeom prst="rect">
            <a:avLst/>
          </a:prstGeom>
          <a:noFill/>
          <a:ln/>
        </p:spPr>
        <p:txBody>
          <a:bodyPr wrap="square" lIns="0" tIns="0" rIns="0" bIns="0" rtlCol="0" anchor="ctr"/>
          <a:lstStyle/>
          <a:p>
            <a:pPr indent="0" marL="0">
              <a:buNone/>
            </a:pPr>
            <a:r>
              <a:rPr lang="en-US" sz="1800" b="1" dirty="0">
                <a:solidFill>
                  <a:schemeClr val="tx1"/>
                </a:solidFill>
              </a:rPr>
              <a:t>Nachteile</a:t>
            </a:r>
            <a:endParaRPr lang="en-US" sz="1800" dirty="0"/>
          </a:p>
        </p:txBody>
      </p:sp>
      <p:sp>
        <p:nvSpPr>
          <p:cNvPr id="27" name="Nachteile Liste"/>
          <p:cNvSpPr txBox="1"/>
          <p:nvPr/>
        </p:nvSpPr>
        <p:spPr>
          <a:xfrm>
            <a:off x="8458200" y="2514600"/>
            <a:ext cx="2956255"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25 % vom Gewinn müssen in die Rücklage</a:t>
            </a:r>
            <a:endParaRPr lang="en-US" sz="1400" dirty="0"/>
          </a:p>
          <a:p>
            <a:pPr marL="342900" indent="-342900">
              <a:spcAft>
                <a:spcPts val="1000"/>
              </a:spcAft>
              <a:buSzPct val="100000"/>
              <a:buChar char="•"/>
            </a:pPr>
            <a:r>
              <a:rPr lang="en-US" sz="1400" dirty="0">
                <a:solidFill>
                  <a:schemeClr val="tx1"/>
                </a:solidFill>
              </a:rPr>
              <a:t>Notar und Handelsregister kosten Geld</a:t>
            </a:r>
            <a:endParaRPr lang="en-US" sz="1400" dirty="0"/>
          </a:p>
          <a:p>
            <a:pPr marL="342900" indent="-342900">
              <a:spcAft>
                <a:spcPts val="1000"/>
              </a:spcAft>
              <a:buSzPct val="100000"/>
              <a:buChar char="•"/>
            </a:pPr>
            <a:r>
              <a:rPr lang="en-US" sz="1400" dirty="0">
                <a:solidFill>
                  <a:schemeClr val="tx1"/>
                </a:solidFill>
              </a:rPr>
              <a:t>Wirkt bei Banken und Lieferanten weniger kreditwürdig</a:t>
            </a:r>
            <a:endParaRPr lang="en-US" sz="1400" dirty="0"/>
          </a:p>
        </p:txBody>
      </p:sp>
      <p:sp>
        <p:nvSpPr>
          <p:cNvPr id="28" name="Alternative"/>
          <p:cNvSpPr txBox="1"/>
          <p:nvPr/>
        </p:nvSpPr>
        <p:spPr>
          <a:xfrm>
            <a:off x="548640" y="5532120"/>
            <a:ext cx="9509760" cy="411480"/>
          </a:xfrm>
          <a:prstGeom prst="rect">
            <a:avLst/>
          </a:prstGeom>
          <a:noFill/>
          <a:ln/>
        </p:spPr>
        <p:txBody>
          <a:bodyPr wrap="square" lIns="0" tIns="0" rIns="0" bIns="0" rtlCol="0" anchor="ctr"/>
          <a:lstStyle/>
          <a:p>
            <a:pPr indent="0" marL="0">
              <a:buNone/>
            </a:pPr>
            <a:r>
              <a:rPr lang="en-US" sz="1400" b="1" dirty="0">
                <a:solidFill>
                  <a:schemeClr val="accent6"/>
                </a:solidFill>
              </a:rPr>
              <a:t>Alternative GmbH: </a:t>
            </a:r>
            <a:pPr indent="0" marL="0">
              <a:buNone/>
            </a:pPr>
            <a:r>
              <a:rPr lang="en-US" sz="1400" dirty="0">
                <a:solidFill>
                  <a:schemeClr val="accent6"/>
                </a:solidFill>
              </a:rPr>
              <a:t>braucht 25.000 € Stammkapital, davon mindestens 12.500 € bei der Anmeldung.</a:t>
            </a:r>
            <a:endParaRPr lang="en-US" sz="1400" dirty="0"/>
          </a:p>
        </p:txBody>
      </p:sp>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LootLager">
  <a:themeElements>
    <a:clrScheme name="LootLager">
      <a:dk1>
        <a:srgbClr val="111827"/>
      </a:dk1>
      <a:lt1>
        <a:srgbClr val="FFFFFF"/>
      </a:lt1>
      <a:dk2>
        <a:srgbClr val="2E1065"/>
      </a:dk2>
      <a:lt2>
        <a:srgbClr val="F3EEFF"/>
      </a:lt2>
      <a:accent1>
        <a:srgbClr val="7C3AED"/>
      </a:accent1>
      <a:accent2>
        <a:srgbClr val="22D3EE"/>
      </a:accent2>
      <a:accent3>
        <a:srgbClr val="F5B82E"/>
      </a:accent3>
      <a:accent4>
        <a:srgbClr val="0E7490"/>
      </a:accent4>
      <a:accent5>
        <a:srgbClr val="C4B5FD"/>
      </a:accent5>
      <a:accent6>
        <a:srgbClr val="5B6472"/>
      </a:accent6>
      <a:hlink>
        <a:srgbClr val="7C3AED"/>
      </a:hlink>
      <a:folHlink>
        <a:srgbClr val="5B21B6"/>
      </a:folHlink>
    </a:clrScheme>
    <a:fontScheme name="LootLag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LootLager UG (haftungsbeschränkt)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LootLager – Präsentation</dc:title>
  <dc:subject>Gründung der LootLager UG (haftungsbeschränkt)</dc:subject>
  <dc:creator>Gruppe LootLager</dc:creator>
  <cp:lastModifiedBy>Gruppe LootLager</cp:lastModifiedBy>
  <cp:revision>1</cp:revision>
  <dcterms:created xsi:type="dcterms:W3CDTF">2026-10-06T12:57:31Z</dcterms:created>
  <dcterms:modified xsi:type="dcterms:W3CDTF">2026-10-06T12:57:31Z</dcterms:modified>
</cp:coreProperties>
</file>