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11"/>
    <p:sldId id="261" r:id="rId12"/>
    <p:sldId id="262" r:id="rId13"/>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8b2633a6-3486-809e-f6cf-50b33d16ec60}">
          <p14:sldIdLst>
            <p14:sldId id="256"/>
          </p14:sldIdLst>
        </p14:section>
        <p14:section name="Unser Unternehmen" id="{7cf94b8d-eb77-2773-e436-d1b9f7dd084e}">
          <p14:sldIdLst>
            <p14:sldId id="257"/>
            <p14:sldId id="258"/>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SPRECHTEXT (ca. 30 Sekunden):
Wir sind die LootLager UG (haftungsbeschränkt). Wir verkaufen Gaming-Zubehör mit Custom Designs: Unsere Kunden bekommen ihr eigenes Design, entweder selbst hochgeladen oder von uns gestaltet. Unsere Marke heißt genauso wie die Firma: LootLager. Unser Slogan ist „Level up dein Setup.“ Als Rechtsform haben wir die UG (haftungsbeschränkt) gewählt: Wir haften nicht mit unserem Privatvermögen und brauchen kein großes Startkapital.
NACHFRAGE „Warum die UG?“:
Wir sind zwei Gründer und wollen nicht mit unserem Privatvermögen haften. Für eine GmbH fehlen uns die 25.000 € Stammkapital. Die UG gibt uns die beschränkte Haftung schon ab 1 € Stammkapital.
NACHFRAGE „Wer führt die Geschäfte?“:
Wir beide: Nick und Luca sind gemeinsam Geschäftsführer.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verkaufen Gaming-Zubehör, das unsere Kunden selbst gestalten können. Man wählt ein Produkt aus, lädt ein eigenes Motiv hoch oder lässt es von uns gestalten, und wir produzieren und versenden es. Unser Sortiment: XXL-Mauspads, Controller-Skins, Custom Keycaps und LED-Schilder. Unsere Zielgruppe sind Gamer und Streamer zwischen 16 und 30, die ein einzigartiges Setup wollen.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„Loot“ ist in Videospielen die Beute, die man als Belohnung bekommt. „Lager“ steht für unseren Shop, in dem alles für dein Gaming-Setup bereitliegt. Der Name ist kurz, passt zu unserer Zielgruppe und ist durch das doppelte L leicht zu merken.</a:t>
            </a:r>
          </a:p>
          <a:p/>
          <a:p>
            <a:r>
              <a:t>Logo: Die Truhe ist eine Loot-Kiste wie in Videospielen. Wer bei uns bestellt, bekommt seine Belohnung. Violett und Türkis sind typische Gaming-Farben. Das Logo haben wir mit ChatGPT erstellt.</a:t>
            </a:r>
          </a:p>
          <a:p/>
          <a:p>
            <a:r>
              <a:t>NACHFRAGE „Unterschied Firma und Marke?“:</a:t>
            </a:r>
          </a:p>
          <a:p>
            <a:r>
              <a:t>Die Firma ist der rechtliche Name unseres Unternehmens. Sie steht im Handelsregister und enthält die Rechtsform: LootLager UG (haftungsbeschränkt). Die Marke ist der Name, unter dem die Kunden unseren Shop und unsere Produkte kennen: LootLager. Bei uns heißen beide gleich, so erkennt man uns leichter wieder.</a:t>
            </a:r>
          </a:p>
          <a:p/>
          <a:p>
            <a:r>
              <a:t>NACHFRAGE „Gibt es den Namen schon?“:</a:t>
            </a:r>
          </a:p>
          <a:p>
            <a:r>
              <a:t>Unsere Gründung ist fiktiv, deshalb nehmen wir an, dass der Name frei ist. Eine kurze Websuche hat keinen Shop „LootLager“ gefunden. Bei einer echten Gründung würden wir im Handelsregister nach der Firma suchen, beim DPMA nach der Marke und bei der DENIC nach der Domain lootlager.de.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WARUM DIE UG?
Wir sind zwei Gründer und wollen nicht mit unserem Privatvermögen haften. Für eine GmbH fehlen uns die 25.000 € Stammkapital. Die UG gibt uns die beschränkte Haftung schon ab 1 € Stammkapital.
WAS HEISST HAFTUNGSBESCHRÄNKT?
Wenn die Firma Schulden hat, haftet nur das Vermögen der Gesellschaft. Unser privates Geld ist geschützt.
WARUM KEINE GbR ODER OHG?
Dort haftet jeder Gesellschafter unbeschränkt mit seinem Privatvermögen, auch für die Schulden der anderen. Im Onlinehandel ist das zu riskant, z. B. bei Abmahnungen oder wenn wir auf Ware sitzen bleiben.
WARUM KEIN EINZELUNTERNEHMEN?
Ein Einzelunternehmen hat nur einen Inhaber, wir sind aber zu zweit. Außerdem haftet der Inhaber unbeschränkt.
WIE VIEL STAMMKAPITAL?
1.000 €. Nick und Luca sind die Gesellschafter und zahlen je 500 € ein.
WER FÜHRT DIE GESCHÄFTE?
Wir beide: Nick und Luca sind gemeinsam Geschäftsführer. Die Geschäftsführung bestimmen die Gesellschafter, und das sind bei uns auch wir zwei.
WIE GRÜNDET MAN EINE UG?
Gesellschaftsvertrag beim Notar → Stammkapital einzahlen → Eintrag ins Handelsregister → Gewerbe anmelden → Finanzamt.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Für unseren Shop haben wir vier Shopsysteme verglichen: Shopify, Jimdo, WooCommerce und Shopware. Dafür haben wir eine Nutzwertanalyse gemacht. Jedes Kriterium hat eine Gewichtung, am wichtigsten sind uns die Kosten mit 25 %. Jeder Anbieter bekommt pro Kriterium 1 bis 10 Punkte, die wir mit der Gewichtung multiplizieren. Shopify hat mit 7,85 Punkten gewonnen, knapp vor Jimdo mit 7,45 Punkten.</a:t>
            </a:r>
          </a:p>
          <a:p/>
          <a:p>
            <a:r>
              <a:t>WARUM HAT SHOPIFY GEWONNEN?</a:t>
            </a:r>
          </a:p>
          <a:p>
            <a:r>
              <a:t>Vor allem wegen der Funktionen: Bei uns laden Kunden ihr eigenes Motiv hoch. Dafür gibt es bei Shopify fertige Apps, auch für Print-on-Demand wie Printful oder Gelato. Bei Jimdo geht das nicht. Außerdem ist Shopify sehr einfach zu bedienen.</a:t>
            </a:r>
          </a:p>
          <a:p/>
          <a:p>
            <a:r>
              <a:t>WARUM NICHT JIMDO? ES IST DOCH BILLIGER UND AUS DEUTSCHLAND.</a:t>
            </a:r>
          </a:p>
          <a:p>
            <a:r>
              <a:t>Stimmt, Jimdo ist günstiger und beim Datenschutz besser. Aber Jimdo hat zu wenige Shop-Funktionen. Einen Motiv-Upload für Kunden können wir damit nicht umsetzen, und das ist unser wichtigstes Merkmal.</a:t>
            </a:r>
          </a:p>
          <a:p/>
          <a:p>
            <a:r>
              <a:t>WARUM NICHT WOOCOMMERCE ODER SHOPWARE? DIE SIND DOCH KOSTENLOS.</a:t>
            </a:r>
          </a:p>
          <a:p>
            <a:r>
              <a:t>Die Software ist kostenlos, aber wir bräuchten einen eigenen Server und müssten Updates und Sicherheit selbst machen. Dazu kommen Erweiterungen für deutsches Recht. Das ist für Einsteiger zu aufwendig und am Ende nicht billiger.</a:t>
            </a:r>
          </a:p>
          <a:p/>
          <a:p>
            <a:r>
              <a:t>WOHER KOMMEN DIE PREISE?</a:t>
            </a:r>
          </a:p>
          <a:p>
            <a:r>
              <a:t>Aus Preisvergleichen im Internet, Stand Oktober 2026. Shopify Basic kostet 25 € im Monat bei jährlicher Zahlung, 33 € bei monatlicher Zahlung.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Wir haben uns für Shopify entschieden. Der wichtigste Grund: Unsere Kunden sollen ihr eigenes Motiv hochladen. Dafür gibt es bei Shopify fertige Apps, und mit Print-on-Demand-Anbietern wie Printful oder Gelato wird das Produkt automatisch gedruckt und verschickt. Shopify ist einfach zu bedienen, wir brauchen keinen eigenen Server, und alle wichtigen Zahlungsarten wie PayPal und Klarna sind dabei. Der Start ist günstig: 3 Tage gratis, dann 3 Monate für je 1 €, danach kostet der Basic-Tarif 25 € im Monat.</a:t>
            </a:r>
          </a:p>
          <a:p/>
          <a:p>
            <a:r>
              <a:t>Rechts seht ihr den Entwurf unserer Startseite: oben Logo, Suchleiste, Konto und Warenkorb, darunter unsere Kategorien und ein Banner mit unserem Slogan und dem Button „Jetzt gestalten“. Dann kommen die Bestseller, unsere Vorteile und unten die Pflichtseiten wie Impressum und Datenschutz.</a:t>
            </a:r>
          </a:p>
          <a:p/>
          <a:p>
            <a:r>
              <a:t>HAT SHOPIFY AUCH NACHTEILE?</a:t>
            </a:r>
          </a:p>
          <a:p>
            <a:r>
              <a:t>Ja. Shopify ist ein Unternehmen aus Kanada, die Daten werden teils außerhalb der EU verarbeitet. Wenn wir nicht Shopify Payments nutzen, zahlen wir im Basic-Tarif 2 % Gebühr pro Verkauf. Und manche Apps kosten extra.</a:t>
            </a:r>
          </a:p>
          <a:p/>
          <a:p>
            <a:r>
              <a:t>WARUM STEHT DA NICHT „30 TAGE RÜCKGABE“?</a:t>
            </a:r>
          </a:p>
          <a:p>
            <a:r>
              <a:t>Weil unsere Produkte nach Kundenwunsch bedruckt werden. Für solche individuellen Produkte gibt es kein Widerrufsrecht (§ 312g Abs. 2 Nr. 1 BGB). Darauf müssen wir in der Widerrufsbelehrung hinweisen. Deshalb zeigen wir vor dem Kauf eine Design-Vorschau.</a:t>
            </a:r>
          </a:p>
          <a:p/>
          <a:p>
            <a:r>
              <a:t>WELCHE PFLICHTSEITEN BRAUCHT EIN SHOP?</a:t>
            </a:r>
          </a:p>
          <a:p>
            <a:r>
              <a:t>Impressum (§ 5 DDG), Datenschutzerklärung (DSGVO), AGB, Widerrufsbelehrung sowie Infos zu Versand und Zahlung.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SPRECHTEXT:</a:t>
            </a:r>
          </a:p>
          <a:p>
            <a:r>
              <a:t>Zum Schluss unser Fazit: Wir gründen die LootLager UG (haftungsbeschränkt) mit 1.000 € Stammkapital. Unsere Marke heißt LootLager, unser Slogan ist „Level up dein Setup.“ Den Shop bauen wir mit Shopify, und unser Logo haben wir mit ChatGPT erstellt.</a:t>
            </a:r>
          </a:p>
          <a:p/>
          <a:p>
            <a:r>
              <a:t>Als Nächstes würden wir den Gesellschaftsvertrag beim Notar beurkunden lassen und das Stammkapital einzahlen. Dann melden wir uns beim Handelsregister, beim Gewerbeamt und beim Finanzamt an. Danach sichern wir uns die Domain lootlager.de und melden die Marke beim DPMA an. Zum Schluss richten wir den Shop ein, machen eine Testbestellung und starten mit Werbung auf Instagram und TikTok.</a:t>
            </a:r>
          </a:p>
          <a:p/>
          <a:p>
            <a:r>
              <a:t>Vielen Dank fürs Zuhören! Habt ihr noch Fragen?</a:t>
            </a:r>
          </a:p>
          <a:p/>
          <a:p>
            <a:r>
              <a:t>WARUM DIE MARKE ANMELDEN?</a:t>
            </a:r>
          </a:p>
          <a:p>
            <a:r>
              <a:t>Damit niemand anderes den Namen LootLager für Gaming-Zubehör nutzen darf. Eine Marke beim DPMA gilt 10 Jahre und kann verlängert werden. Unser KI-Logo ist sonst kaum geschützt, weil rein KI-generierte Bilder meist kein Urheberrecht haben.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0"/>
            <a:ext cx="11094415" cy="548640"/>
          </a:xfrm>
          <a:prstGeom prst="rect">
            <a:avLst/>
          </a:prstGeom>
          <a:noFill/>
          <a:ln/>
        </p:spPr>
        <p:txBody>
          <a:bodyPr wrap="square" rtlCol="0"/>
          <a:lstStyle>
            <a:lvl1pPr algn="ctr" indent="0" marL="0">
              <a:buNone/>
              <a:defRPr lang="en-US" sz="2400" i="1" dirty="0">
                <a:solidFill>
                  <a:schemeClr val="accent1"/>
                </a:solidFill>
              </a:defRPr>
            </a:lvl1pPr>
          </a:lstStyle>
          <a:p>
            <a:pPr algn="ctr" indent="0" marL="0">
              <a:buNone/>
            </a:pPr>
            <a:r>
              <a:rPr lang="en-US" sz="2400" i="1" dirty="0">
                <a:solidFill>
                  <a:schemeClr val="accent1"/>
                </a:solidFill>
              </a:rPr>
              <a:t>Slogan</a:t>
            </a:r>
            <a:endParaRPr lang="en-US" sz="2400" dirty="0"/>
          </a:p>
        </p:txBody>
      </p:sp>
      <p:sp>
        <p:nvSpPr>
          <p:cNvPr id="3" name="Text 0"/>
          <p:cNvSpPr/>
          <p:nvPr>
            <p:ph idx="101" type="body" hasCustomPrompt="1"/>
          </p:nvPr>
        </p:nvSpPr>
        <p:spPr>
          <a:xfrm>
            <a:off x="548640" y="6126480"/>
            <a:ext cx="11094415" cy="365760"/>
          </a:xfrm>
          <a:prstGeom prst="rect">
            <a:avLst/>
          </a:prstGeom>
          <a:noFill/>
          <a:ln/>
        </p:spPr>
        <p:txBody>
          <a:bodyPr wrap="square" rtlCol="0"/>
          <a:lstStyle>
            <a:lvl1pPr algn="ctr" indent="0" marL="0">
              <a:buNone/>
              <a:defRPr lang="en-US" sz="1300" dirty="0">
                <a:solidFill>
                  <a:schemeClr val="accent6"/>
                </a:solidFill>
              </a:defRPr>
            </a:lvl1pPr>
          </a:lstStyle>
          <a:p>
            <a:pPr algn="ctr" indent="0" marL="0">
              <a:buNone/>
            </a:pPr>
            <a:r>
              <a:rPr lang="en-US" sz="1300" dirty="0">
                <a:solidFill>
                  <a:schemeClr val="accent6"/>
                </a:solidFill>
              </a:rPr>
              <a:t>Gruppe</a:t>
            </a: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Titel</a:t>
            </a:r>
            <a:endParaRPr lang="en-US" sz="3400" dirty="0"/>
          </a:p>
        </p:txBody>
      </p:sp>
      <p:pic>
        <p:nvPicPr>
          <p:cNvPr id="3" name="Image 0" descr="/home/user/EcomShopRepo/assets/logo-lootlager.png">    </p:cNvPr>
          <p:cNvPicPr>
            <a:picLocks noChangeAspect="1"/>
          </p:cNvPicPr>
          <p:nvPr/>
        </p:nvPicPr>
        <p:blipFill>
          <a:blip r:embed="rId1"/>
          <a:stretch>
            <a:fillRect/>
          </a:stretch>
        </p:blipFill>
        <p:spPr>
          <a:xfrm>
            <a:off x="10088575" y="6263640"/>
            <a:ext cx="1554480" cy="423800"/>
          </a:xfrm>
          <a:prstGeom prst="rect">
            <a:avLst/>
          </a:prstGeom>
        </p:spPr>
      </p:pic>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4-5.png"/><Relationship Id="rId7" Type="http://schemas.openxmlformats.org/officeDocument/2006/relationships/image" Target="../media/image-1003-1.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3-1.png"/><Relationship Id="rId12" Type="http://schemas.openxmlformats.org/officeDocument/2006/relationships/image" Target="../media/image-2-1.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2-4.png"/><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irmenlogo" descr="Logo von LootLager: eine offene violette Schatztruhe neben dem Schriftzug LootLager">    </p:cNvPr>
          <p:cNvPicPr>
            <a:picLocks noChangeAspect="1"/>
          </p:cNvPicPr>
          <p:nvPr/>
        </p:nvPicPr>
        <p:blipFill>
          <a:blip r:embed="rId1"/>
          <a:stretch>
            <a:fillRect/>
          </a:stretch>
        </p:blipFill>
        <p:spPr>
          <a:xfrm>
            <a:off x="2255368" y="457200"/>
            <a:ext cx="7680960" cy="2094072"/>
          </a:xfrm>
          <a:prstGeom prst="rect">
            <a:avLst/>
          </a:prstGeom>
        </p:spPr>
      </p:pic>
      <p:sp>
        <p:nvSpPr>
          <p:cNvPr id="3" name="Text 0"/>
          <p:cNvSpPr/>
          <p:nvPr>
            <p:ph idx="100" type="title" hasCustomPrompt="1"/>
          </p:nvPr>
        </p:nvSpPr>
        <p:spPr>
          <a:xfrm>
            <a:off x="548640" y="2743200"/>
            <a:ext cx="11094415" cy="548640"/>
          </a:xfrm>
          <a:prstGeom prst="rect">
            <a:avLst/>
          </a:prstGeom>
          <a:noFill/>
          <a:ln/>
        </p:spPr>
        <p:txBody>
          <a:bodyPr wrap="square" lIns="0" tIns="0" rIns="0" bIns="0" rtlCol="0" anchor="ctr"/>
          <a:lstStyle/>
          <a:p>
            <a:pPr algn="ctr" indent="0" marL="0">
              <a:buNone/>
            </a:pPr>
            <a:r>
              <a:rPr lang="en-US" sz="2400" i="1" dirty="0">
                <a:solidFill>
                  <a:schemeClr val="accent1"/>
                </a:solidFill>
              </a:rPr>
              <a:t>„Level up dein Setup.“</a:t>
            </a:r>
            <a:endParaRPr lang="en-US" sz="2400" dirty="0"/>
          </a:p>
        </p:txBody>
      </p:sp>
      <p:sp>
        <p:nvSpPr>
          <p:cNvPr id="4" name="Karte FIRMENNAME"/>
          <p:cNvSpPr/>
          <p:nvPr/>
        </p:nvSpPr>
        <p:spPr>
          <a:xfrm>
            <a:off x="540868" y="3611880"/>
            <a:ext cx="3520440" cy="2148840"/>
          </a:xfrm>
          <a:prstGeom prst="roundRect">
            <a:avLst>
              <a:gd name="adj" fmla="val 6383"/>
            </a:avLst>
          </a:prstGeom>
          <a:solidFill>
            <a:schemeClr val="bg2"/>
          </a:solidFill>
          <a:ln/>
        </p:spPr>
      </p:sp>
      <p:sp>
        <p:nvSpPr>
          <p:cNvPr id="5" name="FIRMENNAME Kreis"/>
          <p:cNvSpPr/>
          <p:nvPr/>
        </p:nvSpPr>
        <p:spPr>
          <a:xfrm>
            <a:off x="815188" y="3886200"/>
            <a:ext cx="548640" cy="548640"/>
          </a:xfrm>
          <a:prstGeom prst="ellipse">
            <a:avLst/>
          </a:prstGeom>
          <a:solidFill>
            <a:schemeClr val="accent1"/>
          </a:solidFill>
          <a:ln/>
        </p:spPr>
      </p:sp>
      <p:pic>
        <p:nvPicPr>
          <p:cNvPr id="6" name="FIRMENNAME Icon" descr="FIRMENNAME">    </p:cNvPr>
          <p:cNvPicPr>
            <a:picLocks noChangeAspect="1"/>
          </p:cNvPicPr>
          <p:nvPr/>
        </p:nvPicPr>
        <p:blipFill>
          <a:blip r:embed="rId2"/>
          <a:stretch>
            <a:fillRect/>
          </a:stretch>
        </p:blipFill>
        <p:spPr>
          <a:xfrm>
            <a:off x="952348" y="4023360"/>
            <a:ext cx="274320" cy="274320"/>
          </a:xfrm>
          <a:prstGeom prst="rect">
            <a:avLst/>
          </a:prstGeom>
        </p:spPr>
      </p:pic>
      <p:sp>
        <p:nvSpPr>
          <p:cNvPr id="7" name="FIRMENNAME Label"/>
          <p:cNvSpPr txBox="1"/>
          <p:nvPr/>
        </p:nvSpPr>
        <p:spPr>
          <a:xfrm>
            <a:off x="150098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FIRMENNAME</a:t>
            </a:r>
            <a:endParaRPr lang="en-US" sz="1300" dirty="0"/>
          </a:p>
        </p:txBody>
      </p:sp>
      <p:sp>
        <p:nvSpPr>
          <p:cNvPr id="8" name="FIRMENNAME Wert"/>
          <p:cNvSpPr txBox="1"/>
          <p:nvPr/>
        </p:nvSpPr>
        <p:spPr>
          <a:xfrm>
            <a:off x="81518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 UG (haftungsbeschränkt)</a:t>
            </a:r>
            <a:endParaRPr lang="en-US" sz="2000" dirty="0"/>
          </a:p>
        </p:txBody>
      </p:sp>
      <p:sp>
        <p:nvSpPr>
          <p:cNvPr id="9" name="FIRMENNAME Hinweis"/>
          <p:cNvSpPr txBox="1"/>
          <p:nvPr/>
        </p:nvSpPr>
        <p:spPr>
          <a:xfrm>
            <a:off x="81518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im Handelsregister</a:t>
            </a:r>
            <a:endParaRPr lang="en-US" sz="1200" dirty="0"/>
          </a:p>
        </p:txBody>
      </p:sp>
      <p:sp>
        <p:nvSpPr>
          <p:cNvPr id="10" name="Karte RECHTSFORM"/>
          <p:cNvSpPr/>
          <p:nvPr/>
        </p:nvSpPr>
        <p:spPr>
          <a:xfrm>
            <a:off x="4335628" y="3611880"/>
            <a:ext cx="3520440" cy="2148840"/>
          </a:xfrm>
          <a:prstGeom prst="roundRect">
            <a:avLst>
              <a:gd name="adj" fmla="val 6383"/>
            </a:avLst>
          </a:prstGeom>
          <a:solidFill>
            <a:schemeClr val="bg2"/>
          </a:solidFill>
          <a:ln/>
        </p:spPr>
      </p:sp>
      <p:sp>
        <p:nvSpPr>
          <p:cNvPr id="11" name="RECHTSFORM Kreis"/>
          <p:cNvSpPr/>
          <p:nvPr/>
        </p:nvSpPr>
        <p:spPr>
          <a:xfrm>
            <a:off x="4609948" y="3886200"/>
            <a:ext cx="548640" cy="548640"/>
          </a:xfrm>
          <a:prstGeom prst="ellipse">
            <a:avLst/>
          </a:prstGeom>
          <a:solidFill>
            <a:schemeClr val="accent1"/>
          </a:solidFill>
          <a:ln/>
        </p:spPr>
      </p:sp>
      <p:pic>
        <p:nvPicPr>
          <p:cNvPr id="12" name="RECHTSFORM Icon" descr="RECHTSFORM">    </p:cNvPr>
          <p:cNvPicPr>
            <a:picLocks noChangeAspect="1"/>
          </p:cNvPicPr>
          <p:nvPr/>
        </p:nvPicPr>
        <p:blipFill>
          <a:blip r:embed="rId3"/>
          <a:stretch>
            <a:fillRect/>
          </a:stretch>
        </p:blipFill>
        <p:spPr>
          <a:xfrm>
            <a:off x="4747108" y="4023360"/>
            <a:ext cx="274320" cy="274320"/>
          </a:xfrm>
          <a:prstGeom prst="rect">
            <a:avLst/>
          </a:prstGeom>
        </p:spPr>
      </p:pic>
      <p:sp>
        <p:nvSpPr>
          <p:cNvPr id="13" name="RECHTSFORM Label"/>
          <p:cNvSpPr txBox="1"/>
          <p:nvPr/>
        </p:nvSpPr>
        <p:spPr>
          <a:xfrm>
            <a:off x="529574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RECHTSFORM</a:t>
            </a:r>
            <a:endParaRPr lang="en-US" sz="1300" dirty="0"/>
          </a:p>
        </p:txBody>
      </p:sp>
      <p:sp>
        <p:nvSpPr>
          <p:cNvPr id="14" name="RECHTSFORM Wert"/>
          <p:cNvSpPr txBox="1"/>
          <p:nvPr/>
        </p:nvSpPr>
        <p:spPr>
          <a:xfrm>
            <a:off x="460994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UG (haftungsbeschränkt)</a:t>
            </a:r>
            <a:endParaRPr lang="en-US" sz="2000" dirty="0"/>
          </a:p>
        </p:txBody>
      </p:sp>
      <p:sp>
        <p:nvSpPr>
          <p:cNvPr id="15" name="RECHTSFORM Hinweis"/>
          <p:cNvSpPr txBox="1"/>
          <p:nvPr/>
        </p:nvSpPr>
        <p:spPr>
          <a:xfrm>
            <a:off x="460994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Unternehmergesellschaft nach § 5a GmbHG</a:t>
            </a:r>
            <a:endParaRPr lang="en-US" sz="1200" dirty="0"/>
          </a:p>
        </p:txBody>
      </p:sp>
      <p:sp>
        <p:nvSpPr>
          <p:cNvPr id="16" name="Karte MARKE"/>
          <p:cNvSpPr/>
          <p:nvPr/>
        </p:nvSpPr>
        <p:spPr>
          <a:xfrm>
            <a:off x="8130388" y="3611880"/>
            <a:ext cx="3520440" cy="2148840"/>
          </a:xfrm>
          <a:prstGeom prst="roundRect">
            <a:avLst>
              <a:gd name="adj" fmla="val 6383"/>
            </a:avLst>
          </a:prstGeom>
          <a:solidFill>
            <a:schemeClr val="bg2"/>
          </a:solidFill>
          <a:ln/>
        </p:spPr>
      </p:sp>
      <p:sp>
        <p:nvSpPr>
          <p:cNvPr id="17" name="MARKE Kreis"/>
          <p:cNvSpPr/>
          <p:nvPr/>
        </p:nvSpPr>
        <p:spPr>
          <a:xfrm>
            <a:off x="8404708" y="3886200"/>
            <a:ext cx="548640" cy="548640"/>
          </a:xfrm>
          <a:prstGeom prst="ellipse">
            <a:avLst/>
          </a:prstGeom>
          <a:solidFill>
            <a:schemeClr val="accent1"/>
          </a:solidFill>
          <a:ln/>
        </p:spPr>
      </p:sp>
      <p:pic>
        <p:nvPicPr>
          <p:cNvPr id="18" name="MARKE Icon" descr="MARKE">    </p:cNvPr>
          <p:cNvPicPr>
            <a:picLocks noChangeAspect="1"/>
          </p:cNvPicPr>
          <p:nvPr/>
        </p:nvPicPr>
        <p:blipFill>
          <a:blip r:embed="rId4"/>
          <a:stretch>
            <a:fillRect/>
          </a:stretch>
        </p:blipFill>
        <p:spPr>
          <a:xfrm>
            <a:off x="8541868" y="4023360"/>
            <a:ext cx="274320" cy="274320"/>
          </a:xfrm>
          <a:prstGeom prst="rect">
            <a:avLst/>
          </a:prstGeom>
        </p:spPr>
      </p:pic>
      <p:sp>
        <p:nvSpPr>
          <p:cNvPr id="19" name="MARKE Label"/>
          <p:cNvSpPr txBox="1"/>
          <p:nvPr/>
        </p:nvSpPr>
        <p:spPr>
          <a:xfrm>
            <a:off x="9090508" y="3886200"/>
            <a:ext cx="2286000" cy="548640"/>
          </a:xfrm>
          <a:prstGeom prst="rect">
            <a:avLst/>
          </a:prstGeom>
          <a:noFill/>
          <a:ln/>
        </p:spPr>
        <p:txBody>
          <a:bodyPr wrap="square" lIns="0" tIns="0" rIns="0" bIns="0" rtlCol="0" anchor="ctr"/>
          <a:lstStyle/>
          <a:p>
            <a:pPr indent="0" marL="0">
              <a:buNone/>
            </a:pPr>
            <a:r>
              <a:rPr lang="en-US" sz="1300" b="1" spc="200" kern="0" dirty="0">
                <a:solidFill>
                  <a:schemeClr val="accent1"/>
                </a:solidFill>
              </a:rPr>
              <a:t>MARKE</a:t>
            </a:r>
            <a:endParaRPr lang="en-US" sz="1300" dirty="0"/>
          </a:p>
        </p:txBody>
      </p:sp>
      <p:sp>
        <p:nvSpPr>
          <p:cNvPr id="20" name="MARKE Wert"/>
          <p:cNvSpPr txBox="1"/>
          <p:nvPr/>
        </p:nvSpPr>
        <p:spPr>
          <a:xfrm>
            <a:off x="8404708" y="4572000"/>
            <a:ext cx="2971800" cy="731520"/>
          </a:xfrm>
          <a:prstGeom prst="rect">
            <a:avLst/>
          </a:prstGeom>
          <a:noFill/>
          <a:ln/>
        </p:spPr>
        <p:txBody>
          <a:bodyPr wrap="square" lIns="0" tIns="0" rIns="0" bIns="0" rtlCol="0" anchor="t"/>
          <a:lstStyle/>
          <a:p>
            <a:pPr indent="0" marL="0">
              <a:buNone/>
            </a:pPr>
            <a:r>
              <a:rPr lang="en-US" sz="2000" b="1" dirty="0">
                <a:solidFill>
                  <a:schemeClr val="tx1"/>
                </a:solidFill>
              </a:rPr>
              <a:t>LootLager</a:t>
            </a:r>
            <a:endParaRPr lang="en-US" sz="2000" dirty="0"/>
          </a:p>
        </p:txBody>
      </p:sp>
      <p:sp>
        <p:nvSpPr>
          <p:cNvPr id="21" name="MARKE Hinweis"/>
          <p:cNvSpPr txBox="1"/>
          <p:nvPr/>
        </p:nvSpPr>
        <p:spPr>
          <a:xfrm>
            <a:off x="8404708" y="5303520"/>
            <a:ext cx="2971800" cy="320040"/>
          </a:xfrm>
          <a:prstGeom prst="rect">
            <a:avLst/>
          </a:prstGeom>
          <a:noFill/>
          <a:ln/>
        </p:spPr>
        <p:txBody>
          <a:bodyPr wrap="square" lIns="0" tIns="0" rIns="0" bIns="0" rtlCol="0" anchor="t"/>
          <a:lstStyle/>
          <a:p>
            <a:pPr indent="0" marL="0">
              <a:buNone/>
            </a:pPr>
            <a:r>
              <a:rPr lang="en-US" sz="1200" dirty="0">
                <a:solidFill>
                  <a:schemeClr val="accent6"/>
                </a:solidFill>
              </a:rPr>
              <a:t>gleicher Name für Shop und Produkte</a:t>
            </a:r>
            <a:endParaRPr lang="en-US" sz="1200" dirty="0"/>
          </a:p>
        </p:txBody>
      </p:sp>
      <p:sp>
        <p:nvSpPr>
          <p:cNvPr id="22" name="Text 0"/>
          <p:cNvSpPr/>
          <p:nvPr>
            <p:ph idx="101" type="body" hasCustomPrompt="1"/>
          </p:nvPr>
        </p:nvSpPr>
        <p:spPr>
          <a:xfrm>
            <a:off x="548640" y="6126480"/>
            <a:ext cx="11094415" cy="365760"/>
          </a:xfrm>
          <a:prstGeom prst="rect">
            <a:avLst/>
          </a:prstGeom>
          <a:noFill/>
          <a:ln/>
        </p:spPr>
        <p:txBody>
          <a:bodyPr wrap="square" lIns="0" tIns="0" rIns="0" bIns="0" rtlCol="0" anchor="ctr"/>
          <a:lstStyle/>
          <a:p>
            <a:pPr algn="ctr" indent="0" marL="0">
              <a:buNone/>
            </a:pPr>
            <a:r>
              <a:rPr lang="en-US" sz="1300" dirty="0">
                <a:solidFill>
                  <a:schemeClr val="accent6"/>
                </a:solidFill>
              </a:rPr>
              <a:t>Gruppe 4  ·  Nick und Luca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Gaming-Zubehör mit deinem eigenen Design</a:t>
            </a:r>
            <a:endParaRPr lang="en-US" sz="3400" dirty="0"/>
          </a:p>
        </p:txBody>
      </p:sp>
      <p:sp>
        <p:nvSpPr>
          <p:cNvPr id="3" name="Ablauf Überschrift"/>
          <p:cNvSpPr txBox="1"/>
          <p:nvPr/>
        </p:nvSpPr>
        <p:spPr>
          <a:xfrm>
            <a:off x="548640" y="1417320"/>
            <a:ext cx="5120640" cy="411480"/>
          </a:xfrm>
          <a:prstGeom prst="rect">
            <a:avLst/>
          </a:prstGeom>
          <a:noFill/>
          <a:ln/>
        </p:spPr>
        <p:txBody>
          <a:bodyPr wrap="square" lIns="0" tIns="0" rIns="0" bIns="0" rtlCol="0" anchor="ctr"/>
          <a:lstStyle/>
          <a:p>
            <a:pPr indent="0" marL="0">
              <a:buNone/>
            </a:pPr>
            <a:r>
              <a:rPr lang="en-US" sz="2000" b="1" dirty="0">
                <a:solidFill>
                  <a:schemeClr val="tx1"/>
                </a:solidFill>
              </a:rPr>
              <a:t>So funktioniert’s</a:t>
            </a:r>
            <a:endParaRPr lang="en-US" sz="2000" dirty="0"/>
          </a:p>
        </p:txBody>
      </p:sp>
      <p:sp>
        <p:nvSpPr>
          <p:cNvPr id="4" name="Schritt 1 Kreis"/>
          <p:cNvSpPr/>
          <p:nvPr/>
        </p:nvSpPr>
        <p:spPr>
          <a:xfrm>
            <a:off x="548640" y="2057400"/>
            <a:ext cx="548640" cy="548640"/>
          </a:xfrm>
          <a:prstGeom prst="ellipse">
            <a:avLst/>
          </a:prstGeom>
          <a:solidFill>
            <a:schemeClr val="accent1"/>
          </a:solidFill>
          <a:ln/>
        </p:spPr>
      </p:sp>
      <p:sp>
        <p:nvSpPr>
          <p:cNvPr id="5" name="Schritt 1 Nummer"/>
          <p:cNvSpPr txBox="1"/>
          <p:nvPr/>
        </p:nvSpPr>
        <p:spPr>
          <a:xfrm>
            <a:off x="548640" y="20574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chritt 1 Titel"/>
          <p:cNvSpPr txBox="1"/>
          <p:nvPr/>
        </p:nvSpPr>
        <p:spPr>
          <a:xfrm>
            <a:off x="1325880" y="2011680"/>
            <a:ext cx="4389120" cy="365760"/>
          </a:xfrm>
          <a:prstGeom prst="rect">
            <a:avLst/>
          </a:prstGeom>
          <a:noFill/>
          <a:ln/>
        </p:spPr>
        <p:txBody>
          <a:bodyPr wrap="square" lIns="0" tIns="0" rIns="0" bIns="0" rtlCol="0" anchor="t"/>
          <a:lstStyle/>
          <a:p>
            <a:pPr indent="0" marL="0">
              <a:buNone/>
            </a:pPr>
            <a:r>
              <a:rPr lang="en-US" sz="1800" b="1" dirty="0">
                <a:solidFill>
                  <a:schemeClr val="tx1"/>
                </a:solidFill>
              </a:rPr>
              <a:t>Produkt auswählen</a:t>
            </a:r>
            <a:endParaRPr lang="en-US" sz="1800" dirty="0"/>
          </a:p>
        </p:txBody>
      </p:sp>
      <p:sp>
        <p:nvSpPr>
          <p:cNvPr id="7" name="Schritt 1 Text"/>
          <p:cNvSpPr txBox="1"/>
          <p:nvPr/>
        </p:nvSpPr>
        <p:spPr>
          <a:xfrm>
            <a:off x="1325880" y="239572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Mauspad, Controller-Skin, Keycaps oder LED-Schild</a:t>
            </a:r>
            <a:endParaRPr lang="en-US" sz="1400" dirty="0"/>
          </a:p>
        </p:txBody>
      </p:sp>
      <p:sp>
        <p:nvSpPr>
          <p:cNvPr id="8" name="Schritt 2 Kreis"/>
          <p:cNvSpPr/>
          <p:nvPr/>
        </p:nvSpPr>
        <p:spPr>
          <a:xfrm>
            <a:off x="548640" y="3154680"/>
            <a:ext cx="548640" cy="548640"/>
          </a:xfrm>
          <a:prstGeom prst="ellipse">
            <a:avLst/>
          </a:prstGeom>
          <a:solidFill>
            <a:schemeClr val="accent1"/>
          </a:solidFill>
          <a:ln/>
        </p:spPr>
      </p:sp>
      <p:sp>
        <p:nvSpPr>
          <p:cNvPr id="9" name="Schritt 2 Nummer"/>
          <p:cNvSpPr txBox="1"/>
          <p:nvPr/>
        </p:nvSpPr>
        <p:spPr>
          <a:xfrm>
            <a:off x="548640" y="31546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Schritt 2 Titel"/>
          <p:cNvSpPr txBox="1"/>
          <p:nvPr/>
        </p:nvSpPr>
        <p:spPr>
          <a:xfrm>
            <a:off x="1325880" y="3108960"/>
            <a:ext cx="4389120" cy="365760"/>
          </a:xfrm>
          <a:prstGeom prst="rect">
            <a:avLst/>
          </a:prstGeom>
          <a:noFill/>
          <a:ln/>
        </p:spPr>
        <p:txBody>
          <a:bodyPr wrap="square" lIns="0" tIns="0" rIns="0" bIns="0" rtlCol="0" anchor="t"/>
          <a:lstStyle/>
          <a:p>
            <a:pPr indent="0" marL="0">
              <a:buNone/>
            </a:pPr>
            <a:r>
              <a:rPr lang="en-US" sz="1800" b="1" dirty="0">
                <a:solidFill>
                  <a:schemeClr val="tx1"/>
                </a:solidFill>
              </a:rPr>
              <a:t>Design festlegen</a:t>
            </a:r>
            <a:endParaRPr lang="en-US" sz="1800" dirty="0"/>
          </a:p>
        </p:txBody>
      </p:sp>
      <p:sp>
        <p:nvSpPr>
          <p:cNvPr id="11" name="Schritt 2 Text"/>
          <p:cNvSpPr txBox="1"/>
          <p:nvPr/>
        </p:nvSpPr>
        <p:spPr>
          <a:xfrm>
            <a:off x="1325880" y="349300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Eigenes Motiv hochladen oder von unserem Team gestalten lassen</a:t>
            </a:r>
            <a:endParaRPr lang="en-US" sz="1400" dirty="0"/>
          </a:p>
        </p:txBody>
      </p:sp>
      <p:sp>
        <p:nvSpPr>
          <p:cNvPr id="12" name="Schritt 3 Kreis"/>
          <p:cNvSpPr/>
          <p:nvPr/>
        </p:nvSpPr>
        <p:spPr>
          <a:xfrm>
            <a:off x="548640" y="4251960"/>
            <a:ext cx="548640" cy="548640"/>
          </a:xfrm>
          <a:prstGeom prst="ellipse">
            <a:avLst/>
          </a:prstGeom>
          <a:solidFill>
            <a:schemeClr val="accent1"/>
          </a:solidFill>
          <a:ln/>
        </p:spPr>
      </p:sp>
      <p:sp>
        <p:nvSpPr>
          <p:cNvPr id="13" name="Schritt 3 Nummer"/>
          <p:cNvSpPr txBox="1"/>
          <p:nvPr/>
        </p:nvSpPr>
        <p:spPr>
          <a:xfrm>
            <a:off x="548640" y="42519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Schritt 3 Titel"/>
          <p:cNvSpPr txBox="1"/>
          <p:nvPr/>
        </p:nvSpPr>
        <p:spPr>
          <a:xfrm>
            <a:off x="1325880" y="4206240"/>
            <a:ext cx="4389120" cy="365760"/>
          </a:xfrm>
          <a:prstGeom prst="rect">
            <a:avLst/>
          </a:prstGeom>
          <a:noFill/>
          <a:ln/>
        </p:spPr>
        <p:txBody>
          <a:bodyPr wrap="square" lIns="0" tIns="0" rIns="0" bIns="0" rtlCol="0" anchor="t"/>
          <a:lstStyle/>
          <a:p>
            <a:pPr indent="0" marL="0">
              <a:buNone/>
            </a:pPr>
            <a:r>
              <a:rPr lang="en-US" sz="1800" b="1" dirty="0">
                <a:solidFill>
                  <a:schemeClr val="tx1"/>
                </a:solidFill>
              </a:rPr>
              <a:t>Wir produzieren und versenden</a:t>
            </a:r>
            <a:endParaRPr lang="en-US" sz="1800" dirty="0"/>
          </a:p>
        </p:txBody>
      </p:sp>
      <p:sp>
        <p:nvSpPr>
          <p:cNvPr id="15" name="Schritt 3 Text"/>
          <p:cNvSpPr txBox="1"/>
          <p:nvPr/>
        </p:nvSpPr>
        <p:spPr>
          <a:xfrm>
            <a:off x="1325880" y="4590288"/>
            <a:ext cx="4389120" cy="594360"/>
          </a:xfrm>
          <a:prstGeom prst="rect">
            <a:avLst/>
          </a:prstGeom>
          <a:noFill/>
          <a:ln/>
        </p:spPr>
        <p:txBody>
          <a:bodyPr wrap="square" lIns="0" tIns="0" rIns="0" bIns="0" rtlCol="0" anchor="t"/>
          <a:lstStyle/>
          <a:p>
            <a:pPr indent="0" marL="0">
              <a:buNone/>
            </a:pPr>
            <a:r>
              <a:rPr lang="en-US" sz="1400" dirty="0">
                <a:solidFill>
                  <a:schemeClr val="accent6"/>
                </a:solidFill>
              </a:rPr>
              <a:t>Fertig bedruckt und schnell geliefert aus Deutschland</a:t>
            </a:r>
            <a:endParaRPr lang="en-US" sz="1400" dirty="0"/>
          </a:p>
        </p:txBody>
      </p:sp>
      <p:sp>
        <p:nvSpPr>
          <p:cNvPr id="16" name="Sortiment Überschrift"/>
          <p:cNvSpPr txBox="1"/>
          <p:nvPr/>
        </p:nvSpPr>
        <p:spPr>
          <a:xfrm>
            <a:off x="6309360" y="1417320"/>
            <a:ext cx="5330952" cy="411480"/>
          </a:xfrm>
          <a:prstGeom prst="rect">
            <a:avLst/>
          </a:prstGeom>
          <a:noFill/>
          <a:ln/>
        </p:spPr>
        <p:txBody>
          <a:bodyPr wrap="square" lIns="0" tIns="0" rIns="0" bIns="0" rtlCol="0" anchor="ctr"/>
          <a:lstStyle/>
          <a:p>
            <a:pPr indent="0" marL="0">
              <a:buNone/>
            </a:pPr>
            <a:r>
              <a:rPr lang="en-US" sz="2000" b="1" dirty="0">
                <a:solidFill>
                  <a:schemeClr val="tx1"/>
                </a:solidFill>
              </a:rPr>
              <a:t>Unser Sortiment</a:t>
            </a:r>
            <a:endParaRPr lang="en-US" sz="2000" dirty="0"/>
          </a:p>
        </p:txBody>
      </p:sp>
      <p:sp>
        <p:nvSpPr>
          <p:cNvPr id="17" name="Produkt XXL-Mauspads"/>
          <p:cNvSpPr/>
          <p:nvPr/>
        </p:nvSpPr>
        <p:spPr>
          <a:xfrm>
            <a:off x="6309360" y="2011680"/>
            <a:ext cx="2514600" cy="1463040"/>
          </a:xfrm>
          <a:prstGeom prst="roundRect">
            <a:avLst>
              <a:gd name="adj" fmla="val 7500"/>
            </a:avLst>
          </a:prstGeom>
          <a:solidFill>
            <a:schemeClr val="bg2"/>
          </a:solidFill>
          <a:ln/>
        </p:spPr>
      </p:sp>
      <p:sp>
        <p:nvSpPr>
          <p:cNvPr id="18" name="XXL-Mauspads Kreis"/>
          <p:cNvSpPr/>
          <p:nvPr/>
        </p:nvSpPr>
        <p:spPr>
          <a:xfrm>
            <a:off x="6537960" y="2240280"/>
            <a:ext cx="502920" cy="502920"/>
          </a:xfrm>
          <a:prstGeom prst="ellipse">
            <a:avLst/>
          </a:prstGeom>
          <a:solidFill>
            <a:schemeClr val="accent1"/>
          </a:solidFill>
          <a:ln/>
        </p:spPr>
      </p:sp>
      <p:pic>
        <p:nvPicPr>
          <p:cNvPr id="19" name="XXL-Mauspads Icon" descr="XXL-Mauspads">    </p:cNvPr>
          <p:cNvPicPr>
            <a:picLocks noChangeAspect="1"/>
          </p:cNvPicPr>
          <p:nvPr/>
        </p:nvPicPr>
        <p:blipFill>
          <a:blip r:embed="rId1"/>
          <a:stretch>
            <a:fillRect/>
          </a:stretch>
        </p:blipFill>
        <p:spPr>
          <a:xfrm>
            <a:off x="6663690" y="2366010"/>
            <a:ext cx="251460" cy="251460"/>
          </a:xfrm>
          <a:prstGeom prst="rect">
            <a:avLst/>
          </a:prstGeom>
        </p:spPr>
      </p:pic>
      <p:sp>
        <p:nvSpPr>
          <p:cNvPr id="20" name="XXL-Mauspads Name"/>
          <p:cNvSpPr txBox="1"/>
          <p:nvPr/>
        </p:nvSpPr>
        <p:spPr>
          <a:xfrm>
            <a:off x="6537960" y="2834640"/>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XXL-Mauspads</a:t>
            </a:r>
            <a:endParaRPr lang="en-US" sz="1600" dirty="0"/>
          </a:p>
        </p:txBody>
      </p:sp>
      <p:sp>
        <p:nvSpPr>
          <p:cNvPr id="21" name="XXL-Mauspads Beschreibung"/>
          <p:cNvSpPr txBox="1"/>
          <p:nvPr/>
        </p:nvSpPr>
        <p:spPr>
          <a:xfrm>
            <a:off x="6537960" y="3108960"/>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mit eigenem Motiv</a:t>
            </a:r>
            <a:endParaRPr lang="en-US" sz="1200" dirty="0"/>
          </a:p>
        </p:txBody>
      </p:sp>
      <p:sp>
        <p:nvSpPr>
          <p:cNvPr id="22" name="Produkt Controller-Skins"/>
          <p:cNvSpPr/>
          <p:nvPr/>
        </p:nvSpPr>
        <p:spPr>
          <a:xfrm>
            <a:off x="9125712" y="2011680"/>
            <a:ext cx="2514600" cy="1463040"/>
          </a:xfrm>
          <a:prstGeom prst="roundRect">
            <a:avLst>
              <a:gd name="adj" fmla="val 7500"/>
            </a:avLst>
          </a:prstGeom>
          <a:solidFill>
            <a:schemeClr val="bg2"/>
          </a:solidFill>
          <a:ln/>
        </p:spPr>
      </p:sp>
      <p:sp>
        <p:nvSpPr>
          <p:cNvPr id="23" name="Controller-Skins Kreis"/>
          <p:cNvSpPr/>
          <p:nvPr/>
        </p:nvSpPr>
        <p:spPr>
          <a:xfrm>
            <a:off x="9354312" y="2240280"/>
            <a:ext cx="502920" cy="502920"/>
          </a:xfrm>
          <a:prstGeom prst="ellipse">
            <a:avLst/>
          </a:prstGeom>
          <a:solidFill>
            <a:schemeClr val="accent4"/>
          </a:solidFill>
          <a:ln/>
        </p:spPr>
      </p:sp>
      <p:pic>
        <p:nvPicPr>
          <p:cNvPr id="24" name="Controller-Skins Icon" descr="Controller-Skins">    </p:cNvPr>
          <p:cNvPicPr>
            <a:picLocks noChangeAspect="1"/>
          </p:cNvPicPr>
          <p:nvPr/>
        </p:nvPicPr>
        <p:blipFill>
          <a:blip r:embed="rId2"/>
          <a:stretch>
            <a:fillRect/>
          </a:stretch>
        </p:blipFill>
        <p:spPr>
          <a:xfrm>
            <a:off x="9480042" y="2366010"/>
            <a:ext cx="251460" cy="251460"/>
          </a:xfrm>
          <a:prstGeom prst="rect">
            <a:avLst/>
          </a:prstGeom>
        </p:spPr>
      </p:pic>
      <p:sp>
        <p:nvSpPr>
          <p:cNvPr id="25" name="Controller-Skins Name"/>
          <p:cNvSpPr txBox="1"/>
          <p:nvPr/>
        </p:nvSpPr>
        <p:spPr>
          <a:xfrm>
            <a:off x="9354312" y="2834640"/>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Controller-Skins</a:t>
            </a:r>
            <a:endParaRPr lang="en-US" sz="1600" dirty="0"/>
          </a:p>
        </p:txBody>
      </p:sp>
      <p:sp>
        <p:nvSpPr>
          <p:cNvPr id="26" name="Controller-Skins Beschreibung"/>
          <p:cNvSpPr txBox="1"/>
          <p:nvPr/>
        </p:nvSpPr>
        <p:spPr>
          <a:xfrm>
            <a:off x="9354312" y="3108960"/>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für PS5, Xbox und Switch</a:t>
            </a:r>
            <a:endParaRPr lang="en-US" sz="1200" dirty="0"/>
          </a:p>
        </p:txBody>
      </p:sp>
      <p:sp>
        <p:nvSpPr>
          <p:cNvPr id="27" name="Produkt Custom Keycaps"/>
          <p:cNvSpPr/>
          <p:nvPr/>
        </p:nvSpPr>
        <p:spPr>
          <a:xfrm>
            <a:off x="6309360" y="3776472"/>
            <a:ext cx="2514600" cy="1463040"/>
          </a:xfrm>
          <a:prstGeom prst="roundRect">
            <a:avLst>
              <a:gd name="adj" fmla="val 7500"/>
            </a:avLst>
          </a:prstGeom>
          <a:solidFill>
            <a:schemeClr val="bg2"/>
          </a:solidFill>
          <a:ln/>
        </p:spPr>
      </p:sp>
      <p:sp>
        <p:nvSpPr>
          <p:cNvPr id="28" name="Custom Keycaps Kreis"/>
          <p:cNvSpPr/>
          <p:nvPr/>
        </p:nvSpPr>
        <p:spPr>
          <a:xfrm>
            <a:off x="6537960" y="4005072"/>
            <a:ext cx="502920" cy="502920"/>
          </a:xfrm>
          <a:prstGeom prst="ellipse">
            <a:avLst/>
          </a:prstGeom>
          <a:solidFill>
            <a:schemeClr val="accent1"/>
          </a:solidFill>
          <a:ln/>
        </p:spPr>
      </p:sp>
      <p:pic>
        <p:nvPicPr>
          <p:cNvPr id="29" name="Custom Keycaps Icon" descr="Custom Keycaps">    </p:cNvPr>
          <p:cNvPicPr>
            <a:picLocks noChangeAspect="1"/>
          </p:cNvPicPr>
          <p:nvPr/>
        </p:nvPicPr>
        <p:blipFill>
          <a:blip r:embed="rId3"/>
          <a:stretch>
            <a:fillRect/>
          </a:stretch>
        </p:blipFill>
        <p:spPr>
          <a:xfrm>
            <a:off x="6663690" y="4130802"/>
            <a:ext cx="251460" cy="251460"/>
          </a:xfrm>
          <a:prstGeom prst="rect">
            <a:avLst/>
          </a:prstGeom>
        </p:spPr>
      </p:pic>
      <p:sp>
        <p:nvSpPr>
          <p:cNvPr id="30" name="Custom Keycaps Name"/>
          <p:cNvSpPr txBox="1"/>
          <p:nvPr/>
        </p:nvSpPr>
        <p:spPr>
          <a:xfrm>
            <a:off x="6537960" y="4599432"/>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Custom Keycaps</a:t>
            </a:r>
            <a:endParaRPr lang="en-US" sz="1600" dirty="0"/>
          </a:p>
        </p:txBody>
      </p:sp>
      <p:sp>
        <p:nvSpPr>
          <p:cNvPr id="31" name="Custom Keycaps Beschreibung"/>
          <p:cNvSpPr txBox="1"/>
          <p:nvPr/>
        </p:nvSpPr>
        <p:spPr>
          <a:xfrm>
            <a:off x="6537960" y="4873752"/>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mit Gamertag oder Logo</a:t>
            </a:r>
            <a:endParaRPr lang="en-US" sz="1200" dirty="0"/>
          </a:p>
        </p:txBody>
      </p:sp>
      <p:sp>
        <p:nvSpPr>
          <p:cNvPr id="32" name="Produkt LED-Schilder"/>
          <p:cNvSpPr/>
          <p:nvPr/>
        </p:nvSpPr>
        <p:spPr>
          <a:xfrm>
            <a:off x="9125712" y="3776472"/>
            <a:ext cx="2514600" cy="1463040"/>
          </a:xfrm>
          <a:prstGeom prst="roundRect">
            <a:avLst>
              <a:gd name="adj" fmla="val 7500"/>
            </a:avLst>
          </a:prstGeom>
          <a:solidFill>
            <a:schemeClr val="bg2"/>
          </a:solidFill>
          <a:ln/>
        </p:spPr>
      </p:sp>
      <p:sp>
        <p:nvSpPr>
          <p:cNvPr id="33" name="LED-Schilder Kreis"/>
          <p:cNvSpPr/>
          <p:nvPr/>
        </p:nvSpPr>
        <p:spPr>
          <a:xfrm>
            <a:off x="9354312" y="4005072"/>
            <a:ext cx="502920" cy="502920"/>
          </a:xfrm>
          <a:prstGeom prst="ellipse">
            <a:avLst/>
          </a:prstGeom>
          <a:solidFill>
            <a:schemeClr val="accent4"/>
          </a:solidFill>
          <a:ln/>
        </p:spPr>
      </p:sp>
      <p:pic>
        <p:nvPicPr>
          <p:cNvPr id="34" name="LED-Schilder Icon" descr="LED-Schilder">    </p:cNvPr>
          <p:cNvPicPr>
            <a:picLocks noChangeAspect="1"/>
          </p:cNvPicPr>
          <p:nvPr/>
        </p:nvPicPr>
        <p:blipFill>
          <a:blip r:embed="rId4"/>
          <a:stretch>
            <a:fillRect/>
          </a:stretch>
        </p:blipFill>
        <p:spPr>
          <a:xfrm>
            <a:off x="9480042" y="4130802"/>
            <a:ext cx="251460" cy="251460"/>
          </a:xfrm>
          <a:prstGeom prst="rect">
            <a:avLst/>
          </a:prstGeom>
        </p:spPr>
      </p:pic>
      <p:sp>
        <p:nvSpPr>
          <p:cNvPr id="35" name="LED-Schilder Name"/>
          <p:cNvSpPr txBox="1"/>
          <p:nvPr/>
        </p:nvSpPr>
        <p:spPr>
          <a:xfrm>
            <a:off x="9354312" y="4599432"/>
            <a:ext cx="2057400" cy="292608"/>
          </a:xfrm>
          <a:prstGeom prst="rect">
            <a:avLst/>
          </a:prstGeom>
          <a:noFill/>
          <a:ln/>
        </p:spPr>
        <p:txBody>
          <a:bodyPr wrap="square" lIns="0" tIns="0" rIns="0" bIns="0" rtlCol="0" anchor="ctr"/>
          <a:lstStyle/>
          <a:p>
            <a:pPr indent="0" marL="0">
              <a:buNone/>
            </a:pPr>
            <a:r>
              <a:rPr lang="en-US" sz="1600" b="1" dirty="0">
                <a:solidFill>
                  <a:schemeClr val="tx1"/>
                </a:solidFill>
              </a:rPr>
              <a:t>LED-Schilder</a:t>
            </a:r>
            <a:endParaRPr lang="en-US" sz="1600" dirty="0"/>
          </a:p>
        </p:txBody>
      </p:sp>
      <p:sp>
        <p:nvSpPr>
          <p:cNvPr id="36" name="LED-Schilder Beschreibung"/>
          <p:cNvSpPr txBox="1"/>
          <p:nvPr/>
        </p:nvSpPr>
        <p:spPr>
          <a:xfrm>
            <a:off x="9354312" y="4873752"/>
            <a:ext cx="2057400" cy="274320"/>
          </a:xfrm>
          <a:prstGeom prst="rect">
            <a:avLst/>
          </a:prstGeom>
          <a:noFill/>
          <a:ln/>
        </p:spPr>
        <p:txBody>
          <a:bodyPr wrap="square" lIns="0" tIns="0" rIns="0" bIns="0" rtlCol="0" anchor="ctr"/>
          <a:lstStyle/>
          <a:p>
            <a:pPr indent="0" marL="0">
              <a:buNone/>
            </a:pPr>
            <a:r>
              <a:rPr lang="en-US" sz="1200" dirty="0">
                <a:solidFill>
                  <a:schemeClr val="accent6"/>
                </a:solidFill>
              </a:rPr>
              <a:t>Neon-Schriftzug mit Namen</a:t>
            </a:r>
            <a:endParaRPr lang="en-US" sz="1200" dirty="0"/>
          </a:p>
        </p:txBody>
      </p:sp>
      <p:sp>
        <p:nvSpPr>
          <p:cNvPr id="37" name="Zielgruppe Hintergrund"/>
          <p:cNvSpPr/>
          <p:nvPr/>
        </p:nvSpPr>
        <p:spPr>
          <a:xfrm>
            <a:off x="548640" y="5440680"/>
            <a:ext cx="11094415" cy="548640"/>
          </a:xfrm>
          <a:prstGeom prst="roundRect">
            <a:avLst>
              <a:gd name="adj" fmla="val 50000"/>
            </a:avLst>
          </a:prstGeom>
          <a:solidFill>
            <a:schemeClr val="accent1"/>
          </a:solidFill>
          <a:ln/>
        </p:spPr>
      </p:sp>
      <p:sp>
        <p:nvSpPr>
          <p:cNvPr id="38" name="Zielgruppe Text"/>
          <p:cNvSpPr txBox="1"/>
          <p:nvPr/>
        </p:nvSpPr>
        <p:spPr>
          <a:xfrm>
            <a:off x="822960" y="5440680"/>
            <a:ext cx="10545775" cy="548640"/>
          </a:xfrm>
          <a:prstGeom prst="rect">
            <a:avLst/>
          </a:prstGeom>
          <a:noFill/>
          <a:ln/>
        </p:spPr>
        <p:txBody>
          <a:bodyPr wrap="square" lIns="0" tIns="0" rIns="0" bIns="0" rtlCol="0" anchor="ctr"/>
          <a:lstStyle/>
          <a:p>
            <a:pPr indent="0" marL="0">
              <a:buNone/>
            </a:pPr>
            <a:r>
              <a:rPr lang="en-US" sz="1600" b="1" dirty="0">
                <a:solidFill>
                  <a:schemeClr val="bg1"/>
                </a:solidFill>
              </a:rPr>
              <a:t>Zielgruppe: </a:t>
            </a:r>
            <a:pPr indent="0" marL="0">
              <a:buNone/>
            </a:pPr>
            <a:r>
              <a:rPr lang="en-US" sz="1600" dirty="0">
                <a:solidFill>
                  <a:schemeClr val="bg1"/>
                </a:solidFill>
              </a:rPr>
              <a:t>Gamer und Streamer zwischen 16 und 30, die ein Setup wollen, das es nur einmal gibt</a:t>
            </a:r>
            <a:endParaRPr lang="en-US" sz="1600" dirty="0"/>
          </a:p>
        </p:txBody>
      </p:sp>
      <p:sp>
        <p:nvSpPr>
          <p:cNvPr id="3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Name und Logo</a:t>
            </a:r>
            <a:endParaRPr lang="en-US" sz="3400" dirty="0"/>
          </a:p>
        </p:txBody>
      </p:sp>
      <p:sp>
        <p:nvSpPr>
          <p:cNvPr id="3" name="Logo Karte"/>
          <p:cNvSpPr/>
          <p:nvPr/>
        </p:nvSpPr>
        <p:spPr>
          <a:xfrm>
            <a:off x="548640" y="1463040"/>
            <a:ext cx="3840480" cy="3840480"/>
          </a:xfrm>
          <a:prstGeom prst="roundRect">
            <a:avLst>
              <a:gd name="adj" fmla="val 3571"/>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pic>
        <p:nvPicPr>
          <p:cNvPr id="4" name="Logo Symbol" descr="Logo-Symbol: offene violette Schatztruhe mit goldenen Beschlägen, aus der Licht strahlt">    </p:cNvPr>
          <p:cNvPicPr>
            <a:picLocks noChangeAspect="1"/>
          </p:cNvPicPr>
          <p:nvPr/>
        </p:nvPicPr>
        <p:blipFill>
          <a:blip r:embed="rId1"/>
          <a:stretch>
            <a:fillRect/>
          </a:stretch>
        </p:blipFill>
        <p:spPr>
          <a:xfrm>
            <a:off x="868680" y="1783080"/>
            <a:ext cx="3200400" cy="3200400"/>
          </a:xfrm>
          <a:prstGeom prst="rect">
            <a:avLst/>
          </a:prstGeom>
        </p:spPr>
      </p:pic>
      <p:sp>
        <p:nvSpPr>
          <p:cNvPr id="5" name="Logo Erklärung"/>
          <p:cNvSpPr txBox="1"/>
          <p:nvPr/>
        </p:nvSpPr>
        <p:spPr>
          <a:xfrm>
            <a:off x="548640" y="5440680"/>
            <a:ext cx="3840480" cy="594360"/>
          </a:xfrm>
          <a:prstGeom prst="rect">
            <a:avLst/>
          </a:prstGeom>
          <a:noFill/>
          <a:ln/>
        </p:spPr>
        <p:txBody>
          <a:bodyPr wrap="square" lIns="0" tIns="0" rIns="0" bIns="0" rtlCol="0" anchor="t"/>
          <a:lstStyle/>
          <a:p>
            <a:pPr algn="l" indent="0" marL="0">
              <a:buNone/>
            </a:pPr>
            <a:r>
              <a:rPr lang="en-US" sz="1200" dirty="0">
                <a:solidFill>
                  <a:schemeClr val="accent6"/>
                </a:solidFill>
              </a:rPr>
              <a:t>Die Loot-Truhe: Wer bei uns bestellt, bekommt seine Belohnung.</a:t>
            </a:r>
            <a:endParaRPr lang="en-US" sz="1200" dirty="0"/>
          </a:p>
          <a:p>
            <a:pPr algn="l" indent="0" marL="0">
              <a:buNone/>
            </a:pPr>
            <a:r>
              <a:rPr lang="en-US" sz="1200" i="1" dirty="0">
                <a:solidFill>
                  <a:schemeClr val="accent6"/>
                </a:solidFill>
              </a:rPr>
              <a:t>Logo erstellt mit ChatGPT (KI)</a:t>
            </a:r>
            <a:endParaRPr lang="en-US" sz="1200" dirty="0"/>
          </a:p>
        </p:txBody>
      </p:sp>
      <p:sp>
        <p:nvSpPr>
          <p:cNvPr id="6" name="Wort Loot"/>
          <p:cNvSpPr txBox="1"/>
          <p:nvPr/>
        </p:nvSpPr>
        <p:spPr>
          <a:xfrm>
            <a:off x="4846320" y="1463040"/>
            <a:ext cx="21945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Loot</a:t>
            </a:r>
            <a:endParaRPr lang="en-US" sz="2800" dirty="0"/>
          </a:p>
        </p:txBody>
      </p:sp>
      <p:sp>
        <p:nvSpPr>
          <p:cNvPr id="7" name="Bedeutung Loot"/>
          <p:cNvSpPr txBox="1"/>
          <p:nvPr/>
        </p:nvSpPr>
        <p:spPr>
          <a:xfrm>
            <a:off x="7086600" y="1463040"/>
            <a:ext cx="4556455" cy="548640"/>
          </a:xfrm>
          <a:prstGeom prst="rect">
            <a:avLst/>
          </a:prstGeom>
          <a:noFill/>
          <a:ln/>
        </p:spPr>
        <p:txBody>
          <a:bodyPr wrap="square" lIns="0" tIns="0" rIns="0" bIns="0" rtlCol="0" anchor="ctr"/>
          <a:lstStyle/>
          <a:p>
            <a:pPr indent="0" marL="0">
              <a:buNone/>
            </a:pPr>
            <a:r>
              <a:rPr lang="en-US" sz="1700" dirty="0">
                <a:solidFill>
                  <a:schemeClr val="tx1"/>
                </a:solidFill>
              </a:rPr>
              <a:t>= Beute bzw. Belohnung in Videospielen</a:t>
            </a:r>
            <a:endParaRPr lang="en-US" sz="1700" dirty="0"/>
          </a:p>
        </p:txBody>
      </p:sp>
      <p:sp>
        <p:nvSpPr>
          <p:cNvPr id="8" name="Wort Lager"/>
          <p:cNvSpPr txBox="1"/>
          <p:nvPr/>
        </p:nvSpPr>
        <p:spPr>
          <a:xfrm>
            <a:off x="4846320" y="2240280"/>
            <a:ext cx="2194560" cy="54864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Lager</a:t>
            </a:r>
            <a:endParaRPr lang="en-US" sz="2800" dirty="0"/>
          </a:p>
        </p:txBody>
      </p:sp>
      <p:sp>
        <p:nvSpPr>
          <p:cNvPr id="9" name="Bedeutung Lager"/>
          <p:cNvSpPr txBox="1"/>
          <p:nvPr/>
        </p:nvSpPr>
        <p:spPr>
          <a:xfrm>
            <a:off x="7086600" y="2240280"/>
            <a:ext cx="4556455" cy="548640"/>
          </a:xfrm>
          <a:prstGeom prst="rect">
            <a:avLst/>
          </a:prstGeom>
          <a:noFill/>
          <a:ln/>
        </p:spPr>
        <p:txBody>
          <a:bodyPr wrap="square" lIns="0" tIns="0" rIns="0" bIns="0" rtlCol="0" anchor="ctr"/>
          <a:lstStyle/>
          <a:p>
            <a:pPr indent="0" marL="0">
              <a:buNone/>
            </a:pPr>
            <a:r>
              <a:rPr lang="en-US" sz="1700" dirty="0">
                <a:solidFill>
                  <a:schemeClr val="tx1"/>
                </a:solidFill>
              </a:rPr>
              <a:t>= unser Shop, in dem alles bereitliegt</a:t>
            </a:r>
            <a:endParaRPr lang="en-US" sz="1700" dirty="0"/>
          </a:p>
        </p:txBody>
      </p:sp>
      <p:sp>
        <p:nvSpPr>
          <p:cNvPr id="10" name="Wort LootLager"/>
          <p:cNvSpPr txBox="1"/>
          <p:nvPr/>
        </p:nvSpPr>
        <p:spPr>
          <a:xfrm>
            <a:off x="4846320" y="3017520"/>
            <a:ext cx="2194560" cy="548640"/>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LootLager</a:t>
            </a:r>
            <a:endParaRPr lang="en-US" sz="2800" dirty="0"/>
          </a:p>
        </p:txBody>
      </p:sp>
      <p:sp>
        <p:nvSpPr>
          <p:cNvPr id="11" name="Bedeutung LootLager"/>
          <p:cNvSpPr txBox="1"/>
          <p:nvPr/>
        </p:nvSpPr>
        <p:spPr>
          <a:xfrm>
            <a:off x="7086600" y="3017520"/>
            <a:ext cx="4556455" cy="548640"/>
          </a:xfrm>
          <a:prstGeom prst="rect">
            <a:avLst/>
          </a:prstGeom>
          <a:noFill/>
          <a:ln/>
        </p:spPr>
        <p:txBody>
          <a:bodyPr wrap="square" lIns="0" tIns="0" rIns="0" bIns="0" rtlCol="0" anchor="ctr"/>
          <a:lstStyle/>
          <a:p>
            <a:pPr indent="0" marL="0">
              <a:buNone/>
            </a:pPr>
            <a:r>
              <a:rPr lang="en-US" sz="1700" dirty="0">
                <a:solidFill>
                  <a:schemeClr val="tx1"/>
                </a:solidFill>
              </a:rPr>
              <a:t>= das Lager voller Beute für dein Setup</a:t>
            </a:r>
            <a:endParaRPr lang="en-US" sz="1700" dirty="0"/>
          </a:p>
        </p:txBody>
      </p:sp>
      <p:sp>
        <p:nvSpPr>
          <p:cNvPr id="12" name="FIRMA Karte"/>
          <p:cNvSpPr/>
          <p:nvPr/>
        </p:nvSpPr>
        <p:spPr>
          <a:xfrm>
            <a:off x="4846320" y="3886200"/>
            <a:ext cx="3247492" cy="1645920"/>
          </a:xfrm>
          <a:prstGeom prst="roundRect">
            <a:avLst>
              <a:gd name="adj" fmla="val 6667"/>
            </a:avLst>
          </a:prstGeom>
          <a:solidFill>
            <a:schemeClr val="bg2"/>
          </a:solidFill>
          <a:ln/>
        </p:spPr>
      </p:sp>
      <p:sp>
        <p:nvSpPr>
          <p:cNvPr id="13" name="FIRMA Label"/>
          <p:cNvSpPr txBox="1"/>
          <p:nvPr/>
        </p:nvSpPr>
        <p:spPr>
          <a:xfrm>
            <a:off x="5074920" y="4069080"/>
            <a:ext cx="279029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FIRMA</a:t>
            </a:r>
            <a:endParaRPr lang="en-US" sz="1200" dirty="0"/>
          </a:p>
        </p:txBody>
      </p:sp>
      <p:sp>
        <p:nvSpPr>
          <p:cNvPr id="14" name="FIRMA Wert"/>
          <p:cNvSpPr txBox="1"/>
          <p:nvPr/>
        </p:nvSpPr>
        <p:spPr>
          <a:xfrm>
            <a:off x="5074920" y="4343400"/>
            <a:ext cx="2790292" cy="566928"/>
          </a:xfrm>
          <a:prstGeom prst="rect">
            <a:avLst/>
          </a:prstGeom>
          <a:noFill/>
          <a:ln/>
        </p:spPr>
        <p:txBody>
          <a:bodyPr wrap="square" lIns="0" tIns="0" rIns="0" bIns="0" rtlCol="0" anchor="t"/>
          <a:lstStyle/>
          <a:p>
            <a:pPr indent="0" marL="0">
              <a:buNone/>
            </a:pPr>
            <a:r>
              <a:rPr lang="en-US" sz="1600" b="1" dirty="0">
                <a:solidFill>
                  <a:schemeClr val="tx1"/>
                </a:solidFill>
              </a:rPr>
              <a:t>LootLager UG (haftungsbeschränkt)</a:t>
            </a:r>
            <a:endParaRPr lang="en-US" sz="1600" dirty="0"/>
          </a:p>
        </p:txBody>
      </p:sp>
      <p:sp>
        <p:nvSpPr>
          <p:cNvPr id="15" name="FIRMA Beschreibung"/>
          <p:cNvSpPr txBox="1"/>
          <p:nvPr/>
        </p:nvSpPr>
        <p:spPr>
          <a:xfrm>
            <a:off x="5074920" y="5029200"/>
            <a:ext cx="2790292" cy="320040"/>
          </a:xfrm>
          <a:prstGeom prst="rect">
            <a:avLst/>
          </a:prstGeom>
          <a:noFill/>
          <a:ln/>
        </p:spPr>
        <p:txBody>
          <a:bodyPr wrap="square" lIns="0" tIns="0" rIns="0" bIns="0" rtlCol="0" anchor="t"/>
          <a:lstStyle/>
          <a:p>
            <a:pPr indent="0" marL="0">
              <a:buNone/>
            </a:pPr>
            <a:r>
              <a:rPr lang="en-US" sz="1200" dirty="0">
                <a:solidFill>
                  <a:schemeClr val="accent6"/>
                </a:solidFill>
              </a:rPr>
              <a:t>rechtlicher Name, steht im Handelsregister</a:t>
            </a:r>
            <a:endParaRPr lang="en-US" sz="1200" dirty="0"/>
          </a:p>
        </p:txBody>
      </p:sp>
      <p:sp>
        <p:nvSpPr>
          <p:cNvPr id="16" name="MARKE Karte"/>
          <p:cNvSpPr/>
          <p:nvPr/>
        </p:nvSpPr>
        <p:spPr>
          <a:xfrm>
            <a:off x="8395564" y="3886200"/>
            <a:ext cx="3247492" cy="1645920"/>
          </a:xfrm>
          <a:prstGeom prst="roundRect">
            <a:avLst>
              <a:gd name="adj" fmla="val 6667"/>
            </a:avLst>
          </a:prstGeom>
          <a:solidFill>
            <a:schemeClr val="bg2"/>
          </a:solidFill>
          <a:ln/>
        </p:spPr>
      </p:sp>
      <p:sp>
        <p:nvSpPr>
          <p:cNvPr id="17" name="MARKE Label"/>
          <p:cNvSpPr txBox="1"/>
          <p:nvPr/>
        </p:nvSpPr>
        <p:spPr>
          <a:xfrm>
            <a:off x="8624164" y="4069080"/>
            <a:ext cx="2790292"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MARKE</a:t>
            </a:r>
            <a:endParaRPr lang="en-US" sz="1200" dirty="0"/>
          </a:p>
        </p:txBody>
      </p:sp>
      <p:sp>
        <p:nvSpPr>
          <p:cNvPr id="18" name="MARKE Wert"/>
          <p:cNvSpPr txBox="1"/>
          <p:nvPr/>
        </p:nvSpPr>
        <p:spPr>
          <a:xfrm>
            <a:off x="8624164" y="4343400"/>
            <a:ext cx="2790292" cy="566928"/>
          </a:xfrm>
          <a:prstGeom prst="rect">
            <a:avLst/>
          </a:prstGeom>
          <a:noFill/>
          <a:ln/>
        </p:spPr>
        <p:txBody>
          <a:bodyPr wrap="square" lIns="0" tIns="0" rIns="0" bIns="0" rtlCol="0" anchor="t"/>
          <a:lstStyle/>
          <a:p>
            <a:pPr indent="0" marL="0">
              <a:buNone/>
            </a:pPr>
            <a:r>
              <a:rPr lang="en-US" sz="1600" b="1" dirty="0">
                <a:solidFill>
                  <a:schemeClr val="tx1"/>
                </a:solidFill>
              </a:rPr>
              <a:t>LootLager</a:t>
            </a:r>
            <a:endParaRPr lang="en-US" sz="1600" dirty="0"/>
          </a:p>
        </p:txBody>
      </p:sp>
      <p:sp>
        <p:nvSpPr>
          <p:cNvPr id="19" name="MARKE Beschreibung"/>
          <p:cNvSpPr txBox="1"/>
          <p:nvPr/>
        </p:nvSpPr>
        <p:spPr>
          <a:xfrm>
            <a:off x="8624164" y="5029200"/>
            <a:ext cx="2790292" cy="320040"/>
          </a:xfrm>
          <a:prstGeom prst="rect">
            <a:avLst/>
          </a:prstGeom>
          <a:noFill/>
          <a:ln/>
        </p:spPr>
        <p:txBody>
          <a:bodyPr wrap="square" lIns="0" tIns="0" rIns="0" bIns="0" rtlCol="0" anchor="t"/>
          <a:lstStyle/>
          <a:p>
            <a:pPr indent="0" marL="0">
              <a:buNone/>
            </a:pPr>
            <a:r>
              <a:rPr lang="en-US" sz="1200" dirty="0">
                <a:solidFill>
                  <a:schemeClr val="accent6"/>
                </a:solidFill>
              </a:rPr>
              <a:t>Name, unter dem Kunden uns kennen</a:t>
            </a:r>
            <a:endParaRPr lang="en-US" sz="1200" dirty="0"/>
          </a:p>
        </p:txBody>
      </p:sp>
      <p:sp>
        <p:nvSpPr>
          <p:cNvPr id="2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Warum eine UG (haftungsbeschränkt)?</a:t>
            </a:r>
            <a:endParaRPr lang="en-US" sz="3400" dirty="0"/>
          </a:p>
        </p:txBody>
      </p:sp>
      <p:sp>
        <p:nvSpPr>
          <p:cNvPr id="3" name="Vorteil Haftung beschränkt"/>
          <p:cNvSpPr/>
          <p:nvPr/>
        </p:nvSpPr>
        <p:spPr>
          <a:xfrm>
            <a:off x="548640" y="1463040"/>
            <a:ext cx="3520440" cy="1828800"/>
          </a:xfrm>
          <a:prstGeom prst="roundRect">
            <a:avLst>
              <a:gd name="adj" fmla="val 6000"/>
            </a:avLst>
          </a:prstGeom>
          <a:solidFill>
            <a:schemeClr val="bg2"/>
          </a:solidFill>
          <a:ln/>
        </p:spPr>
      </p:sp>
      <p:sp>
        <p:nvSpPr>
          <p:cNvPr id="4" name="Haftung beschränkt Kreis"/>
          <p:cNvSpPr/>
          <p:nvPr/>
        </p:nvSpPr>
        <p:spPr>
          <a:xfrm>
            <a:off x="822960" y="1737360"/>
            <a:ext cx="548640" cy="548640"/>
          </a:xfrm>
          <a:prstGeom prst="ellipse">
            <a:avLst/>
          </a:prstGeom>
          <a:solidFill>
            <a:schemeClr val="accent1"/>
          </a:solidFill>
          <a:ln/>
        </p:spPr>
      </p:sp>
      <p:pic>
        <p:nvPicPr>
          <p:cNvPr id="5" name="Haftung beschränkt Icon" descr="Haftung beschränkt">    </p:cNvPr>
          <p:cNvPicPr>
            <a:picLocks noChangeAspect="1"/>
          </p:cNvPicPr>
          <p:nvPr/>
        </p:nvPicPr>
        <p:blipFill>
          <a:blip r:embed="rId1"/>
          <a:stretch>
            <a:fillRect/>
          </a:stretch>
        </p:blipFill>
        <p:spPr>
          <a:xfrm>
            <a:off x="960120" y="1874520"/>
            <a:ext cx="274320" cy="274320"/>
          </a:xfrm>
          <a:prstGeom prst="rect">
            <a:avLst/>
          </a:prstGeom>
        </p:spPr>
      </p:pic>
      <p:sp>
        <p:nvSpPr>
          <p:cNvPr id="6" name="Haftung beschränkt Titel"/>
          <p:cNvSpPr txBox="1"/>
          <p:nvPr/>
        </p:nvSpPr>
        <p:spPr>
          <a:xfrm>
            <a:off x="150876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Haftung beschränkt</a:t>
            </a:r>
            <a:endParaRPr lang="en-US" sz="1800" dirty="0"/>
          </a:p>
        </p:txBody>
      </p:sp>
      <p:sp>
        <p:nvSpPr>
          <p:cNvPr id="7" name="Haftung beschränkt Text"/>
          <p:cNvSpPr txBox="1"/>
          <p:nvPr/>
        </p:nvSpPr>
        <p:spPr>
          <a:xfrm>
            <a:off x="82296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Bei Schulden haftet nur die Firma, nicht unser Privatvermögen.</a:t>
            </a:r>
            <a:endParaRPr lang="en-US" sz="1400" dirty="0"/>
          </a:p>
        </p:txBody>
      </p:sp>
      <p:sp>
        <p:nvSpPr>
          <p:cNvPr id="8" name="Vorteil Wenig Startkapital"/>
          <p:cNvSpPr/>
          <p:nvPr/>
        </p:nvSpPr>
        <p:spPr>
          <a:xfrm>
            <a:off x="4343400" y="1463040"/>
            <a:ext cx="3520440" cy="1828800"/>
          </a:xfrm>
          <a:prstGeom prst="roundRect">
            <a:avLst>
              <a:gd name="adj" fmla="val 6000"/>
            </a:avLst>
          </a:prstGeom>
          <a:solidFill>
            <a:schemeClr val="bg2"/>
          </a:solidFill>
          <a:ln/>
        </p:spPr>
      </p:sp>
      <p:sp>
        <p:nvSpPr>
          <p:cNvPr id="9" name="Wenig Startkapital Kreis"/>
          <p:cNvSpPr/>
          <p:nvPr/>
        </p:nvSpPr>
        <p:spPr>
          <a:xfrm>
            <a:off x="4617720" y="1737360"/>
            <a:ext cx="548640" cy="548640"/>
          </a:xfrm>
          <a:prstGeom prst="ellipse">
            <a:avLst/>
          </a:prstGeom>
          <a:solidFill>
            <a:schemeClr val="accent1"/>
          </a:solidFill>
          <a:ln/>
        </p:spPr>
      </p:sp>
      <p:pic>
        <p:nvPicPr>
          <p:cNvPr id="10" name="Wenig Startkapital Icon" descr="Wenig Startkapital">    </p:cNvPr>
          <p:cNvPicPr>
            <a:picLocks noChangeAspect="1"/>
          </p:cNvPicPr>
          <p:nvPr/>
        </p:nvPicPr>
        <p:blipFill>
          <a:blip r:embed="rId2"/>
          <a:stretch>
            <a:fillRect/>
          </a:stretch>
        </p:blipFill>
        <p:spPr>
          <a:xfrm>
            <a:off x="4754880" y="1874520"/>
            <a:ext cx="274320" cy="274320"/>
          </a:xfrm>
          <a:prstGeom prst="rect">
            <a:avLst/>
          </a:prstGeom>
        </p:spPr>
      </p:pic>
      <p:sp>
        <p:nvSpPr>
          <p:cNvPr id="11" name="Wenig Startkapital Titel"/>
          <p:cNvSpPr txBox="1"/>
          <p:nvPr/>
        </p:nvSpPr>
        <p:spPr>
          <a:xfrm>
            <a:off x="5303520" y="173736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Wenig Startkapital</a:t>
            </a:r>
            <a:endParaRPr lang="en-US" sz="1800" dirty="0"/>
          </a:p>
        </p:txBody>
      </p:sp>
      <p:sp>
        <p:nvSpPr>
          <p:cNvPr id="12" name="Wenig Startkapital Text"/>
          <p:cNvSpPr txBox="1"/>
          <p:nvPr/>
        </p:nvSpPr>
        <p:spPr>
          <a:xfrm>
            <a:off x="4617720" y="2423160"/>
            <a:ext cx="2971800" cy="685800"/>
          </a:xfrm>
          <a:prstGeom prst="rect">
            <a:avLst/>
          </a:prstGeom>
          <a:noFill/>
          <a:ln/>
        </p:spPr>
        <p:txBody>
          <a:bodyPr wrap="square" lIns="0" tIns="0" rIns="0" bIns="0" rtlCol="0" anchor="t"/>
          <a:lstStyle/>
          <a:p>
            <a:pPr indent="0" marL="0">
              <a:buNone/>
            </a:pPr>
            <a:r>
              <a:rPr lang="en-US" sz="1400" dirty="0">
                <a:solidFill>
                  <a:schemeClr val="tx1"/>
                </a:solidFill>
              </a:rPr>
              <a:t>Gründung ab 1 € möglich. Wir starten mit 1.000 €, je 500 € pro Person.</a:t>
            </a:r>
            <a:endParaRPr lang="en-US" sz="1400" dirty="0"/>
          </a:p>
        </p:txBody>
      </p:sp>
      <p:sp>
        <p:nvSpPr>
          <p:cNvPr id="13" name="Vorteil Zwei Gesellschafter"/>
          <p:cNvSpPr/>
          <p:nvPr/>
        </p:nvSpPr>
        <p:spPr>
          <a:xfrm>
            <a:off x="548640" y="3566160"/>
            <a:ext cx="3520440" cy="1828800"/>
          </a:xfrm>
          <a:prstGeom prst="roundRect">
            <a:avLst>
              <a:gd name="adj" fmla="val 6000"/>
            </a:avLst>
          </a:prstGeom>
          <a:solidFill>
            <a:schemeClr val="bg2"/>
          </a:solidFill>
          <a:ln/>
        </p:spPr>
      </p:sp>
      <p:sp>
        <p:nvSpPr>
          <p:cNvPr id="14" name="Zwei Gesellschafter Kreis"/>
          <p:cNvSpPr/>
          <p:nvPr/>
        </p:nvSpPr>
        <p:spPr>
          <a:xfrm>
            <a:off x="822960" y="3840480"/>
            <a:ext cx="548640" cy="548640"/>
          </a:xfrm>
          <a:prstGeom prst="ellipse">
            <a:avLst/>
          </a:prstGeom>
          <a:solidFill>
            <a:schemeClr val="accent1"/>
          </a:solidFill>
          <a:ln/>
        </p:spPr>
      </p:sp>
      <p:pic>
        <p:nvPicPr>
          <p:cNvPr id="15" name="Zwei Gesellschafter Icon" descr="Zwei Gesellschafter">    </p:cNvPr>
          <p:cNvPicPr>
            <a:picLocks noChangeAspect="1"/>
          </p:cNvPicPr>
          <p:nvPr/>
        </p:nvPicPr>
        <p:blipFill>
          <a:blip r:embed="rId3"/>
          <a:stretch>
            <a:fillRect/>
          </a:stretch>
        </p:blipFill>
        <p:spPr>
          <a:xfrm>
            <a:off x="960120" y="3977640"/>
            <a:ext cx="274320" cy="274320"/>
          </a:xfrm>
          <a:prstGeom prst="rect">
            <a:avLst/>
          </a:prstGeom>
        </p:spPr>
      </p:pic>
      <p:sp>
        <p:nvSpPr>
          <p:cNvPr id="16" name="Zwei Gesellschafter Titel"/>
          <p:cNvSpPr txBox="1"/>
          <p:nvPr/>
        </p:nvSpPr>
        <p:spPr>
          <a:xfrm>
            <a:off x="150876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Zwei Gesellschafter</a:t>
            </a:r>
            <a:endParaRPr lang="en-US" sz="1800" dirty="0"/>
          </a:p>
        </p:txBody>
      </p:sp>
      <p:sp>
        <p:nvSpPr>
          <p:cNvPr id="17" name="Zwei Gesellschafter Text"/>
          <p:cNvSpPr txBox="1"/>
          <p:nvPr/>
        </p:nvSpPr>
        <p:spPr>
          <a:xfrm>
            <a:off x="82296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Nick und Luca halten je 50 % und führen gemeinsam die Geschäfte.</a:t>
            </a:r>
            <a:endParaRPr lang="en-US" sz="1400" dirty="0"/>
          </a:p>
        </p:txBody>
      </p:sp>
      <p:sp>
        <p:nvSpPr>
          <p:cNvPr id="18" name="Vorteil Später eine GmbH"/>
          <p:cNvSpPr/>
          <p:nvPr/>
        </p:nvSpPr>
        <p:spPr>
          <a:xfrm>
            <a:off x="4343400" y="3566160"/>
            <a:ext cx="3520440" cy="1828800"/>
          </a:xfrm>
          <a:prstGeom prst="roundRect">
            <a:avLst>
              <a:gd name="adj" fmla="val 6000"/>
            </a:avLst>
          </a:prstGeom>
          <a:solidFill>
            <a:schemeClr val="bg2"/>
          </a:solidFill>
          <a:ln/>
        </p:spPr>
      </p:sp>
      <p:sp>
        <p:nvSpPr>
          <p:cNvPr id="19" name="Später eine GmbH Kreis"/>
          <p:cNvSpPr/>
          <p:nvPr/>
        </p:nvSpPr>
        <p:spPr>
          <a:xfrm>
            <a:off x="4617720" y="3840480"/>
            <a:ext cx="548640" cy="548640"/>
          </a:xfrm>
          <a:prstGeom prst="ellipse">
            <a:avLst/>
          </a:prstGeom>
          <a:solidFill>
            <a:schemeClr val="accent1"/>
          </a:solidFill>
          <a:ln/>
        </p:spPr>
      </p:sp>
      <p:pic>
        <p:nvPicPr>
          <p:cNvPr id="20" name="Später eine GmbH Icon" descr="Später eine GmbH">    </p:cNvPr>
          <p:cNvPicPr>
            <a:picLocks noChangeAspect="1"/>
          </p:cNvPicPr>
          <p:nvPr/>
        </p:nvPicPr>
        <p:blipFill>
          <a:blip r:embed="rId4"/>
          <a:stretch>
            <a:fillRect/>
          </a:stretch>
        </p:blipFill>
        <p:spPr>
          <a:xfrm>
            <a:off x="4754880" y="3977640"/>
            <a:ext cx="274320" cy="274320"/>
          </a:xfrm>
          <a:prstGeom prst="rect">
            <a:avLst/>
          </a:prstGeom>
        </p:spPr>
      </p:pic>
      <p:sp>
        <p:nvSpPr>
          <p:cNvPr id="21" name="Später eine GmbH Titel"/>
          <p:cNvSpPr txBox="1"/>
          <p:nvPr/>
        </p:nvSpPr>
        <p:spPr>
          <a:xfrm>
            <a:off x="5303520" y="3840480"/>
            <a:ext cx="2331720" cy="548640"/>
          </a:xfrm>
          <a:prstGeom prst="rect">
            <a:avLst/>
          </a:prstGeom>
          <a:noFill/>
          <a:ln/>
        </p:spPr>
        <p:txBody>
          <a:bodyPr wrap="square" lIns="0" tIns="0" rIns="0" bIns="0" rtlCol="0" anchor="ctr"/>
          <a:lstStyle/>
          <a:p>
            <a:pPr indent="0" marL="0">
              <a:buNone/>
            </a:pPr>
            <a:r>
              <a:rPr lang="en-US" sz="1800" b="1" dirty="0">
                <a:solidFill>
                  <a:schemeClr val="tx1"/>
                </a:solidFill>
              </a:rPr>
              <a:t>Später eine GmbH</a:t>
            </a:r>
            <a:endParaRPr lang="en-US" sz="1800" dirty="0"/>
          </a:p>
        </p:txBody>
      </p:sp>
      <p:sp>
        <p:nvSpPr>
          <p:cNvPr id="22" name="Später eine GmbH Text"/>
          <p:cNvSpPr txBox="1"/>
          <p:nvPr/>
        </p:nvSpPr>
        <p:spPr>
          <a:xfrm>
            <a:off x="4617720" y="4526280"/>
            <a:ext cx="2971800" cy="685800"/>
          </a:xfrm>
          <a:prstGeom prst="rect">
            <a:avLst/>
          </a:prstGeom>
          <a:noFill/>
          <a:ln/>
        </p:spPr>
        <p:txBody>
          <a:bodyPr wrap="square" lIns="0" tIns="0" rIns="0" bIns="0" rtlCol="0" anchor="t"/>
          <a:lstStyle/>
          <a:p>
            <a:pPr indent="0" marL="0">
              <a:buNone/>
            </a:pPr>
            <a:r>
              <a:rPr lang="en-US" sz="1400" dirty="0">
                <a:solidFill>
                  <a:schemeClr val="tx1"/>
                </a:solidFill>
              </a:rPr>
              <a:t>Ab 25.000 € Stammkapital können wir zur GmbH werden.</a:t>
            </a:r>
            <a:endParaRPr lang="en-US" sz="1400" dirty="0"/>
          </a:p>
        </p:txBody>
      </p:sp>
      <p:sp>
        <p:nvSpPr>
          <p:cNvPr id="23" name="Nachteile Karte"/>
          <p:cNvSpPr/>
          <p:nvPr/>
        </p:nvSpPr>
        <p:spPr>
          <a:xfrm>
            <a:off x="8183880" y="1463040"/>
            <a:ext cx="3459175" cy="3931920"/>
          </a:xfrm>
          <a:prstGeom prst="roundRect">
            <a:avLst>
              <a:gd name="adj" fmla="val 3172"/>
            </a:avLst>
          </a:prstGeom>
          <a:solidFill>
            <a:schemeClr val="accent3">
              <a:alpha val="18000"/>
            </a:schemeClr>
          </a:solidFill>
          <a:ln/>
        </p:spPr>
      </p:sp>
      <p:sp>
        <p:nvSpPr>
          <p:cNvPr id="24" name="Nachteile Kreis"/>
          <p:cNvSpPr/>
          <p:nvPr/>
        </p:nvSpPr>
        <p:spPr>
          <a:xfrm>
            <a:off x="8458200" y="1737360"/>
            <a:ext cx="548640" cy="548640"/>
          </a:xfrm>
          <a:prstGeom prst="ellipse">
            <a:avLst/>
          </a:prstGeom>
          <a:solidFill>
            <a:schemeClr val="accent3"/>
          </a:solidFill>
          <a:ln/>
        </p:spPr>
      </p:sp>
      <p:pic>
        <p:nvPicPr>
          <p:cNvPr id="25" name="Nachteile Icon" descr="Nachteile">    </p:cNvPr>
          <p:cNvPicPr>
            <a:picLocks noChangeAspect="1"/>
          </p:cNvPicPr>
          <p:nvPr/>
        </p:nvPicPr>
        <p:blipFill>
          <a:blip r:embed="rId5"/>
          <a:stretch>
            <a:fillRect/>
          </a:stretch>
        </p:blipFill>
        <p:spPr>
          <a:xfrm>
            <a:off x="8595360" y="1874520"/>
            <a:ext cx="274320" cy="274320"/>
          </a:xfrm>
          <a:prstGeom prst="rect">
            <a:avLst/>
          </a:prstGeom>
        </p:spPr>
      </p:pic>
      <p:sp>
        <p:nvSpPr>
          <p:cNvPr id="26" name="Nachteile Titel"/>
          <p:cNvSpPr txBox="1"/>
          <p:nvPr/>
        </p:nvSpPr>
        <p:spPr>
          <a:xfrm>
            <a:off x="9144000" y="1737360"/>
            <a:ext cx="2270455" cy="548640"/>
          </a:xfrm>
          <a:prstGeom prst="rect">
            <a:avLst/>
          </a:prstGeom>
          <a:noFill/>
          <a:ln/>
        </p:spPr>
        <p:txBody>
          <a:bodyPr wrap="square" lIns="0" tIns="0" rIns="0" bIns="0" rtlCol="0" anchor="ctr"/>
          <a:lstStyle/>
          <a:p>
            <a:pPr indent="0" marL="0">
              <a:buNone/>
            </a:pPr>
            <a:r>
              <a:rPr lang="en-US" sz="1800" b="1" dirty="0">
                <a:solidFill>
                  <a:schemeClr val="tx1"/>
                </a:solidFill>
              </a:rPr>
              <a:t>Nachteile</a:t>
            </a:r>
            <a:endParaRPr lang="en-US" sz="1800" dirty="0"/>
          </a:p>
        </p:txBody>
      </p:sp>
      <p:sp>
        <p:nvSpPr>
          <p:cNvPr id="27" name="Nachteile Liste"/>
          <p:cNvSpPr txBox="1"/>
          <p:nvPr/>
        </p:nvSpPr>
        <p:spPr>
          <a:xfrm>
            <a:off x="8458200" y="2514600"/>
            <a:ext cx="2956255"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25 % vom Gewinn müssen in die Rücklage</a:t>
            </a:r>
            <a:endParaRPr lang="en-US" sz="1400" dirty="0"/>
          </a:p>
          <a:p>
            <a:pPr marL="342900" indent="-342900">
              <a:spcAft>
                <a:spcPts val="1000"/>
              </a:spcAft>
              <a:buSzPct val="100000"/>
              <a:buChar char="•"/>
            </a:pPr>
            <a:r>
              <a:rPr lang="en-US" sz="1400" dirty="0">
                <a:solidFill>
                  <a:schemeClr val="tx1"/>
                </a:solidFill>
              </a:rPr>
              <a:t>Notar und Handelsregister kosten Geld</a:t>
            </a:r>
            <a:endParaRPr lang="en-US" sz="1400" dirty="0"/>
          </a:p>
          <a:p>
            <a:pPr marL="342900" indent="-342900">
              <a:spcAft>
                <a:spcPts val="1000"/>
              </a:spcAft>
              <a:buSzPct val="100000"/>
              <a:buChar char="•"/>
            </a:pPr>
            <a:r>
              <a:rPr lang="en-US" sz="1400" dirty="0">
                <a:solidFill>
                  <a:schemeClr val="tx1"/>
                </a:solidFill>
              </a:rPr>
              <a:t>Wirkt bei Banken und Lieferanten weniger kreditwürdig</a:t>
            </a:r>
            <a:endParaRPr lang="en-US" sz="1400" dirty="0"/>
          </a:p>
        </p:txBody>
      </p:sp>
      <p:sp>
        <p:nvSpPr>
          <p:cNvPr id="28" name="Alternative"/>
          <p:cNvSpPr txBox="1"/>
          <p:nvPr/>
        </p:nvSpPr>
        <p:spPr>
          <a:xfrm>
            <a:off x="548640" y="5532120"/>
            <a:ext cx="9509760" cy="411480"/>
          </a:xfrm>
          <a:prstGeom prst="rect">
            <a:avLst/>
          </a:prstGeom>
          <a:noFill/>
          <a:ln/>
        </p:spPr>
        <p:txBody>
          <a:bodyPr wrap="square" lIns="0" tIns="0" rIns="0" bIns="0" rtlCol="0" anchor="ctr"/>
          <a:lstStyle/>
          <a:p>
            <a:pPr indent="0" marL="0">
              <a:buNone/>
            </a:pPr>
            <a:r>
              <a:rPr lang="en-US" sz="1400" b="1" dirty="0">
                <a:solidFill>
                  <a:schemeClr val="accent6"/>
                </a:solidFill>
              </a:rPr>
              <a:t>Alternative GmbH: </a:t>
            </a:r>
            <a:pPr indent="0" marL="0">
              <a:buNone/>
            </a:pPr>
            <a:r>
              <a:rPr lang="en-US" sz="1400" dirty="0">
                <a:solidFill>
                  <a:schemeClr val="accent6"/>
                </a:solidFill>
              </a:rPr>
              <a:t>braucht 25.000 € Stammkapital, davon mindestens 12.500 € bei der Anmeldung.</a:t>
            </a:r>
            <a:endParaRPr lang="en-US" sz="1400" dirty="0"/>
          </a:p>
        </p:txBody>
      </p:sp>
      <p:sp>
        <p:nvSpPr>
          <p:cNvPr id="2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Anbietersuche: Welches Shopsystem passt?</a:t>
            </a:r>
            <a:endParaRPr lang="en-US" sz="3400" dirty="0"/>
          </a:p>
        </p:txBody>
      </p:sp>
      <p:sp>
        <p:nvSpPr>
          <p:cNvPr id="3" name="Erklärung"/>
          <p:cNvSpPr txBox="1"/>
          <p:nvPr/>
        </p:nvSpPr>
        <p:spPr>
          <a:xfrm>
            <a:off x="548640" y="1188720"/>
            <a:ext cx="11091672" cy="320040"/>
          </a:xfrm>
          <a:prstGeom prst="rect">
            <a:avLst/>
          </a:prstGeom>
          <a:noFill/>
          <a:ln/>
        </p:spPr>
        <p:txBody>
          <a:bodyPr wrap="square" lIns="0" tIns="0" rIns="0" bIns="0" rtlCol="0" anchor="ctr"/>
          <a:lstStyle/>
          <a:p>
            <a:pPr indent="0" marL="0">
              <a:buNone/>
            </a:pPr>
            <a:r>
              <a:rPr lang="de-DE" sz="1400" b="1" dirty="0">
                <a:solidFill>
                  <a:schemeClr val="accent6"/>
                </a:solidFill>
              </a:rPr>
              <a:t>Nutzwertanalyse: </a:t>
            </a:r>
            <a:r>
              <a:rPr lang="de-DE" sz="1400" dirty="0">
                <a:solidFill>
                  <a:schemeClr val="accent6"/>
                </a:solidFill>
              </a:rPr>
              <a:t>Punkte von 1 (schlecht) bis 10 (sehr gut), in Klammern gewichtet. Preise Stand Oktober 2026.</a:t>
            </a:r>
            <a:endParaRPr lang="de-DE" sz="1400" dirty="0"/>
          </a:p>
        </p:txBody>
      </p:sp>
      <p:graphicFrame>
        <p:nvGraphicFramePr>
          <p:cNvPr id="4" name="Nutzwertanalyse"/>
          <p:cNvGraphicFramePr>
            <a:graphicFrameLocks noGrp="1"/>
          </p:cNvGraphicFramePr>
          <p:nvPr/>
        </p:nvGraphicFramePr>
        <p:xfrm>
          <a:off x="548640" y="1600200"/>
          <a:ext cx="11091672" cy="3474720"/>
        </p:xfrm>
        <a:graphic>
          <a:graphicData uri="http://schemas.openxmlformats.org/drawingml/2006/table">
            <a:tbl>
              <a:tblPr>
                <a:tableStyleId>{5C22544A-7EE6-4342-B048-85BDC9FD1C3A}</a:tableStyleId>
              </a:tblPr>
              <a:tblGrid>
                <a:gridCol w="3227832"/>
                <a:gridCol w="1097280"/>
                <a:gridCol w="1691640"/>
                <a:gridCol w="1691640"/>
                <a:gridCol w="1691640"/>
                <a:gridCol w="1691640"/>
              </a:tblGrid>
              <a:tr h="713232">
                <a:tc>
                  <a:txBody>
                    <a:bodyPr/>
                    <a:lstStyle/>
                    <a:p>
                      <a:pPr/>
                      <a:r>
                        <a:rPr lang="de-DE" sz="1400" b="1" dirty="0">
                          <a:solidFill>
                            <a:schemeClr val="tx1"/>
                          </a:solidFill>
                        </a:rPr>
                        <a:t>Kriterium</a:t>
                      </a:r>
                    </a:p>
                  </a:txBody>
                  <a:tcPr anchor="ctr" marL="91440" marR="91440" marT="27432" marB="27432">
                    <a:lnL w="0">
                      <a:noFill/>
                    </a:lnL>
                    <a:lnR w="0">
                      <a:noFill/>
                    </a:lnR>
                    <a:lnT w="0">
                      <a:noFill/>
                    </a:lnT>
                    <a:lnB w="0">
                      <a:noFill/>
                    </a:lnB>
                    <a:solidFill>
                      <a:schemeClr val="bg2"/>
                    </a:solidFill>
                  </a:tcPr>
                </a:tc>
                <a:tc>
                  <a:txBody>
                    <a:bodyPr/>
                    <a:lstStyle/>
                    <a:p>
                      <a:pPr algn="ctr"/>
                      <a:r>
                        <a:rPr lang="de-DE" sz="1400" b="1" dirty="0">
                          <a:solidFill>
                            <a:schemeClr val="tx1"/>
                          </a:solidFill>
                        </a:rPr>
                        <a:t>Gewichtung</a:t>
                      </a:r>
                    </a:p>
                  </a:txBody>
                  <a:tcPr anchor="ctr" marL="91440" marR="91440" marT="27432" marB="27432">
                    <a:lnL w="0">
                      <a:noFill/>
                    </a:lnL>
                    <a:lnR w="0">
                      <a:noFill/>
                    </a:lnR>
                    <a:lnT w="0">
                      <a:noFill/>
                    </a:lnT>
                    <a:lnB w="0">
                      <a:noFill/>
                    </a:lnB>
                    <a:solidFill>
                      <a:schemeClr val="bg2"/>
                    </a:solidFill>
                  </a:tcPr>
                </a:tc>
                <a:tc>
                  <a:txBody>
                    <a:bodyPr/>
                    <a:lstStyle/>
                    <a:p>
                      <a:pPr algn="ctr"/>
                      <a:r>
                        <a:rPr lang="de-DE" sz="1500" b="1" dirty="0">
                          <a:solidFill>
                            <a:schemeClr val="bg1"/>
                          </a:solidFill>
                        </a:rPr>
                        <a:t>Shopify</a:t>
                      </a:r>
                    </a:p>
                    <a:p>
                      <a:pPr algn="ctr"/>
                      <a:r>
                        <a:rPr lang="de-DE" sz="1000" dirty="0">
                          <a:solidFill>
                            <a:schemeClr val="accent5"/>
                          </a:solidFill>
                        </a:rPr>
                        <a:t>Mietshop (SaaS)</a:t>
                      </a:r>
                    </a:p>
                    <a:p>
                      <a:pPr algn="ctr"/>
                      <a:r>
                        <a:rPr lang="de-DE" sz="1000" dirty="0">
                          <a:solidFill>
                            <a:schemeClr val="accent5"/>
                          </a:solidFill>
                        </a:rPr>
                        <a:t>ab 25 € im Monat</a:t>
                      </a:r>
                    </a:p>
                  </a:txBody>
                  <a:tcPr anchor="ctr" marL="91440" marR="91440" marT="27432" marB="27432">
                    <a:lnL w="0">
                      <a:noFill/>
                    </a:lnL>
                    <a:lnR w="0">
                      <a:noFill/>
                    </a:lnR>
                    <a:lnT w="0">
                      <a:noFill/>
                    </a:lnT>
                    <a:lnB w="0">
                      <a:noFill/>
                    </a:lnB>
                    <a:solidFill>
                      <a:schemeClr val="accent1"/>
                    </a:solidFill>
                  </a:tcPr>
                </a:tc>
                <a:tc>
                  <a:txBody>
                    <a:bodyPr/>
                    <a:lstStyle/>
                    <a:p>
                      <a:pPr algn="ctr"/>
                      <a:r>
                        <a:rPr lang="de-DE" sz="1500" b="1" dirty="0">
                          <a:solidFill>
                            <a:schemeClr val="tx1"/>
                          </a:solidFill>
                        </a:rPr>
                        <a:t>Jimdo</a:t>
                      </a:r>
                    </a:p>
                    <a:p>
                      <a:pPr algn="ctr"/>
                      <a:r>
                        <a:rPr lang="de-DE" sz="1000" dirty="0">
                          <a:solidFill>
                            <a:schemeClr val="accent6"/>
                          </a:solidFill>
                        </a:rPr>
                        <a:t>Homepage-Baukasten</a:t>
                      </a:r>
                    </a:p>
                    <a:p>
                      <a:pPr algn="ctr"/>
                      <a:r>
                        <a:rPr lang="de-DE" sz="1000" dirty="0">
                          <a:solidFill>
                            <a:schemeClr val="accent6"/>
                          </a:solidFill>
                        </a:rPr>
                        <a:t>ab 18 € im Monat</a:t>
                      </a:r>
                    </a:p>
                  </a:txBody>
                  <a:tcPr anchor="ctr" marL="91440" marR="91440" marT="27432" marB="27432">
                    <a:lnL w="0">
                      <a:noFill/>
                    </a:lnL>
                    <a:lnR w="0">
                      <a:noFill/>
                    </a:lnR>
                    <a:lnT w="0">
                      <a:noFill/>
                    </a:lnT>
                    <a:lnB w="0">
                      <a:noFill/>
                    </a:lnB>
                    <a:solidFill>
                      <a:schemeClr val="bg2"/>
                    </a:solidFill>
                  </a:tcPr>
                </a:tc>
                <a:tc>
                  <a:txBody>
                    <a:bodyPr/>
                    <a:lstStyle/>
                    <a:p>
                      <a:pPr algn="ctr"/>
                      <a:r>
                        <a:rPr lang="de-DE" sz="1500" b="1" dirty="0">
                          <a:solidFill>
                            <a:schemeClr val="tx1"/>
                          </a:solidFill>
                        </a:rPr>
                        <a:t>WooCommerce</a:t>
                      </a:r>
                    </a:p>
                    <a:p>
                      <a:pPr algn="ctr"/>
                      <a:r>
                        <a:rPr lang="de-DE" sz="1000" dirty="0">
                          <a:solidFill>
                            <a:schemeClr val="accent6"/>
                          </a:solidFill>
                        </a:rPr>
                        <a:t>WordPress-Plugin</a:t>
                      </a:r>
                    </a:p>
                    <a:p>
                      <a:pPr algn="ctr"/>
                      <a:r>
                        <a:rPr lang="de-DE" sz="1000" dirty="0">
                          <a:solidFill>
                            <a:schemeClr val="accent6"/>
                          </a:solidFill>
                        </a:rPr>
                        <a:t>ca. 30 € im Monat*</a:t>
                      </a:r>
                    </a:p>
                  </a:txBody>
                  <a:tcPr anchor="ctr" marL="91440" marR="91440" marT="27432" marB="27432">
                    <a:lnL w="0">
                      <a:noFill/>
                    </a:lnL>
                    <a:lnR w="0">
                      <a:noFill/>
                    </a:lnR>
                    <a:lnT w="0">
                      <a:noFill/>
                    </a:lnT>
                    <a:lnB w="0">
                      <a:noFill/>
                    </a:lnB>
                    <a:solidFill>
                      <a:schemeClr val="bg2"/>
                    </a:solidFill>
                  </a:tcPr>
                </a:tc>
                <a:tc>
                  <a:txBody>
                    <a:bodyPr/>
                    <a:lstStyle/>
                    <a:p>
                      <a:pPr algn="ctr"/>
                      <a:r>
                        <a:rPr lang="de-DE" sz="1500" b="1" dirty="0">
                          <a:solidFill>
                            <a:schemeClr val="tx1"/>
                          </a:solidFill>
                        </a:rPr>
                        <a:t>Shopware 6</a:t>
                      </a:r>
                    </a:p>
                    <a:p>
                      <a:pPr algn="ctr"/>
                      <a:r>
                        <a:rPr lang="de-DE" sz="1000" dirty="0">
                          <a:solidFill>
                            <a:schemeClr val="accent6"/>
                          </a:solidFill>
                        </a:rPr>
                        <a:t>Open Source</a:t>
                      </a:r>
                    </a:p>
                    <a:p>
                      <a:pPr algn="ctr"/>
                      <a:r>
                        <a:rPr lang="de-DE" sz="1000" dirty="0">
                          <a:solidFill>
                            <a:schemeClr val="accent6"/>
                          </a:solidFill>
                        </a:rPr>
                        <a:t>ca. 30 € im Monat*</a:t>
                      </a:r>
                    </a:p>
                  </a:txBody>
                  <a:tcPr anchor="ctr" marL="91440" marR="91440" marT="27432" marB="27432">
                    <a:lnL w="0">
                      <a:noFill/>
                    </a:lnL>
                    <a:lnR w="0">
                      <a:noFill/>
                    </a:lnR>
                    <a:lnT w="0">
                      <a:noFill/>
                    </a:lnT>
                    <a:lnB w="0">
                      <a:noFill/>
                    </a:lnB>
                    <a:solidFill>
                      <a:schemeClr val="bg2"/>
                    </a:solidFill>
                  </a:tcPr>
                </a:tc>
              </a:tr>
              <a:tr h="384048">
                <a:tc>
                  <a:txBody>
                    <a:bodyPr/>
                    <a:lstStyle/>
                    <a:p>
                      <a:pPr/>
                      <a:r>
                        <a:rPr lang="de-DE" sz="1300" dirty="0">
                          <a:solidFill>
                            <a:schemeClr val="tx1"/>
                          </a:solidFill>
                        </a:rPr>
                        <a:t>Kosten (Start + monatlich)</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25 %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7 </a:t>
                      </a:r>
                      <a:r>
                        <a:rPr lang="de-DE" sz="1100" dirty="0">
                          <a:solidFill>
                            <a:schemeClr val="accent6"/>
                          </a:solidFill>
                        </a:rPr>
                        <a:t>(1,75)</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8 </a:t>
                      </a:r>
                      <a:r>
                        <a:rPr lang="de-DE" sz="1100" dirty="0">
                          <a:solidFill>
                            <a:schemeClr val="accent6"/>
                          </a:solidFill>
                        </a:rPr>
                        <a:t>(2,00)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6 </a:t>
                      </a:r>
                      <a:r>
                        <a:rPr lang="de-DE" sz="1100" dirty="0">
                          <a:solidFill>
                            <a:schemeClr val="accent6"/>
                          </a:solidFill>
                        </a:rPr>
                        <a:t>(1,50)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4 </a:t>
                      </a:r>
                      <a:r>
                        <a:rPr lang="de-DE" sz="1100" dirty="0">
                          <a:solidFill>
                            <a:schemeClr val="accent6"/>
                          </a:solidFill>
                        </a:rPr>
                        <a:t>(1,00)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Bedienbarkeit für Einsteiger</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20 %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9 </a:t>
                      </a:r>
                      <a:r>
                        <a:rPr lang="de-DE" sz="1100" dirty="0">
                          <a:solidFill>
                            <a:schemeClr val="accent6"/>
                          </a:solidFill>
                        </a:rPr>
                        <a:t>(1,80)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9 </a:t>
                      </a:r>
                      <a:r>
                        <a:rPr lang="de-DE" sz="1100" dirty="0">
                          <a:solidFill>
                            <a:schemeClr val="accent6"/>
                          </a:solidFill>
                        </a:rPr>
                        <a:t>(1,80)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4 </a:t>
                      </a:r>
                      <a:r>
                        <a:rPr lang="de-DE" sz="1100" dirty="0">
                          <a:solidFill>
                            <a:schemeClr val="accent6"/>
                          </a:solidFill>
                        </a:rPr>
                        <a:t>(0,80)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4 </a:t>
                      </a:r>
                      <a:r>
                        <a:rPr lang="de-DE" sz="1100" dirty="0">
                          <a:solidFill>
                            <a:schemeClr val="accent6"/>
                          </a:solidFill>
                        </a:rPr>
                        <a:t>(0,80)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Funktionen (Custom Designs, Zahlung)</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20 %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9 </a:t>
                      </a:r>
                      <a:r>
                        <a:rPr lang="de-DE" sz="1100" dirty="0">
                          <a:solidFill>
                            <a:schemeClr val="accent6"/>
                          </a:solidFill>
                        </a:rPr>
                        <a:t>(1,80)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4 </a:t>
                      </a:r>
                      <a:r>
                        <a:rPr lang="de-DE" sz="1100" dirty="0">
                          <a:solidFill>
                            <a:schemeClr val="accent6"/>
                          </a:solidFill>
                        </a:rPr>
                        <a:t>(0,80)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8 </a:t>
                      </a:r>
                      <a:r>
                        <a:rPr lang="de-DE" sz="1100" dirty="0">
                          <a:solidFill>
                            <a:schemeClr val="accent6"/>
                          </a:solidFill>
                        </a:rPr>
                        <a:t>(1,60)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8 </a:t>
                      </a:r>
                      <a:r>
                        <a:rPr lang="de-DE" sz="1100" dirty="0">
                          <a:solidFill>
                            <a:schemeClr val="accent6"/>
                          </a:solidFill>
                        </a:rPr>
                        <a:t>(1,60)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Rechtssicherheit / DSGVO</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15 %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6 </a:t>
                      </a:r>
                      <a:r>
                        <a:rPr lang="de-DE" sz="1100" dirty="0">
                          <a:solidFill>
                            <a:schemeClr val="accent6"/>
                          </a:solidFill>
                        </a:rPr>
                        <a:t>(0,90)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9 </a:t>
                      </a:r>
                      <a:r>
                        <a:rPr lang="de-DE" sz="1100" dirty="0">
                          <a:solidFill>
                            <a:schemeClr val="accent6"/>
                          </a:solidFill>
                        </a:rPr>
                        <a:t>(1,35)</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8 </a:t>
                      </a:r>
                      <a:r>
                        <a:rPr lang="de-DE" sz="1100" dirty="0">
                          <a:solidFill>
                            <a:schemeClr val="accent6"/>
                          </a:solidFill>
                        </a:rPr>
                        <a:t>(1,20)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9 </a:t>
                      </a:r>
                      <a:r>
                        <a:rPr lang="de-DE" sz="1100" dirty="0">
                          <a:solidFill>
                            <a:schemeClr val="accent6"/>
                          </a:solidFill>
                        </a:rPr>
                        <a:t>(1,35)</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Design / Vorlagen</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10 %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9 </a:t>
                      </a:r>
                      <a:r>
                        <a:rPr lang="de-DE" sz="1100" dirty="0">
                          <a:solidFill>
                            <a:schemeClr val="accent6"/>
                          </a:solidFill>
                        </a:rPr>
                        <a:t>(0,90)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6 </a:t>
                      </a:r>
                      <a:r>
                        <a:rPr lang="de-DE" sz="1100" dirty="0">
                          <a:solidFill>
                            <a:schemeClr val="accent6"/>
                          </a:solidFill>
                        </a:rPr>
                        <a:t>(0,60)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7 </a:t>
                      </a:r>
                      <a:r>
                        <a:rPr lang="de-DE" sz="1100" dirty="0">
                          <a:solidFill>
                            <a:schemeClr val="accent6"/>
                          </a:solidFill>
                        </a:rPr>
                        <a:t>(0,70)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6 </a:t>
                      </a:r>
                      <a:r>
                        <a:rPr lang="de-DE" sz="1100" dirty="0">
                          <a:solidFill>
                            <a:schemeClr val="accent6"/>
                          </a:solidFill>
                        </a:rPr>
                        <a:t>(0,60)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384048">
                <a:tc>
                  <a:txBody>
                    <a:bodyPr/>
                    <a:lstStyle/>
                    <a:p>
                      <a:pPr/>
                      <a:r>
                        <a:rPr lang="de-DE" sz="1300" dirty="0">
                          <a:solidFill>
                            <a:schemeClr val="tx1"/>
                          </a:solidFill>
                        </a:rPr>
                        <a:t>Support auf Deutsch</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300" b="1" dirty="0">
                          <a:solidFill>
                            <a:schemeClr val="accent6"/>
                          </a:solidFill>
                        </a:rPr>
                        <a:t>10 %</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7 </a:t>
                      </a:r>
                      <a:r>
                        <a:rPr lang="de-DE" sz="1100" dirty="0">
                          <a:solidFill>
                            <a:schemeClr val="accent6"/>
                          </a:solidFill>
                        </a:rPr>
                        <a:t>(0,70)</a:t>
                      </a:r>
                    </a:p>
                  </a:txBody>
                  <a:tcPr anchor="ctr" marL="91440" marR="91440" marT="27432" marB="27432">
                    <a:lnL w="0">
                      <a:noFill/>
                    </a:lnL>
                    <a:lnR w="0">
                      <a:noFill/>
                    </a:lnR>
                    <a:lnT w="0">
                      <a:noFill/>
                    </a:lnT>
                    <a:lnB w="9525" cap="flat" cmpd="sng" algn="ctr">
                      <a:solidFill>
                        <a:srgbClr val="E5E0F5"/>
                      </a:solidFill>
                      <a:prstDash val="solid"/>
                    </a:lnB>
                    <a:solidFill>
                      <a:schemeClr val="bg2"/>
                    </a:solidFill>
                  </a:tcPr>
                </a:tc>
                <a:tc>
                  <a:txBody>
                    <a:bodyPr/>
                    <a:lstStyle/>
                    <a:p>
                      <a:pPr algn="ctr"/>
                      <a:r>
                        <a:rPr lang="de-DE" sz="1400" b="1" dirty="0">
                          <a:solidFill>
                            <a:schemeClr val="tx1"/>
                          </a:solidFill>
                        </a:rPr>
                        <a:t>9 </a:t>
                      </a:r>
                      <a:r>
                        <a:rPr lang="de-DE" sz="1100" dirty="0">
                          <a:solidFill>
                            <a:schemeClr val="accent6"/>
                          </a:solidFill>
                        </a:rPr>
                        <a:t>(0,90)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4 </a:t>
                      </a:r>
                      <a:r>
                        <a:rPr lang="de-DE" sz="1100" dirty="0">
                          <a:solidFill>
                            <a:schemeClr val="accent6"/>
                          </a:solidFill>
                        </a:rPr>
                        <a:t>(0,40)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c>
                  <a:txBody>
                    <a:bodyPr/>
                    <a:lstStyle/>
                    <a:p>
                      <a:pPr algn="ctr"/>
                      <a:r>
                        <a:rPr lang="de-DE" sz="1400" b="1" dirty="0">
                          <a:solidFill>
                            <a:schemeClr val="tx1"/>
                          </a:solidFill>
                        </a:rPr>
                        <a:t>7 </a:t>
                      </a:r>
                      <a:r>
                        <a:rPr lang="de-DE" sz="1100" dirty="0">
                          <a:solidFill>
                            <a:schemeClr val="accent6"/>
                          </a:solidFill>
                        </a:rPr>
                        <a:t>(0,70)</a:t>
                      </a:r>
                    </a:p>
                  </a:txBody>
                  <a:tcPr anchor="ctr" marL="91440" marR="91440" marT="27432" marB="27432">
                    <a:lnL w="0">
                      <a:noFill/>
                    </a:lnL>
                    <a:lnR w="0">
                      <a:noFill/>
                    </a:lnR>
                    <a:lnT w="0">
                      <a:noFill/>
                    </a:lnT>
                    <a:lnB w="9525" cap="flat" cmpd="sng" algn="ctr">
                      <a:solidFill>
                        <a:srgbClr val="E5E0F5"/>
                      </a:solidFill>
                      <a:prstDash val="solid"/>
                    </a:lnB>
                    <a:solidFill>
                      <a:schemeClr val="bg1"/>
                    </a:solidFill>
                  </a:tcPr>
                </a:tc>
              </a:tr>
              <a:tr h="457200">
                <a:tc>
                  <a:txBody>
                    <a:bodyPr/>
                    <a:lstStyle/>
                    <a:p>
                      <a:pPr/>
                      <a:r>
                        <a:rPr lang="de-DE" sz="1400" b="1" dirty="0">
                          <a:solidFill>
                            <a:schemeClr val="tx1"/>
                          </a:solidFill>
                        </a:rPr>
                        <a:t>Summe (gewichtete Punkte)</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c>
                  <a:txBody>
                    <a:bodyPr/>
                    <a:lstStyle/>
                    <a:p>
                      <a:pPr algn="ctr"/>
                      <a:r>
                        <a:rPr lang="de-DE" sz="1400" b="1" dirty="0">
                          <a:solidFill>
                            <a:schemeClr val="accent6"/>
                          </a:solidFill>
                        </a:rPr>
                        <a:t>100 %</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c>
                  <a:txBody>
                    <a:bodyPr/>
                    <a:lstStyle/>
                    <a:p>
                      <a:pPr algn="ctr"/>
                      <a:r>
                        <a:rPr lang="de-DE" sz="1800" b="1" dirty="0">
                          <a:solidFill>
                            <a:schemeClr val="bg1"/>
                          </a:solidFill>
                        </a:rPr>
                        <a:t>7,85</a:t>
                      </a:r>
                    </a:p>
                  </a:txBody>
                  <a:tcPr anchor="ctr" marL="91440" marR="91440" marT="27432" marB="27432">
                    <a:lnL w="0">
                      <a:noFill/>
                    </a:lnL>
                    <a:lnR w="0">
                      <a:noFill/>
                    </a:lnR>
                    <a:lnT w="19050" cap="flat" cmpd="sng" algn="ctr">
                      <a:solidFill>
                        <a:schemeClr val="accent1"/>
                      </a:solidFill>
                      <a:prstDash val="solid"/>
                    </a:lnT>
                    <a:lnB w="0">
                      <a:noFill/>
                    </a:lnB>
                    <a:solidFill>
                      <a:schemeClr val="accent1"/>
                    </a:solidFill>
                  </a:tcPr>
                </a:tc>
                <a:tc>
                  <a:txBody>
                    <a:bodyPr/>
                    <a:lstStyle/>
                    <a:p>
                      <a:pPr algn="ctr"/>
                      <a:r>
                        <a:rPr lang="de-DE" sz="1600" b="1" dirty="0">
                          <a:solidFill>
                            <a:schemeClr val="tx1"/>
                          </a:solidFill>
                        </a:rPr>
                        <a:t>7,45</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c>
                  <a:txBody>
                    <a:bodyPr/>
                    <a:lstStyle/>
                    <a:p>
                      <a:pPr algn="ctr"/>
                      <a:r>
                        <a:rPr lang="de-DE" sz="1600" b="1" dirty="0">
                          <a:solidFill>
                            <a:schemeClr val="tx1"/>
                          </a:solidFill>
                        </a:rPr>
                        <a:t>6,20</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c>
                  <a:txBody>
                    <a:bodyPr/>
                    <a:lstStyle/>
                    <a:p>
                      <a:pPr algn="ctr"/>
                      <a:r>
                        <a:rPr lang="de-DE" sz="1600" b="1" dirty="0">
                          <a:solidFill>
                            <a:schemeClr val="tx1"/>
                          </a:solidFill>
                        </a:rPr>
                        <a:t>6,05</a:t>
                      </a:r>
                    </a:p>
                  </a:txBody>
                  <a:tcPr anchor="ctr" marL="91440" marR="91440" marT="27432" marB="27432">
                    <a:lnL w="0">
                      <a:noFill/>
                    </a:lnL>
                    <a:lnR w="0">
                      <a:noFill/>
                    </a:lnR>
                    <a:lnT w="19050" cap="flat" cmpd="sng" algn="ctr">
                      <a:solidFill>
                        <a:schemeClr val="accent1"/>
                      </a:solidFill>
                      <a:prstDash val="solid"/>
                    </a:lnT>
                    <a:lnB w="0">
                      <a:noFill/>
                    </a:lnB>
                    <a:solidFill>
                      <a:schemeClr val="bg1"/>
                    </a:solidFill>
                  </a:tcPr>
                </a:tc>
              </a:tr>
            </a:tbl>
          </a:graphicData>
        </a:graphic>
      </p:graphicFrame>
      <p:sp>
        <p:nvSpPr>
          <p:cNvPr id="5" name="Ergebnis Hintergrund"/>
          <p:cNvSpPr/>
          <p:nvPr/>
        </p:nvSpPr>
        <p:spPr>
          <a:xfrm>
            <a:off x="548640" y="5230368"/>
            <a:ext cx="11091672" cy="502920"/>
          </a:xfrm>
          <a:prstGeom prst="roundRect">
            <a:avLst>
              <a:gd name="adj" fmla="val 50000"/>
            </a:avLst>
          </a:prstGeom>
          <a:solidFill>
            <a:schemeClr val="accent1"/>
          </a:solidFill>
          <a:ln/>
        </p:spPr>
      </p:sp>
      <p:pic>
        <p:nvPicPr>
          <p:cNvPr id="6" name="Ergebnis Icon" descr="Ergebnis Icon"/>
          <p:cNvPicPr>
            <a:picLocks noChangeAspect="1"/>
          </p:cNvPicPr>
          <p:nvPr/>
        </p:nvPicPr>
        <p:blipFill>
          <a:blip r:embed="rId2"/>
          <a:stretch>
            <a:fillRect/>
          </a:stretch>
        </p:blipFill>
        <p:spPr>
          <a:xfrm>
            <a:off x="777240" y="5344668"/>
            <a:ext cx="274320" cy="274320"/>
          </a:xfrm>
          <a:prstGeom prst="rect">
            <a:avLst/>
          </a:prstGeom>
        </p:spPr>
      </p:pic>
      <p:sp>
        <p:nvSpPr>
          <p:cNvPr id="7" name="Ergebnis Text"/>
          <p:cNvSpPr txBox="1"/>
          <p:nvPr/>
        </p:nvSpPr>
        <p:spPr>
          <a:xfrm>
            <a:off x="1188720" y="5230368"/>
            <a:ext cx="10241280" cy="502920"/>
          </a:xfrm>
          <a:prstGeom prst="rect">
            <a:avLst/>
          </a:prstGeom>
          <a:noFill/>
          <a:ln/>
        </p:spPr>
        <p:txBody>
          <a:bodyPr wrap="square" lIns="0" tIns="0" rIns="0" bIns="0" rtlCol="0" anchor="ctr"/>
          <a:lstStyle/>
          <a:p>
            <a:pPr indent="0" marL="0">
              <a:buNone/>
            </a:pPr>
            <a:r>
              <a:rPr lang="de-DE" sz="1600" b="1" dirty="0">
                <a:solidFill>
                  <a:schemeClr val="bg1"/>
                </a:solidFill>
              </a:rPr>
              <a:t>Ergebnis: </a:t>
            </a:r>
            <a:r>
              <a:rPr lang="de-DE" sz="1600" dirty="0">
                <a:solidFill>
                  <a:schemeClr val="bg1"/>
                </a:solidFill>
              </a:rPr>
              <a:t>Shopify gewinnt knapp vor Jimdo, weil sich Custom Designs dort am einfachsten umsetzen lassen.</a:t>
            </a:r>
            <a:endParaRPr lang="de-DE" sz="1600" dirty="0"/>
          </a:p>
        </p:txBody>
      </p:sp>
      <p:sp>
        <p:nvSpPr>
          <p:cNvPr id="8" name="Fußnote"/>
          <p:cNvSpPr txBox="1"/>
          <p:nvPr/>
        </p:nvSpPr>
        <p:spPr>
          <a:xfrm>
            <a:off x="548640" y="5806440"/>
            <a:ext cx="8503920" cy="274320"/>
          </a:xfrm>
          <a:prstGeom prst="rect">
            <a:avLst/>
          </a:prstGeom>
          <a:noFill/>
          <a:ln/>
        </p:spPr>
        <p:txBody>
          <a:bodyPr wrap="square" lIns="0" tIns="0" rIns="0" bIns="0" rtlCol="0" anchor="ctr"/>
          <a:lstStyle/>
          <a:p>
            <a:pPr indent="0" marL="0">
              <a:buNone/>
            </a:pPr>
            <a:r>
              <a:rPr lang="de-DE" sz="1100" dirty="0">
                <a:solidFill>
                  <a:schemeClr val="accent6"/>
                </a:solidFill>
              </a:rPr>
              <a:t>* Software kostenlos, aber Hosting, Erweiterungen für deutsches Recht und Wartung kosten Geld.</a:t>
            </a:r>
            <a:endParaRPr lang="de-DE" sz="1100" dirty="0"/>
          </a:p>
        </p:txBody>
      </p:sp>
      <p:sp>
        <p:nvSpPr>
          <p:cNvPr id="9"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Unsere Wahl: Shopify</a:t>
            </a:r>
            <a:endParaRPr lang="en-US" sz="3400" dirty="0"/>
          </a:p>
        </p:txBody>
      </p:sp>
      <p:sp>
        <p:nvSpPr>
          <p:cNvPr id="3" name="Gründe Überschrift"/>
          <p:cNvSpPr txBox="1"/>
          <p:nvPr/>
        </p:nvSpPr>
        <p:spPr>
          <a:xfrm>
            <a:off x="548640" y="1371600"/>
            <a:ext cx="5303520" cy="411480"/>
          </a:xfrm>
          <a:prstGeom prst="rect">
            <a:avLst/>
          </a:prstGeom>
          <a:noFill/>
          <a:ln/>
        </p:spPr>
        <p:txBody>
          <a:bodyPr wrap="square" lIns="0" tIns="0" rIns="0" bIns="0" rtlCol="0" anchor="ctr"/>
          <a:lstStyle/>
          <a:p>
            <a:pPr indent="0" marL="0">
              <a:buNone/>
            </a:pPr>
            <a:r>
              <a:rPr lang="de-DE" sz="2000" b="1" dirty="0">
                <a:solidFill>
                  <a:schemeClr val="tx1"/>
                </a:solidFill>
              </a:rPr>
              <a:t>Warum Shopify?</a:t>
            </a:r>
            <a:endParaRPr lang="de-DE" sz="2000" dirty="0"/>
          </a:p>
        </p:txBody>
      </p:sp>
      <p:sp>
        <p:nvSpPr>
          <p:cNvPr id="4" name="Custom Designs per App Kreis"/>
          <p:cNvSpPr/>
          <p:nvPr/>
        </p:nvSpPr>
        <p:spPr>
          <a:xfrm>
            <a:off x="548640" y="1965960"/>
            <a:ext cx="502920" cy="502920"/>
          </a:xfrm>
          <a:prstGeom prst="ellipse">
            <a:avLst/>
          </a:prstGeom>
          <a:solidFill>
            <a:schemeClr val="accent1"/>
          </a:solidFill>
          <a:ln/>
        </p:spPr>
      </p:sp>
      <p:pic>
        <p:nvPicPr>
          <p:cNvPr id="5" name="Custom Designs per App Icon" descr="Custom Designs per App Icon"/>
          <p:cNvPicPr>
            <a:picLocks noChangeAspect="1"/>
          </p:cNvPicPr>
          <p:nvPr/>
        </p:nvPicPr>
        <p:blipFill>
          <a:blip r:embed="rId2"/>
          <a:stretch>
            <a:fillRect/>
          </a:stretch>
        </p:blipFill>
        <p:spPr>
          <a:xfrm>
            <a:off x="674370" y="2091690"/>
            <a:ext cx="251460" cy="251460"/>
          </a:xfrm>
          <a:prstGeom prst="rect">
            <a:avLst/>
          </a:prstGeom>
        </p:spPr>
      </p:pic>
      <p:sp>
        <p:nvSpPr>
          <p:cNvPr id="6" name="Custom Designs per App Titel"/>
          <p:cNvSpPr txBox="1"/>
          <p:nvPr/>
        </p:nvSpPr>
        <p:spPr>
          <a:xfrm>
            <a:off x="1234440" y="1929384"/>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Custom Designs per App</a:t>
            </a:r>
            <a:endParaRPr lang="de-DE" sz="1600" dirty="0"/>
          </a:p>
        </p:txBody>
      </p:sp>
      <p:sp>
        <p:nvSpPr>
          <p:cNvPr id="7" name="Custom Designs per App Text"/>
          <p:cNvSpPr txBox="1"/>
          <p:nvPr/>
        </p:nvSpPr>
        <p:spPr>
          <a:xfrm>
            <a:off x="1234440" y="2249424"/>
            <a:ext cx="4617720" cy="457200"/>
          </a:xfrm>
          <a:prstGeom prst="rect">
            <a:avLst/>
          </a:prstGeom>
          <a:noFill/>
          <a:ln/>
        </p:spPr>
        <p:txBody>
          <a:bodyPr wrap="square" lIns="0" tIns="0" rIns="0" bIns="0" rtlCol="0" anchor="t"/>
          <a:lstStyle/>
          <a:p>
            <a:pPr indent="0" marL="0">
              <a:buNone/>
            </a:pPr>
            <a:r>
              <a:rPr lang="de-DE" sz="1300" dirty="0">
                <a:solidFill>
                  <a:schemeClr val="tx1"/>
                </a:solidFill>
              </a:rPr>
              <a:t>Motiv-Upload und Druck per App, z. B. mit Printful</a:t>
            </a:r>
            <a:endParaRPr lang="de-DE" sz="1300" dirty="0"/>
          </a:p>
        </p:txBody>
      </p:sp>
      <p:sp>
        <p:nvSpPr>
          <p:cNvPr id="8" name="Schnell startklar Kreis"/>
          <p:cNvSpPr/>
          <p:nvPr/>
        </p:nvSpPr>
        <p:spPr>
          <a:xfrm>
            <a:off x="548640" y="2752344"/>
            <a:ext cx="502920" cy="502920"/>
          </a:xfrm>
          <a:prstGeom prst="ellipse">
            <a:avLst/>
          </a:prstGeom>
          <a:solidFill>
            <a:schemeClr val="accent1"/>
          </a:solidFill>
          <a:ln/>
        </p:spPr>
      </p:sp>
      <p:pic>
        <p:nvPicPr>
          <p:cNvPr id="9" name="Schnell startklar Icon" descr="Schnell startklar Icon"/>
          <p:cNvPicPr>
            <a:picLocks noChangeAspect="1"/>
          </p:cNvPicPr>
          <p:nvPr/>
        </p:nvPicPr>
        <p:blipFill>
          <a:blip r:embed="rId3"/>
          <a:stretch>
            <a:fillRect/>
          </a:stretch>
        </p:blipFill>
        <p:spPr>
          <a:xfrm>
            <a:off x="674370" y="2878074"/>
            <a:ext cx="251460" cy="251460"/>
          </a:xfrm>
          <a:prstGeom prst="rect">
            <a:avLst/>
          </a:prstGeom>
        </p:spPr>
      </p:pic>
      <p:sp>
        <p:nvSpPr>
          <p:cNvPr id="10" name="Schnell startklar Titel"/>
          <p:cNvSpPr txBox="1"/>
          <p:nvPr/>
        </p:nvSpPr>
        <p:spPr>
          <a:xfrm>
            <a:off x="1234440" y="2715768"/>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Schnell startklar</a:t>
            </a:r>
            <a:endParaRPr lang="de-DE" sz="1600" dirty="0"/>
          </a:p>
        </p:txBody>
      </p:sp>
      <p:sp>
        <p:nvSpPr>
          <p:cNvPr id="11" name="Schnell startklar Text"/>
          <p:cNvSpPr txBox="1"/>
          <p:nvPr/>
        </p:nvSpPr>
        <p:spPr>
          <a:xfrm>
            <a:off x="1234440" y="3035808"/>
            <a:ext cx="4617720" cy="457200"/>
          </a:xfrm>
          <a:prstGeom prst="rect">
            <a:avLst/>
          </a:prstGeom>
          <a:noFill/>
          <a:ln/>
        </p:spPr>
        <p:txBody>
          <a:bodyPr wrap="square" lIns="0" tIns="0" rIns="0" bIns="0" rtlCol="0" anchor="t"/>
          <a:lstStyle/>
          <a:p>
            <a:pPr indent="0" marL="0">
              <a:buNone/>
            </a:pPr>
            <a:r>
              <a:rPr lang="de-DE" sz="1300" dirty="0">
                <a:solidFill>
                  <a:schemeClr val="tx1"/>
                </a:solidFill>
              </a:rPr>
              <a:t>Kein eigener Server nötig, in wenigen Tagen online</a:t>
            </a:r>
            <a:endParaRPr lang="de-DE" sz="1300" dirty="0"/>
          </a:p>
        </p:txBody>
      </p:sp>
      <p:sp>
        <p:nvSpPr>
          <p:cNvPr id="12" name="Alle wichtigen Zahlungsarten Kreis"/>
          <p:cNvSpPr/>
          <p:nvPr/>
        </p:nvSpPr>
        <p:spPr>
          <a:xfrm>
            <a:off x="548640" y="3538728"/>
            <a:ext cx="502920" cy="502920"/>
          </a:xfrm>
          <a:prstGeom prst="ellipse">
            <a:avLst/>
          </a:prstGeom>
          <a:solidFill>
            <a:schemeClr val="accent1"/>
          </a:solidFill>
          <a:ln/>
        </p:spPr>
      </p:sp>
      <p:pic>
        <p:nvPicPr>
          <p:cNvPr id="13" name="Alle wichtigen Zahlungsarten Icon" descr="Alle wichtigen Zahlungsarten Icon"/>
          <p:cNvPicPr>
            <a:picLocks noChangeAspect="1"/>
          </p:cNvPicPr>
          <p:nvPr/>
        </p:nvPicPr>
        <p:blipFill>
          <a:blip r:embed="rId4"/>
          <a:stretch>
            <a:fillRect/>
          </a:stretch>
        </p:blipFill>
        <p:spPr>
          <a:xfrm>
            <a:off x="674370" y="3664458"/>
            <a:ext cx="251460" cy="251460"/>
          </a:xfrm>
          <a:prstGeom prst="rect">
            <a:avLst/>
          </a:prstGeom>
        </p:spPr>
      </p:pic>
      <p:sp>
        <p:nvSpPr>
          <p:cNvPr id="14" name="Alle wichtigen Zahlungsarten Titel"/>
          <p:cNvSpPr txBox="1"/>
          <p:nvPr/>
        </p:nvSpPr>
        <p:spPr>
          <a:xfrm>
            <a:off x="1234440" y="3502152"/>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Alle wichtigen Zahlungsarten</a:t>
            </a:r>
            <a:endParaRPr lang="de-DE" sz="1600" dirty="0"/>
          </a:p>
        </p:txBody>
      </p:sp>
      <p:sp>
        <p:nvSpPr>
          <p:cNvPr id="15" name="Alle wichtigen Zahlungsarten Text"/>
          <p:cNvSpPr txBox="1"/>
          <p:nvPr/>
        </p:nvSpPr>
        <p:spPr>
          <a:xfrm>
            <a:off x="1234440" y="3822192"/>
            <a:ext cx="4617720" cy="457200"/>
          </a:xfrm>
          <a:prstGeom prst="rect">
            <a:avLst/>
          </a:prstGeom>
          <a:noFill/>
          <a:ln/>
        </p:spPr>
        <p:txBody>
          <a:bodyPr wrap="square" lIns="0" tIns="0" rIns="0" bIns="0" rtlCol="0" anchor="t"/>
          <a:lstStyle/>
          <a:p>
            <a:pPr indent="0" marL="0">
              <a:buNone/>
            </a:pPr>
            <a:r>
              <a:rPr lang="de-DE" sz="1300" dirty="0">
                <a:solidFill>
                  <a:schemeClr val="tx1"/>
                </a:solidFill>
              </a:rPr>
              <a:t>PayPal, Klarna, Kreditkarte, Apple Pay und Google Pay</a:t>
            </a:r>
            <a:endParaRPr lang="de-DE" sz="1300" dirty="0"/>
          </a:p>
        </p:txBody>
      </p:sp>
      <p:sp>
        <p:nvSpPr>
          <p:cNvPr id="16" name="Günstiger Start Kreis"/>
          <p:cNvSpPr/>
          <p:nvPr/>
        </p:nvSpPr>
        <p:spPr>
          <a:xfrm>
            <a:off x="548640" y="4325112"/>
            <a:ext cx="502920" cy="502920"/>
          </a:xfrm>
          <a:prstGeom prst="ellipse">
            <a:avLst/>
          </a:prstGeom>
          <a:solidFill>
            <a:schemeClr val="accent1"/>
          </a:solidFill>
          <a:ln/>
        </p:spPr>
      </p:sp>
      <p:pic>
        <p:nvPicPr>
          <p:cNvPr id="17" name="Günstiger Start Icon" descr="Günstiger Start Icon"/>
          <p:cNvPicPr>
            <a:picLocks noChangeAspect="1"/>
          </p:cNvPicPr>
          <p:nvPr/>
        </p:nvPicPr>
        <p:blipFill>
          <a:blip r:embed="rId5"/>
          <a:stretch>
            <a:fillRect/>
          </a:stretch>
        </p:blipFill>
        <p:spPr>
          <a:xfrm>
            <a:off x="674370" y="4450842"/>
            <a:ext cx="251460" cy="251460"/>
          </a:xfrm>
          <a:prstGeom prst="rect">
            <a:avLst/>
          </a:prstGeom>
        </p:spPr>
      </p:pic>
      <p:sp>
        <p:nvSpPr>
          <p:cNvPr id="18" name="Günstiger Start Titel"/>
          <p:cNvSpPr txBox="1"/>
          <p:nvPr/>
        </p:nvSpPr>
        <p:spPr>
          <a:xfrm>
            <a:off x="1234440" y="4288536"/>
            <a:ext cx="4617720" cy="310896"/>
          </a:xfrm>
          <a:prstGeom prst="rect">
            <a:avLst/>
          </a:prstGeom>
          <a:noFill/>
          <a:ln/>
        </p:spPr>
        <p:txBody>
          <a:bodyPr wrap="square" lIns="0" tIns="0" rIns="0" bIns="0" rtlCol="0" anchor="ctr"/>
          <a:lstStyle/>
          <a:p>
            <a:pPr indent="0" marL="0">
              <a:buNone/>
            </a:pPr>
            <a:r>
              <a:rPr lang="de-DE" sz="1600" b="1" dirty="0">
                <a:solidFill>
                  <a:schemeClr val="tx1"/>
                </a:solidFill>
              </a:rPr>
              <a:t>Günstiger Start</a:t>
            </a:r>
            <a:endParaRPr lang="de-DE" sz="1600" dirty="0"/>
          </a:p>
        </p:txBody>
      </p:sp>
      <p:sp>
        <p:nvSpPr>
          <p:cNvPr id="19" name="Günstiger Start Text"/>
          <p:cNvSpPr txBox="1"/>
          <p:nvPr/>
        </p:nvSpPr>
        <p:spPr>
          <a:xfrm>
            <a:off x="1234440" y="4608576"/>
            <a:ext cx="4617720" cy="457200"/>
          </a:xfrm>
          <a:prstGeom prst="rect">
            <a:avLst/>
          </a:prstGeom>
          <a:noFill/>
          <a:ln/>
        </p:spPr>
        <p:txBody>
          <a:bodyPr wrap="square" lIns="0" tIns="0" rIns="0" bIns="0" rtlCol="0" anchor="t"/>
          <a:lstStyle/>
          <a:p>
            <a:pPr indent="0" marL="0">
              <a:buNone/>
            </a:pPr>
            <a:r>
              <a:rPr lang="de-DE" sz="1300" dirty="0">
                <a:solidFill>
                  <a:schemeClr val="tx1"/>
                </a:solidFill>
              </a:rPr>
              <a:t>3 Tage gratis, dann 3 Monate für je 1 €, danach ab 25 € im Monat</a:t>
            </a:r>
            <a:endParaRPr lang="de-DE" sz="1300" dirty="0"/>
          </a:p>
        </p:txBody>
      </p:sp>
      <p:sp>
        <p:nvSpPr>
          <p:cNvPr id="20" name="Nachteile Karte"/>
          <p:cNvSpPr/>
          <p:nvPr/>
        </p:nvSpPr>
        <p:spPr>
          <a:xfrm>
            <a:off x="548640" y="5138928"/>
            <a:ext cx="5303520" cy="850392"/>
          </a:xfrm>
          <a:prstGeom prst="roundRect">
            <a:avLst>
              <a:gd name="adj" fmla="val 9000"/>
            </a:avLst>
          </a:prstGeom>
          <a:solidFill>
            <a:schemeClr val="accent3">
              <a:alpha val="18000"/>
            </a:schemeClr>
          </a:solidFill>
          <a:ln/>
        </p:spPr>
      </p:sp>
      <p:sp>
        <p:nvSpPr>
          <p:cNvPr id="21" name="Nachteile Kreis"/>
          <p:cNvSpPr/>
          <p:nvPr/>
        </p:nvSpPr>
        <p:spPr>
          <a:xfrm>
            <a:off x="749808" y="5358384"/>
            <a:ext cx="411480" cy="411480"/>
          </a:xfrm>
          <a:prstGeom prst="ellipse">
            <a:avLst/>
          </a:prstGeom>
          <a:solidFill>
            <a:schemeClr val="accent3"/>
          </a:solidFill>
          <a:ln/>
        </p:spPr>
      </p:sp>
      <p:pic>
        <p:nvPicPr>
          <p:cNvPr id="22" name="Nachteile Icon" descr="Nachteile Icon"/>
          <p:cNvPicPr>
            <a:picLocks noChangeAspect="1"/>
          </p:cNvPicPr>
          <p:nvPr/>
        </p:nvPicPr>
        <p:blipFill>
          <a:blip r:embed="rId6"/>
          <a:stretch>
            <a:fillRect/>
          </a:stretch>
        </p:blipFill>
        <p:spPr>
          <a:xfrm>
            <a:off x="852678" y="5461254"/>
            <a:ext cx="205740" cy="205740"/>
          </a:xfrm>
          <a:prstGeom prst="rect">
            <a:avLst/>
          </a:prstGeom>
        </p:spPr>
      </p:pic>
      <p:sp>
        <p:nvSpPr>
          <p:cNvPr id="23" name="Nachteile Text"/>
          <p:cNvSpPr txBox="1"/>
          <p:nvPr/>
        </p:nvSpPr>
        <p:spPr>
          <a:xfrm>
            <a:off x="1325880" y="5138928"/>
            <a:ext cx="4389120" cy="850392"/>
          </a:xfrm>
          <a:prstGeom prst="rect">
            <a:avLst/>
          </a:prstGeom>
          <a:noFill/>
          <a:ln/>
        </p:spPr>
        <p:txBody>
          <a:bodyPr wrap="square" lIns="0" tIns="0" rIns="0" bIns="0" rtlCol="0" anchor="ctr"/>
          <a:lstStyle/>
          <a:p>
            <a:pPr indent="0" marL="0">
              <a:buNone/>
            </a:pPr>
            <a:r>
              <a:rPr lang="de-DE" sz="1200" b="1" dirty="0">
                <a:solidFill>
                  <a:schemeClr val="tx1"/>
                </a:solidFill>
              </a:rPr>
              <a:t>Nachteile: </a:t>
            </a:r>
            <a:r>
              <a:rPr lang="de-DE" sz="1200" dirty="0">
                <a:solidFill>
                  <a:schemeClr val="tx1"/>
                </a:solidFill>
              </a:rPr>
              <a:t>Daten teils außerhalb der EU. Ohne Shopify Payments 2 % Gebühr pro Verkauf. Manche Apps kosten extra.</a:t>
            </a:r>
            <a:endParaRPr lang="de-DE" sz="1200" dirty="0"/>
          </a:p>
        </p:txBody>
      </p:sp>
      <p:sp>
        <p:nvSpPr>
          <p:cNvPr id="24" name="Entwurf Überschrift"/>
          <p:cNvSpPr txBox="1"/>
          <p:nvPr/>
        </p:nvSpPr>
        <p:spPr>
          <a:xfrm>
            <a:off x="6309360" y="1371600"/>
            <a:ext cx="5330952" cy="411480"/>
          </a:xfrm>
          <a:prstGeom prst="rect">
            <a:avLst/>
          </a:prstGeom>
          <a:noFill/>
          <a:ln/>
        </p:spPr>
        <p:txBody>
          <a:bodyPr wrap="square" lIns="0" tIns="0" rIns="0" bIns="0" rtlCol="0" anchor="ctr"/>
          <a:lstStyle/>
          <a:p>
            <a:pPr indent="0" marL="0">
              <a:buNone/>
            </a:pPr>
            <a:r>
              <a:rPr lang="de-DE" sz="2000" b="1" dirty="0">
                <a:solidFill>
                  <a:schemeClr val="tx1"/>
                </a:solidFill>
              </a:rPr>
              <a:t>Entwurf unserer Startseite</a:t>
            </a:r>
            <a:endParaRPr lang="de-DE" sz="2000" dirty="0"/>
          </a:p>
        </p:txBody>
      </p:sp>
      <p:sp>
        <p:nvSpPr>
          <p:cNvPr id="25" name="Browser Rahmen"/>
          <p:cNvSpPr/>
          <p:nvPr/>
        </p:nvSpPr>
        <p:spPr>
          <a:xfrm>
            <a:off x="6309360" y="1920240"/>
            <a:ext cx="5330952" cy="4069080"/>
          </a:xfrm>
          <a:prstGeom prst="roundRect">
            <a:avLst>
              <a:gd name="adj" fmla="val 3000"/>
            </a:avLst>
          </a:prstGeom>
          <a:solidFill>
            <a:schemeClr val="bg1"/>
          </a:solidFill>
          <a:ln w="12700">
            <a:solidFill>
              <a:srgbClr val="E5E0F5"/>
            </a:solidFill>
            <a:prstDash val="solid"/>
          </a:ln>
          <a:effectLst>
            <a:outerShdw sx="100000" sy="100000" kx="0" ky="0" algn="bl" rotWithShape="0" blurRad="101600" dist="25400" dir="5400000">
              <a:srgbClr val="2E1065">
                <a:alpha val="12000"/>
              </a:srgbClr>
            </a:outerShdw>
          </a:effectLst>
        </p:spPr>
      </p:sp>
      <p:sp>
        <p:nvSpPr>
          <p:cNvPr id="26" name="Browser Punkt 1"/>
          <p:cNvSpPr/>
          <p:nvPr/>
        </p:nvSpPr>
        <p:spPr>
          <a:xfrm>
            <a:off x="6437376" y="2039112"/>
            <a:ext cx="82296" cy="82296"/>
          </a:xfrm>
          <a:prstGeom prst="ellipse">
            <a:avLst/>
          </a:prstGeom>
          <a:solidFill>
            <a:srgbClr val="F87171"/>
          </a:solidFill>
          <a:ln/>
        </p:spPr>
      </p:sp>
      <p:sp>
        <p:nvSpPr>
          <p:cNvPr id="27" name="Browser Punkt 2"/>
          <p:cNvSpPr/>
          <p:nvPr/>
        </p:nvSpPr>
        <p:spPr>
          <a:xfrm>
            <a:off x="6574536" y="2039112"/>
            <a:ext cx="82296" cy="82296"/>
          </a:xfrm>
          <a:prstGeom prst="ellipse">
            <a:avLst/>
          </a:prstGeom>
          <a:solidFill>
            <a:srgbClr val="FBBF24"/>
          </a:solidFill>
          <a:ln/>
        </p:spPr>
      </p:sp>
      <p:sp>
        <p:nvSpPr>
          <p:cNvPr id="28" name="Browser Punkt 3"/>
          <p:cNvSpPr/>
          <p:nvPr/>
        </p:nvSpPr>
        <p:spPr>
          <a:xfrm>
            <a:off x="6711696" y="2039112"/>
            <a:ext cx="82296" cy="82296"/>
          </a:xfrm>
          <a:prstGeom prst="ellipse">
            <a:avLst/>
          </a:prstGeom>
          <a:solidFill>
            <a:srgbClr val="34D399"/>
          </a:solidFill>
          <a:ln/>
        </p:spPr>
      </p:sp>
      <p:sp>
        <p:nvSpPr>
          <p:cNvPr id="29" name="Adresszeile"/>
          <p:cNvSpPr/>
          <p:nvPr/>
        </p:nvSpPr>
        <p:spPr>
          <a:xfrm>
            <a:off x="6986016" y="1984248"/>
            <a:ext cx="2926080" cy="201168"/>
          </a:xfrm>
          <a:prstGeom prst="roundRect">
            <a:avLst>
              <a:gd name="adj" fmla="val 50000"/>
            </a:avLst>
          </a:prstGeom>
          <a:solidFill>
            <a:srgbClr val="F3F4F6"/>
          </a:solidFill>
          <a:ln/>
        </p:spPr>
      </p:sp>
      <p:sp>
        <p:nvSpPr>
          <p:cNvPr id="30" name="Adresse"/>
          <p:cNvSpPr txBox="1"/>
          <p:nvPr/>
        </p:nvSpPr>
        <p:spPr>
          <a:xfrm>
            <a:off x="6986016" y="1984248"/>
            <a:ext cx="2926080" cy="201168"/>
          </a:xfrm>
          <a:prstGeom prst="rect">
            <a:avLst/>
          </a:prstGeom>
          <a:noFill/>
          <a:ln/>
        </p:spPr>
        <p:txBody>
          <a:bodyPr wrap="square" lIns="109728" tIns="0" rIns="109728" bIns="0" rtlCol="0" anchor="ctr"/>
          <a:lstStyle/>
          <a:p>
            <a:pPr indent="0" marL="0">
              <a:buNone/>
            </a:pPr>
            <a:r>
              <a:rPr lang="de-DE" sz="800" dirty="0">
                <a:solidFill>
                  <a:schemeClr val="accent6"/>
                </a:solidFill>
              </a:rPr>
              <a:t>lootlager.de</a:t>
            </a:r>
            <a:endParaRPr lang="de-DE" sz="800" dirty="0"/>
          </a:p>
        </p:txBody>
      </p:sp>
      <p:pic>
        <p:nvPicPr>
          <p:cNvPr id="31" name="Shop Logo" descr="Shop Logo"/>
          <p:cNvPicPr>
            <a:picLocks noChangeAspect="1"/>
          </p:cNvPicPr>
          <p:nvPr/>
        </p:nvPicPr>
        <p:blipFill>
          <a:blip r:embed="rId7"/>
          <a:stretch>
            <a:fillRect/>
          </a:stretch>
        </p:blipFill>
        <p:spPr>
          <a:xfrm>
            <a:off x="6437376" y="2304288"/>
            <a:ext cx="1143000" cy="311618"/>
          </a:xfrm>
          <a:prstGeom prst="rect">
            <a:avLst/>
          </a:prstGeom>
        </p:spPr>
      </p:pic>
      <p:sp>
        <p:nvSpPr>
          <p:cNvPr id="32" name="Suchfeld"/>
          <p:cNvSpPr/>
          <p:nvPr/>
        </p:nvSpPr>
        <p:spPr>
          <a:xfrm>
            <a:off x="7717536" y="2322576"/>
            <a:ext cx="2697480" cy="274320"/>
          </a:xfrm>
          <a:prstGeom prst="roundRect">
            <a:avLst>
              <a:gd name="adj" fmla="val 50000"/>
            </a:avLst>
          </a:prstGeom>
          <a:solidFill>
            <a:schemeClr val="bg1"/>
          </a:solidFill>
          <a:ln w="9525">
            <a:solidFill>
              <a:srgbClr val="D1D5DB"/>
            </a:solidFill>
            <a:prstDash val="solid"/>
          </a:ln>
        </p:spPr>
      </p:sp>
      <p:sp>
        <p:nvSpPr>
          <p:cNvPr id="33" name="Suchfeld Text"/>
          <p:cNvSpPr txBox="1"/>
          <p:nvPr/>
        </p:nvSpPr>
        <p:spPr>
          <a:xfrm>
            <a:off x="7717536" y="2322576"/>
            <a:ext cx="2377440" cy="274320"/>
          </a:xfrm>
          <a:prstGeom prst="rect">
            <a:avLst/>
          </a:prstGeom>
          <a:noFill/>
          <a:ln/>
        </p:spPr>
        <p:txBody>
          <a:bodyPr wrap="square" lIns="109728" tIns="0" rIns="109728" bIns="0" rtlCol="0" anchor="ctr"/>
          <a:lstStyle/>
          <a:p>
            <a:pPr indent="0" marL="0">
              <a:buNone/>
            </a:pPr>
            <a:r>
              <a:rPr lang="de-DE" sz="800" dirty="0">
                <a:solidFill>
                  <a:srgbClr val="9CA3AF"/>
                </a:solidFill>
              </a:rPr>
              <a:t>Motiv oder Produkt suchen …</a:t>
            </a:r>
            <a:endParaRPr lang="de-DE" sz="800" dirty="0"/>
          </a:p>
        </p:txBody>
      </p:sp>
      <p:pic>
        <p:nvPicPr>
          <p:cNvPr id="34" name="Suche Icon" descr="Suche Icon"/>
          <p:cNvPicPr>
            <a:picLocks noChangeAspect="1"/>
          </p:cNvPicPr>
          <p:nvPr/>
        </p:nvPicPr>
        <p:blipFill>
          <a:blip r:embed="rId8"/>
          <a:stretch>
            <a:fillRect/>
          </a:stretch>
        </p:blipFill>
        <p:spPr>
          <a:xfrm>
            <a:off x="10168128" y="2386584"/>
            <a:ext cx="146304" cy="146304"/>
          </a:xfrm>
          <a:prstGeom prst="rect">
            <a:avLst/>
          </a:prstGeom>
        </p:spPr>
      </p:pic>
      <p:pic>
        <p:nvPicPr>
          <p:cNvPr id="35" name="Konto Icon" descr="Konto Icon"/>
          <p:cNvPicPr>
            <a:picLocks noChangeAspect="1"/>
          </p:cNvPicPr>
          <p:nvPr/>
        </p:nvPicPr>
        <p:blipFill>
          <a:blip r:embed="rId9"/>
          <a:stretch>
            <a:fillRect/>
          </a:stretch>
        </p:blipFill>
        <p:spPr>
          <a:xfrm>
            <a:off x="10780776" y="2359152"/>
            <a:ext cx="201168" cy="201168"/>
          </a:xfrm>
          <a:prstGeom prst="rect">
            <a:avLst/>
          </a:prstGeom>
        </p:spPr>
      </p:pic>
      <p:pic>
        <p:nvPicPr>
          <p:cNvPr id="36" name="Warenkorb Icon" descr="Warenkorb Icon"/>
          <p:cNvPicPr>
            <a:picLocks noChangeAspect="1"/>
          </p:cNvPicPr>
          <p:nvPr/>
        </p:nvPicPr>
        <p:blipFill>
          <a:blip r:embed="rId10"/>
          <a:stretch>
            <a:fillRect/>
          </a:stretch>
        </p:blipFill>
        <p:spPr>
          <a:xfrm>
            <a:off x="11146536" y="2359152"/>
            <a:ext cx="201168" cy="201168"/>
          </a:xfrm>
          <a:prstGeom prst="rect">
            <a:avLst/>
          </a:prstGeom>
        </p:spPr>
      </p:pic>
      <p:sp>
        <p:nvSpPr>
          <p:cNvPr id="37" name="Navigation"/>
          <p:cNvSpPr txBox="1"/>
          <p:nvPr/>
        </p:nvSpPr>
        <p:spPr>
          <a:xfrm>
            <a:off x="6437376" y="2743200"/>
            <a:ext cx="5074920" cy="237744"/>
          </a:xfrm>
          <a:prstGeom prst="rect">
            <a:avLst/>
          </a:prstGeom>
          <a:noFill/>
          <a:ln/>
        </p:spPr>
        <p:txBody>
          <a:bodyPr wrap="square" lIns="0" tIns="0" rIns="0" bIns="0" rtlCol="0" anchor="ctr"/>
          <a:lstStyle/>
          <a:p>
            <a:pPr indent="0" marL="0" algn="ctr">
              <a:buNone/>
            </a:pPr>
            <a:r>
              <a:rPr lang="de-DE" sz="900" b="1" dirty="0">
                <a:solidFill>
                  <a:schemeClr val="tx1"/>
                </a:solidFill>
              </a:rPr>
              <a:t>Mauspads     Controller-Skins     Keycaps     LED-Schilder     </a:t>
            </a:r>
            <a:r>
              <a:rPr lang="de-DE" sz="900" b="1" dirty="0">
                <a:solidFill>
                  <a:schemeClr val="accent1"/>
                </a:solidFill>
              </a:rPr>
              <a:t>Eigenes Design</a:t>
            </a:r>
            <a:endParaRPr lang="de-DE" sz="900" dirty="0"/>
          </a:p>
        </p:txBody>
      </p:sp>
      <p:sp>
        <p:nvSpPr>
          <p:cNvPr id="38" name="Banner"/>
          <p:cNvSpPr/>
          <p:nvPr/>
        </p:nvSpPr>
        <p:spPr>
          <a:xfrm>
            <a:off x="6437376" y="3072384"/>
            <a:ext cx="5074920" cy="1051560"/>
          </a:xfrm>
          <a:prstGeom prst="roundRect">
            <a:avLst>
              <a:gd name="adj" fmla="val 7000"/>
            </a:avLst>
          </a:prstGeom>
          <a:solidFill>
            <a:schemeClr val="tx1"/>
          </a:solidFill>
          <a:ln/>
        </p:spPr>
      </p:sp>
      <p:sp>
        <p:nvSpPr>
          <p:cNvPr id="39" name="Banner Slogan"/>
          <p:cNvSpPr txBox="1"/>
          <p:nvPr/>
        </p:nvSpPr>
        <p:spPr>
          <a:xfrm>
            <a:off x="6665976" y="3191256"/>
            <a:ext cx="3566160" cy="365760"/>
          </a:xfrm>
          <a:prstGeom prst="rect">
            <a:avLst/>
          </a:prstGeom>
          <a:noFill/>
          <a:ln/>
        </p:spPr>
        <p:txBody>
          <a:bodyPr wrap="square" lIns="0" tIns="0" rIns="0" bIns="0" rtlCol="0" anchor="ctr"/>
          <a:lstStyle/>
          <a:p>
            <a:pPr indent="0" marL="0">
              <a:buNone/>
            </a:pPr>
            <a:r>
              <a:rPr lang="de-DE" sz="1800" b="1" dirty="0">
                <a:solidFill>
                  <a:schemeClr val="bg1"/>
                </a:solidFill>
              </a:rPr>
              <a:t>Level up dein Setup.</a:t>
            </a:r>
            <a:endParaRPr lang="de-DE" sz="1800" dirty="0"/>
          </a:p>
        </p:txBody>
      </p:sp>
      <p:sp>
        <p:nvSpPr>
          <p:cNvPr id="40" name="Banner Text"/>
          <p:cNvSpPr txBox="1"/>
          <p:nvPr/>
        </p:nvSpPr>
        <p:spPr>
          <a:xfrm>
            <a:off x="6665976" y="3557016"/>
            <a:ext cx="3566160" cy="228600"/>
          </a:xfrm>
          <a:prstGeom prst="rect">
            <a:avLst/>
          </a:prstGeom>
          <a:noFill/>
          <a:ln/>
        </p:spPr>
        <p:txBody>
          <a:bodyPr wrap="square" lIns="0" tIns="0" rIns="0" bIns="0" rtlCol="0" anchor="ctr"/>
          <a:lstStyle/>
          <a:p>
            <a:pPr indent="0" marL="0">
              <a:buNone/>
            </a:pPr>
            <a:r>
              <a:rPr lang="de-DE" sz="900" dirty="0">
                <a:solidFill>
                  <a:schemeClr val="accent5"/>
                </a:solidFill>
              </a:rPr>
              <a:t>Lade dein Motiv hoch, wir drucken es auf dein Zubehör.</a:t>
            </a:r>
            <a:endParaRPr lang="de-DE" sz="900" dirty="0"/>
          </a:p>
        </p:txBody>
      </p:sp>
      <p:sp>
        <p:nvSpPr>
          <p:cNvPr id="41" name="Banner Button"/>
          <p:cNvSpPr/>
          <p:nvPr/>
        </p:nvSpPr>
        <p:spPr>
          <a:xfrm>
            <a:off x="6665976" y="3831336"/>
            <a:ext cx="1234440" cy="219456"/>
          </a:xfrm>
          <a:prstGeom prst="roundRect">
            <a:avLst>
              <a:gd name="adj" fmla="val 50000"/>
            </a:avLst>
          </a:prstGeom>
          <a:solidFill>
            <a:schemeClr val="accent2"/>
          </a:solidFill>
          <a:ln/>
        </p:spPr>
      </p:sp>
      <p:sp>
        <p:nvSpPr>
          <p:cNvPr id="42" name="Banner Button Text"/>
          <p:cNvSpPr txBox="1"/>
          <p:nvPr/>
        </p:nvSpPr>
        <p:spPr>
          <a:xfrm>
            <a:off x="6665976" y="3831336"/>
            <a:ext cx="1234440" cy="219456"/>
          </a:xfrm>
          <a:prstGeom prst="rect">
            <a:avLst/>
          </a:prstGeom>
          <a:noFill/>
          <a:ln/>
        </p:spPr>
        <p:txBody>
          <a:bodyPr wrap="square" lIns="0" tIns="0" rIns="0" bIns="0" rtlCol="0" anchor="ctr"/>
          <a:lstStyle/>
          <a:p>
            <a:pPr indent="0" marL="0" algn="ctr">
              <a:buNone/>
            </a:pPr>
            <a:r>
              <a:rPr lang="de-DE" sz="900" b="1" dirty="0">
                <a:solidFill>
                  <a:schemeClr val="tx1"/>
                </a:solidFill>
              </a:rPr>
              <a:t>Jetzt gestalten</a:t>
            </a:r>
            <a:endParaRPr lang="de-DE" sz="900" dirty="0"/>
          </a:p>
        </p:txBody>
      </p:sp>
      <p:sp>
        <p:nvSpPr>
          <p:cNvPr id="43" name="Banner Truhe Kreis"/>
          <p:cNvSpPr/>
          <p:nvPr/>
        </p:nvSpPr>
        <p:spPr>
          <a:xfrm>
            <a:off x="10442448" y="3163824"/>
            <a:ext cx="868680" cy="868680"/>
          </a:xfrm>
          <a:prstGeom prst="ellipse">
            <a:avLst/>
          </a:prstGeom>
          <a:solidFill>
            <a:schemeClr val="bg1"/>
          </a:solidFill>
          <a:ln/>
        </p:spPr>
      </p:sp>
      <p:pic>
        <p:nvPicPr>
          <p:cNvPr id="44" name="Banner Truhe" descr="Banner Truhe"/>
          <p:cNvPicPr>
            <a:picLocks noChangeAspect="1"/>
          </p:cNvPicPr>
          <p:nvPr/>
        </p:nvPicPr>
        <p:blipFill>
          <a:blip r:embed="rId11"/>
          <a:stretch>
            <a:fillRect/>
          </a:stretch>
        </p:blipFill>
        <p:spPr>
          <a:xfrm>
            <a:off x="10588752" y="3310128"/>
            <a:ext cx="576072" cy="576072"/>
          </a:xfrm>
          <a:prstGeom prst="rect">
            <a:avLst/>
          </a:prstGeom>
        </p:spPr>
      </p:pic>
      <p:sp>
        <p:nvSpPr>
          <p:cNvPr id="45" name="Bestseller Überschrift"/>
          <p:cNvSpPr txBox="1"/>
          <p:nvPr/>
        </p:nvSpPr>
        <p:spPr>
          <a:xfrm>
            <a:off x="6437376" y="4233672"/>
            <a:ext cx="5074920" cy="219456"/>
          </a:xfrm>
          <a:prstGeom prst="rect">
            <a:avLst/>
          </a:prstGeom>
          <a:noFill/>
          <a:ln/>
        </p:spPr>
        <p:txBody>
          <a:bodyPr wrap="square" lIns="0" tIns="0" rIns="0" bIns="0" rtlCol="0" anchor="ctr"/>
          <a:lstStyle/>
          <a:p>
            <a:pPr indent="0" marL="0">
              <a:buNone/>
            </a:pPr>
            <a:r>
              <a:rPr lang="de-DE" sz="1000" b="1" dirty="0">
                <a:solidFill>
                  <a:schemeClr val="tx1"/>
                </a:solidFill>
              </a:rPr>
              <a:t>Bestseller</a:t>
            </a:r>
            <a:endParaRPr lang="de-DE" sz="1000" dirty="0"/>
          </a:p>
        </p:txBody>
      </p:sp>
      <p:sp>
        <p:nvSpPr>
          <p:cNvPr id="46" name="Produkt XXL-Mauspad"/>
          <p:cNvSpPr/>
          <p:nvPr/>
        </p:nvSpPr>
        <p:spPr>
          <a:xfrm>
            <a:off x="6437376" y="4507992"/>
            <a:ext cx="1200150" cy="749808"/>
          </a:xfrm>
          <a:prstGeom prst="roundRect">
            <a:avLst>
              <a:gd name="adj" fmla="val 7500"/>
            </a:avLst>
          </a:prstGeom>
          <a:solidFill>
            <a:schemeClr val="bg2"/>
          </a:solidFill>
          <a:ln/>
        </p:spPr>
      </p:sp>
      <p:sp>
        <p:nvSpPr>
          <p:cNvPr id="47" name="XXL-Mauspad Kreis"/>
          <p:cNvSpPr/>
          <p:nvPr/>
        </p:nvSpPr>
        <p:spPr>
          <a:xfrm>
            <a:off x="6547104" y="4599432"/>
            <a:ext cx="347472" cy="347472"/>
          </a:xfrm>
          <a:prstGeom prst="ellipse">
            <a:avLst/>
          </a:prstGeom>
          <a:solidFill>
            <a:schemeClr val="accent1"/>
          </a:solidFill>
          <a:ln/>
        </p:spPr>
      </p:sp>
      <p:pic>
        <p:nvPicPr>
          <p:cNvPr id="48" name="XXL-Mauspad Icon" descr="XXL-Mauspad Icon"/>
          <p:cNvPicPr>
            <a:picLocks noChangeAspect="1"/>
          </p:cNvPicPr>
          <p:nvPr/>
        </p:nvPicPr>
        <p:blipFill>
          <a:blip r:embed="rId12"/>
          <a:stretch>
            <a:fillRect/>
          </a:stretch>
        </p:blipFill>
        <p:spPr>
          <a:xfrm>
            <a:off x="6633972" y="4686300"/>
            <a:ext cx="173736" cy="173736"/>
          </a:xfrm>
          <a:prstGeom prst="rect">
            <a:avLst/>
          </a:prstGeom>
        </p:spPr>
      </p:pic>
      <p:sp>
        <p:nvSpPr>
          <p:cNvPr id="49" name="XXL-Mauspad Name"/>
          <p:cNvSpPr txBox="1"/>
          <p:nvPr/>
        </p:nvSpPr>
        <p:spPr>
          <a:xfrm>
            <a:off x="6547104" y="4992624"/>
            <a:ext cx="1017270" cy="201168"/>
          </a:xfrm>
          <a:prstGeom prst="rect">
            <a:avLst/>
          </a:prstGeom>
          <a:noFill/>
          <a:ln/>
        </p:spPr>
        <p:txBody>
          <a:bodyPr wrap="square" lIns="0" tIns="0" rIns="0" bIns="0" rtlCol="0" anchor="ctr"/>
          <a:lstStyle/>
          <a:p>
            <a:pPr indent="0" marL="0">
              <a:buNone/>
            </a:pPr>
            <a:r>
              <a:rPr lang="de-DE" sz="900" b="1" dirty="0">
                <a:solidFill>
                  <a:schemeClr val="tx1"/>
                </a:solidFill>
              </a:rPr>
              <a:t>XXL-Mauspad</a:t>
            </a:r>
            <a:endParaRPr lang="de-DE" sz="900" dirty="0"/>
          </a:p>
        </p:txBody>
      </p:sp>
      <p:sp>
        <p:nvSpPr>
          <p:cNvPr id="50" name="Produkt Controller-Skin"/>
          <p:cNvSpPr/>
          <p:nvPr/>
        </p:nvSpPr>
        <p:spPr>
          <a:xfrm>
            <a:off x="7728966" y="4507992"/>
            <a:ext cx="1200150" cy="749808"/>
          </a:xfrm>
          <a:prstGeom prst="roundRect">
            <a:avLst>
              <a:gd name="adj" fmla="val 7500"/>
            </a:avLst>
          </a:prstGeom>
          <a:solidFill>
            <a:schemeClr val="bg2"/>
          </a:solidFill>
          <a:ln/>
        </p:spPr>
      </p:sp>
      <p:sp>
        <p:nvSpPr>
          <p:cNvPr id="51" name="Controller-Skin Kreis"/>
          <p:cNvSpPr/>
          <p:nvPr/>
        </p:nvSpPr>
        <p:spPr>
          <a:xfrm>
            <a:off x="7838694" y="4599432"/>
            <a:ext cx="347472" cy="347472"/>
          </a:xfrm>
          <a:prstGeom prst="ellipse">
            <a:avLst/>
          </a:prstGeom>
          <a:solidFill>
            <a:schemeClr val="accent1"/>
          </a:solidFill>
          <a:ln/>
        </p:spPr>
      </p:sp>
      <p:pic>
        <p:nvPicPr>
          <p:cNvPr id="52" name="Controller-Skin Icon" descr="Controller-Skin Icon"/>
          <p:cNvPicPr>
            <a:picLocks noChangeAspect="1"/>
          </p:cNvPicPr>
          <p:nvPr/>
        </p:nvPicPr>
        <p:blipFill>
          <a:blip r:embed="rId13"/>
          <a:stretch>
            <a:fillRect/>
          </a:stretch>
        </p:blipFill>
        <p:spPr>
          <a:xfrm>
            <a:off x="7925562" y="4686300"/>
            <a:ext cx="173736" cy="173736"/>
          </a:xfrm>
          <a:prstGeom prst="rect">
            <a:avLst/>
          </a:prstGeom>
        </p:spPr>
      </p:pic>
      <p:sp>
        <p:nvSpPr>
          <p:cNvPr id="53" name="Controller-Skin Name"/>
          <p:cNvSpPr txBox="1"/>
          <p:nvPr/>
        </p:nvSpPr>
        <p:spPr>
          <a:xfrm>
            <a:off x="7838694" y="4992624"/>
            <a:ext cx="1017270" cy="201168"/>
          </a:xfrm>
          <a:prstGeom prst="rect">
            <a:avLst/>
          </a:prstGeom>
          <a:noFill/>
          <a:ln/>
        </p:spPr>
        <p:txBody>
          <a:bodyPr wrap="square" lIns="0" tIns="0" rIns="0" bIns="0" rtlCol="0" anchor="ctr"/>
          <a:lstStyle/>
          <a:p>
            <a:pPr indent="0" marL="0">
              <a:buNone/>
            </a:pPr>
            <a:r>
              <a:rPr lang="de-DE" sz="900" b="1" dirty="0">
                <a:solidFill>
                  <a:schemeClr val="tx1"/>
                </a:solidFill>
              </a:rPr>
              <a:t>Controller-Skin</a:t>
            </a:r>
            <a:endParaRPr lang="de-DE" sz="900" dirty="0"/>
          </a:p>
        </p:txBody>
      </p:sp>
      <p:sp>
        <p:nvSpPr>
          <p:cNvPr id="54" name="Produkt Custom Keycaps"/>
          <p:cNvSpPr/>
          <p:nvPr/>
        </p:nvSpPr>
        <p:spPr>
          <a:xfrm>
            <a:off x="9020556" y="4507992"/>
            <a:ext cx="1200150" cy="749808"/>
          </a:xfrm>
          <a:prstGeom prst="roundRect">
            <a:avLst>
              <a:gd name="adj" fmla="val 7500"/>
            </a:avLst>
          </a:prstGeom>
          <a:solidFill>
            <a:schemeClr val="bg2"/>
          </a:solidFill>
          <a:ln/>
        </p:spPr>
      </p:sp>
      <p:sp>
        <p:nvSpPr>
          <p:cNvPr id="55" name="Custom Keycaps Kreis"/>
          <p:cNvSpPr/>
          <p:nvPr/>
        </p:nvSpPr>
        <p:spPr>
          <a:xfrm>
            <a:off x="9130284" y="4599432"/>
            <a:ext cx="347472" cy="347472"/>
          </a:xfrm>
          <a:prstGeom prst="ellipse">
            <a:avLst/>
          </a:prstGeom>
          <a:solidFill>
            <a:schemeClr val="accent1"/>
          </a:solidFill>
          <a:ln/>
        </p:spPr>
      </p:sp>
      <p:pic>
        <p:nvPicPr>
          <p:cNvPr id="56" name="Custom Keycaps Icon" descr="Custom Keycaps Icon"/>
          <p:cNvPicPr>
            <a:picLocks noChangeAspect="1"/>
          </p:cNvPicPr>
          <p:nvPr/>
        </p:nvPicPr>
        <p:blipFill>
          <a:blip r:embed="rId14"/>
          <a:stretch>
            <a:fillRect/>
          </a:stretch>
        </p:blipFill>
        <p:spPr>
          <a:xfrm>
            <a:off x="9217152" y="4686300"/>
            <a:ext cx="173736" cy="173736"/>
          </a:xfrm>
          <a:prstGeom prst="rect">
            <a:avLst/>
          </a:prstGeom>
        </p:spPr>
      </p:pic>
      <p:sp>
        <p:nvSpPr>
          <p:cNvPr id="57" name="Custom Keycaps Name"/>
          <p:cNvSpPr txBox="1"/>
          <p:nvPr/>
        </p:nvSpPr>
        <p:spPr>
          <a:xfrm>
            <a:off x="9130284" y="4992624"/>
            <a:ext cx="1017270" cy="201168"/>
          </a:xfrm>
          <a:prstGeom prst="rect">
            <a:avLst/>
          </a:prstGeom>
          <a:noFill/>
          <a:ln/>
        </p:spPr>
        <p:txBody>
          <a:bodyPr wrap="square" lIns="0" tIns="0" rIns="0" bIns="0" rtlCol="0" anchor="ctr"/>
          <a:lstStyle/>
          <a:p>
            <a:pPr indent="0" marL="0">
              <a:buNone/>
            </a:pPr>
            <a:r>
              <a:rPr lang="de-DE" sz="900" b="1" dirty="0">
                <a:solidFill>
                  <a:schemeClr val="tx1"/>
                </a:solidFill>
              </a:rPr>
              <a:t>Custom Keycaps</a:t>
            </a:r>
            <a:endParaRPr lang="de-DE" sz="900" dirty="0"/>
          </a:p>
        </p:txBody>
      </p:sp>
      <p:sp>
        <p:nvSpPr>
          <p:cNvPr id="58" name="Produkt LED-Schild"/>
          <p:cNvSpPr/>
          <p:nvPr/>
        </p:nvSpPr>
        <p:spPr>
          <a:xfrm>
            <a:off x="10312146" y="4507992"/>
            <a:ext cx="1200150" cy="749808"/>
          </a:xfrm>
          <a:prstGeom prst="roundRect">
            <a:avLst>
              <a:gd name="adj" fmla="val 7500"/>
            </a:avLst>
          </a:prstGeom>
          <a:solidFill>
            <a:schemeClr val="bg2"/>
          </a:solidFill>
          <a:ln/>
        </p:spPr>
      </p:sp>
      <p:sp>
        <p:nvSpPr>
          <p:cNvPr id="59" name="LED-Schild Kreis"/>
          <p:cNvSpPr/>
          <p:nvPr/>
        </p:nvSpPr>
        <p:spPr>
          <a:xfrm>
            <a:off x="10421874" y="4599432"/>
            <a:ext cx="347472" cy="347472"/>
          </a:xfrm>
          <a:prstGeom prst="ellipse">
            <a:avLst/>
          </a:prstGeom>
          <a:solidFill>
            <a:schemeClr val="accent1"/>
          </a:solidFill>
          <a:ln/>
        </p:spPr>
      </p:sp>
      <p:pic>
        <p:nvPicPr>
          <p:cNvPr id="60" name="LED-Schild Icon" descr="LED-Schild Icon"/>
          <p:cNvPicPr>
            <a:picLocks noChangeAspect="1"/>
          </p:cNvPicPr>
          <p:nvPr/>
        </p:nvPicPr>
        <p:blipFill>
          <a:blip r:embed="rId15"/>
          <a:stretch>
            <a:fillRect/>
          </a:stretch>
        </p:blipFill>
        <p:spPr>
          <a:xfrm>
            <a:off x="10508742" y="4686300"/>
            <a:ext cx="173736" cy="173736"/>
          </a:xfrm>
          <a:prstGeom prst="rect">
            <a:avLst/>
          </a:prstGeom>
        </p:spPr>
      </p:pic>
      <p:sp>
        <p:nvSpPr>
          <p:cNvPr id="61" name="LED-Schild Name"/>
          <p:cNvSpPr txBox="1"/>
          <p:nvPr/>
        </p:nvSpPr>
        <p:spPr>
          <a:xfrm>
            <a:off x="10421874" y="4992624"/>
            <a:ext cx="1017270" cy="201168"/>
          </a:xfrm>
          <a:prstGeom prst="rect">
            <a:avLst/>
          </a:prstGeom>
          <a:noFill/>
          <a:ln/>
        </p:spPr>
        <p:txBody>
          <a:bodyPr wrap="square" lIns="0" tIns="0" rIns="0" bIns="0" rtlCol="0" anchor="ctr"/>
          <a:lstStyle/>
          <a:p>
            <a:pPr indent="0" marL="0">
              <a:buNone/>
            </a:pPr>
            <a:r>
              <a:rPr lang="de-DE" sz="900" b="1" dirty="0">
                <a:solidFill>
                  <a:schemeClr val="tx1"/>
                </a:solidFill>
              </a:rPr>
              <a:t>LED-Schild</a:t>
            </a:r>
            <a:endParaRPr lang="de-DE" sz="900" dirty="0"/>
          </a:p>
        </p:txBody>
      </p:sp>
      <p:sp>
        <p:nvSpPr>
          <p:cNvPr id="62" name="Vorteile"/>
          <p:cNvSpPr txBox="1"/>
          <p:nvPr/>
        </p:nvSpPr>
        <p:spPr>
          <a:xfrm>
            <a:off x="6437376" y="5330952"/>
            <a:ext cx="5074920" cy="219456"/>
          </a:xfrm>
          <a:prstGeom prst="rect">
            <a:avLst/>
          </a:prstGeom>
          <a:noFill/>
          <a:ln/>
        </p:spPr>
        <p:txBody>
          <a:bodyPr wrap="square" lIns="0" tIns="0" rIns="0" bIns="0" rtlCol="0" anchor="ctr"/>
          <a:lstStyle/>
          <a:p>
            <a:pPr indent="0" marL="0" algn="ctr">
              <a:buNone/>
            </a:pPr>
            <a:r>
              <a:rPr lang="de-DE" sz="850" b="1" dirty="0">
                <a:solidFill>
                  <a:schemeClr val="accent4"/>
                </a:solidFill>
              </a:rPr>
              <a:t>Versand aus Deutschland  ·  Design-Vorschau vor dem Kauf  ·  PayPal, Klarna, Karte</a:t>
            </a:r>
            <a:endParaRPr lang="de-DE" sz="850" dirty="0"/>
          </a:p>
        </p:txBody>
      </p:sp>
      <p:sp>
        <p:nvSpPr>
          <p:cNvPr id="63" name="Footer"/>
          <p:cNvSpPr/>
          <p:nvPr/>
        </p:nvSpPr>
        <p:spPr>
          <a:xfrm>
            <a:off x="6437376" y="5605272"/>
            <a:ext cx="5074920" cy="292608"/>
          </a:xfrm>
          <a:prstGeom prst="roundRect">
            <a:avLst>
              <a:gd name="adj" fmla="val 20000"/>
            </a:avLst>
          </a:prstGeom>
          <a:solidFill>
            <a:srgbClr val="F3F4F6"/>
          </a:solidFill>
          <a:ln/>
        </p:spPr>
      </p:sp>
      <p:sp>
        <p:nvSpPr>
          <p:cNvPr id="64" name="Footer Text"/>
          <p:cNvSpPr txBox="1"/>
          <p:nvPr/>
        </p:nvSpPr>
        <p:spPr>
          <a:xfrm>
            <a:off x="6437376" y="5605272"/>
            <a:ext cx="5074920" cy="292608"/>
          </a:xfrm>
          <a:prstGeom prst="rect">
            <a:avLst/>
          </a:prstGeom>
          <a:noFill/>
          <a:ln/>
        </p:spPr>
        <p:txBody>
          <a:bodyPr wrap="square" lIns="0" tIns="0" rIns="0" bIns="0" rtlCol="0" anchor="ctr"/>
          <a:lstStyle/>
          <a:p>
            <a:pPr indent="0" marL="0" algn="ctr">
              <a:buNone/>
            </a:pPr>
            <a:r>
              <a:rPr lang="de-DE" sz="800" dirty="0">
                <a:solidFill>
                  <a:schemeClr val="accent6"/>
                </a:solidFill>
              </a:rPr>
              <a:t>Impressum  ·  Datenschutz  ·  AGB  ·  Widerruf  ·  Versand &amp; Zahlung</a:t>
            </a:r>
            <a:endParaRPr lang="de-DE" sz="800" dirty="0"/>
          </a:p>
        </p:txBody>
      </p:sp>
      <p:sp>
        <p:nvSpPr>
          <p:cNvPr id="65"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algn="l" indent="0" marL="0">
              <a:buNone/>
            </a:pPr>
            <a:r>
              <a:rPr lang="en-US" sz="3400" b="1" dirty="0">
                <a:solidFill>
                  <a:schemeClr val="tx1"/>
                </a:solidFill>
              </a:rPr>
              <a:t>Fazit und Ausblick</a:t>
            </a:r>
            <a:endParaRPr lang="en-US" sz="3400" dirty="0"/>
          </a:p>
        </p:txBody>
      </p:sp>
      <p:sp>
        <p:nvSpPr>
          <p:cNvPr id="3" name="Fazit Karte"/>
          <p:cNvSpPr/>
          <p:nvPr/>
        </p:nvSpPr>
        <p:spPr>
          <a:xfrm>
            <a:off x="548640" y="1463040"/>
            <a:ext cx="5120640" cy="3977640"/>
          </a:xfrm>
          <a:prstGeom prst="roundRect">
            <a:avLst>
              <a:gd name="adj" fmla="val 4000"/>
            </a:avLst>
          </a:prstGeom>
          <a:solidFill>
            <a:schemeClr val="bg2"/>
          </a:solidFill>
          <a:ln/>
        </p:spPr>
      </p:sp>
      <p:sp>
        <p:nvSpPr>
          <p:cNvPr id="4" name="Fazit Überschrift"/>
          <p:cNvSpPr txBox="1"/>
          <p:nvPr/>
        </p:nvSpPr>
        <p:spPr>
          <a:xfrm>
            <a:off x="822960" y="1645920"/>
            <a:ext cx="4572000" cy="411480"/>
          </a:xfrm>
          <a:prstGeom prst="rect">
            <a:avLst/>
          </a:prstGeom>
          <a:noFill/>
          <a:ln/>
        </p:spPr>
        <p:txBody>
          <a:bodyPr wrap="square" lIns="0" tIns="0" rIns="0" bIns="0" rtlCol="0" anchor="ctr"/>
          <a:lstStyle/>
          <a:p>
            <a:pPr indent="0" marL="0">
              <a:buNone/>
            </a:pPr>
            <a:r>
              <a:rPr lang="de-DE" sz="2000" b="1" dirty="0">
                <a:solidFill>
                  <a:schemeClr val="tx1"/>
                </a:solidFill>
              </a:rPr>
              <a:t>Das steht fest</a:t>
            </a:r>
            <a:endParaRPr lang="de-DE" sz="2000" dirty="0"/>
          </a:p>
        </p:txBody>
      </p:sp>
      <p:sp>
        <p:nvSpPr>
          <p:cNvPr id="5" name="Firma Kreis"/>
          <p:cNvSpPr/>
          <p:nvPr/>
        </p:nvSpPr>
        <p:spPr>
          <a:xfrm>
            <a:off x="822960" y="2240280"/>
            <a:ext cx="457200" cy="457200"/>
          </a:xfrm>
          <a:prstGeom prst="ellipse">
            <a:avLst/>
          </a:prstGeom>
          <a:solidFill>
            <a:schemeClr val="accent1"/>
          </a:solidFill>
          <a:ln/>
        </p:spPr>
      </p:sp>
      <p:pic>
        <p:nvPicPr>
          <p:cNvPr id="6" name="Firma Icon" descr="Firma Icon"/>
          <p:cNvPicPr>
            <a:picLocks noChangeAspect="1"/>
          </p:cNvPicPr>
          <p:nvPr/>
        </p:nvPicPr>
        <p:blipFill>
          <a:blip r:embed="rId2"/>
          <a:stretch>
            <a:fillRect/>
          </a:stretch>
        </p:blipFill>
        <p:spPr>
          <a:xfrm>
            <a:off x="937260" y="2354580"/>
            <a:ext cx="228600" cy="228600"/>
          </a:xfrm>
          <a:prstGeom prst="rect">
            <a:avLst/>
          </a:prstGeom>
        </p:spPr>
      </p:pic>
      <p:sp>
        <p:nvSpPr>
          <p:cNvPr id="7" name="FIRMA Label"/>
          <p:cNvSpPr txBox="1"/>
          <p:nvPr/>
        </p:nvSpPr>
        <p:spPr>
          <a:xfrm>
            <a:off x="1463040" y="2203704"/>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FIRMA</a:t>
            </a:r>
            <a:endParaRPr lang="de-DE" sz="1100" dirty="0"/>
          </a:p>
        </p:txBody>
      </p:sp>
      <p:sp>
        <p:nvSpPr>
          <p:cNvPr id="8" name="FIRMA Wert"/>
          <p:cNvSpPr txBox="1"/>
          <p:nvPr/>
        </p:nvSpPr>
        <p:spPr>
          <a:xfrm>
            <a:off x="1463040" y="2423160"/>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 UG (haftungsbeschränkt)</a:t>
            </a:r>
            <a:endParaRPr lang="de-DE" sz="1500" dirty="0"/>
          </a:p>
        </p:txBody>
      </p:sp>
      <p:sp>
        <p:nvSpPr>
          <p:cNvPr id="9" name="Rechtsform Kreis"/>
          <p:cNvSpPr/>
          <p:nvPr/>
        </p:nvSpPr>
        <p:spPr>
          <a:xfrm>
            <a:off x="822960" y="2862072"/>
            <a:ext cx="457200" cy="457200"/>
          </a:xfrm>
          <a:prstGeom prst="ellipse">
            <a:avLst/>
          </a:prstGeom>
          <a:solidFill>
            <a:schemeClr val="accent1"/>
          </a:solidFill>
          <a:ln/>
        </p:spPr>
      </p:sp>
      <p:pic>
        <p:nvPicPr>
          <p:cNvPr id="10" name="Rechtsform Icon" descr="Rechtsform Icon"/>
          <p:cNvPicPr>
            <a:picLocks noChangeAspect="1"/>
          </p:cNvPicPr>
          <p:nvPr/>
        </p:nvPicPr>
        <p:blipFill>
          <a:blip r:embed="rId3"/>
          <a:stretch>
            <a:fillRect/>
          </a:stretch>
        </p:blipFill>
        <p:spPr>
          <a:xfrm>
            <a:off x="937260" y="2976372"/>
            <a:ext cx="228600" cy="228600"/>
          </a:xfrm>
          <a:prstGeom prst="rect">
            <a:avLst/>
          </a:prstGeom>
        </p:spPr>
      </p:pic>
      <p:sp>
        <p:nvSpPr>
          <p:cNvPr id="11" name="RECHTSFORM Label"/>
          <p:cNvSpPr txBox="1"/>
          <p:nvPr/>
        </p:nvSpPr>
        <p:spPr>
          <a:xfrm>
            <a:off x="1463040" y="2825496"/>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RECHTSFORM</a:t>
            </a:r>
            <a:endParaRPr lang="de-DE" sz="1100" dirty="0"/>
          </a:p>
        </p:txBody>
      </p:sp>
      <p:sp>
        <p:nvSpPr>
          <p:cNvPr id="12" name="RECHTSFORM Wert"/>
          <p:cNvSpPr txBox="1"/>
          <p:nvPr/>
        </p:nvSpPr>
        <p:spPr>
          <a:xfrm>
            <a:off x="1463040" y="3044952"/>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UG, Stammkapital 1.000 €</a:t>
            </a:r>
            <a:endParaRPr lang="de-DE" sz="1500" dirty="0"/>
          </a:p>
        </p:txBody>
      </p:sp>
      <p:sp>
        <p:nvSpPr>
          <p:cNvPr id="13" name="Marke Kreis"/>
          <p:cNvSpPr/>
          <p:nvPr/>
        </p:nvSpPr>
        <p:spPr>
          <a:xfrm>
            <a:off x="822960" y="3483864"/>
            <a:ext cx="457200" cy="457200"/>
          </a:xfrm>
          <a:prstGeom prst="ellipse">
            <a:avLst/>
          </a:prstGeom>
          <a:solidFill>
            <a:schemeClr val="accent1"/>
          </a:solidFill>
          <a:ln/>
        </p:spPr>
      </p:sp>
      <p:pic>
        <p:nvPicPr>
          <p:cNvPr id="14" name="Marke Icon" descr="Marke Icon"/>
          <p:cNvPicPr>
            <a:picLocks noChangeAspect="1"/>
          </p:cNvPicPr>
          <p:nvPr/>
        </p:nvPicPr>
        <p:blipFill>
          <a:blip r:embed="rId4"/>
          <a:stretch>
            <a:fillRect/>
          </a:stretch>
        </p:blipFill>
        <p:spPr>
          <a:xfrm>
            <a:off x="937260" y="3598164"/>
            <a:ext cx="228600" cy="228600"/>
          </a:xfrm>
          <a:prstGeom prst="rect">
            <a:avLst/>
          </a:prstGeom>
        </p:spPr>
      </p:pic>
      <p:sp>
        <p:nvSpPr>
          <p:cNvPr id="15" name="MARKE Label"/>
          <p:cNvSpPr txBox="1"/>
          <p:nvPr/>
        </p:nvSpPr>
        <p:spPr>
          <a:xfrm>
            <a:off x="1463040" y="3447288"/>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MARKE</a:t>
            </a:r>
            <a:endParaRPr lang="de-DE" sz="1100" dirty="0"/>
          </a:p>
        </p:txBody>
      </p:sp>
      <p:sp>
        <p:nvSpPr>
          <p:cNvPr id="16" name="MARKE Wert"/>
          <p:cNvSpPr txBox="1"/>
          <p:nvPr/>
        </p:nvSpPr>
        <p:spPr>
          <a:xfrm>
            <a:off x="1463040" y="3666744"/>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LootLager · „Level up dein Setup.“</a:t>
            </a:r>
            <a:endParaRPr lang="de-DE" sz="1500" dirty="0"/>
          </a:p>
        </p:txBody>
      </p:sp>
      <p:sp>
        <p:nvSpPr>
          <p:cNvPr id="17" name="Shopsystem Kreis"/>
          <p:cNvSpPr/>
          <p:nvPr/>
        </p:nvSpPr>
        <p:spPr>
          <a:xfrm>
            <a:off x="822960" y="4105656"/>
            <a:ext cx="457200" cy="457200"/>
          </a:xfrm>
          <a:prstGeom prst="ellipse">
            <a:avLst/>
          </a:prstGeom>
          <a:solidFill>
            <a:schemeClr val="accent1"/>
          </a:solidFill>
          <a:ln/>
        </p:spPr>
      </p:sp>
      <p:pic>
        <p:nvPicPr>
          <p:cNvPr id="18" name="Shopsystem Icon" descr="Shopsystem Icon"/>
          <p:cNvPicPr>
            <a:picLocks noChangeAspect="1"/>
          </p:cNvPicPr>
          <p:nvPr/>
        </p:nvPicPr>
        <p:blipFill>
          <a:blip r:embed="rId5"/>
          <a:stretch>
            <a:fillRect/>
          </a:stretch>
        </p:blipFill>
        <p:spPr>
          <a:xfrm>
            <a:off x="937260" y="4219956"/>
            <a:ext cx="228600" cy="228600"/>
          </a:xfrm>
          <a:prstGeom prst="rect">
            <a:avLst/>
          </a:prstGeom>
        </p:spPr>
      </p:pic>
      <p:sp>
        <p:nvSpPr>
          <p:cNvPr id="19" name="SHOPSYSTEM Label"/>
          <p:cNvSpPr txBox="1"/>
          <p:nvPr/>
        </p:nvSpPr>
        <p:spPr>
          <a:xfrm>
            <a:off x="1463040" y="4069080"/>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SHOPSYSTEM</a:t>
            </a:r>
            <a:endParaRPr lang="de-DE" sz="1100" dirty="0"/>
          </a:p>
        </p:txBody>
      </p:sp>
      <p:sp>
        <p:nvSpPr>
          <p:cNvPr id="20" name="SHOPSYSTEM Wert"/>
          <p:cNvSpPr txBox="1"/>
          <p:nvPr/>
        </p:nvSpPr>
        <p:spPr>
          <a:xfrm>
            <a:off x="1463040" y="4288536"/>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Shopify (Basic-Tarif)</a:t>
            </a:r>
            <a:endParaRPr lang="de-DE" sz="1500" dirty="0"/>
          </a:p>
        </p:txBody>
      </p:sp>
      <p:sp>
        <p:nvSpPr>
          <p:cNvPr id="21" name="Logo Kreis"/>
          <p:cNvSpPr/>
          <p:nvPr/>
        </p:nvSpPr>
        <p:spPr>
          <a:xfrm>
            <a:off x="822960" y="4727448"/>
            <a:ext cx="457200" cy="457200"/>
          </a:xfrm>
          <a:prstGeom prst="ellipse">
            <a:avLst/>
          </a:prstGeom>
          <a:solidFill>
            <a:schemeClr val="accent1"/>
          </a:solidFill>
          <a:ln/>
        </p:spPr>
      </p:sp>
      <p:pic>
        <p:nvPicPr>
          <p:cNvPr id="22" name="Logo Icon" descr="Logo Icon"/>
          <p:cNvPicPr>
            <a:picLocks noChangeAspect="1"/>
          </p:cNvPicPr>
          <p:nvPr/>
        </p:nvPicPr>
        <p:blipFill>
          <a:blip r:embed="rId6"/>
          <a:stretch>
            <a:fillRect/>
          </a:stretch>
        </p:blipFill>
        <p:spPr>
          <a:xfrm>
            <a:off x="937260" y="4841748"/>
            <a:ext cx="228600" cy="228600"/>
          </a:xfrm>
          <a:prstGeom prst="rect">
            <a:avLst/>
          </a:prstGeom>
        </p:spPr>
      </p:pic>
      <p:sp>
        <p:nvSpPr>
          <p:cNvPr id="23" name="LOGO Label"/>
          <p:cNvSpPr txBox="1"/>
          <p:nvPr/>
        </p:nvSpPr>
        <p:spPr>
          <a:xfrm>
            <a:off x="1463040" y="4690872"/>
            <a:ext cx="4023360" cy="219456"/>
          </a:xfrm>
          <a:prstGeom prst="rect">
            <a:avLst/>
          </a:prstGeom>
          <a:noFill/>
          <a:ln/>
        </p:spPr>
        <p:txBody>
          <a:bodyPr wrap="square" lIns="0" tIns="0" rIns="0" bIns="0" rtlCol="0" anchor="ctr"/>
          <a:lstStyle/>
          <a:p>
            <a:pPr indent="0" marL="0">
              <a:buNone/>
            </a:pPr>
            <a:r>
              <a:rPr lang="de-DE" sz="1100" b="1" dirty="0">
                <a:solidFill>
                  <a:schemeClr val="accent1"/>
                </a:solidFill>
              </a:rPr>
              <a:t>LOGO</a:t>
            </a:r>
            <a:endParaRPr lang="de-DE" sz="1100" dirty="0"/>
          </a:p>
        </p:txBody>
      </p:sp>
      <p:sp>
        <p:nvSpPr>
          <p:cNvPr id="24" name="LOGO Wert"/>
          <p:cNvSpPr txBox="1"/>
          <p:nvPr/>
        </p:nvSpPr>
        <p:spPr>
          <a:xfrm>
            <a:off x="1463040" y="4910328"/>
            <a:ext cx="4023360" cy="292608"/>
          </a:xfrm>
          <a:prstGeom prst="rect">
            <a:avLst/>
          </a:prstGeom>
          <a:noFill/>
          <a:ln/>
        </p:spPr>
        <p:txBody>
          <a:bodyPr wrap="square" lIns="0" tIns="0" rIns="0" bIns="0" rtlCol="0" anchor="ctr"/>
          <a:lstStyle/>
          <a:p>
            <a:pPr indent="0" marL="0">
              <a:buNone/>
            </a:pPr>
            <a:r>
              <a:rPr lang="de-DE" sz="1500" b="1" dirty="0">
                <a:solidFill>
                  <a:schemeClr val="tx1"/>
                </a:solidFill>
              </a:rPr>
              <a:t>mit KI erstellt (ChatGPT)</a:t>
            </a:r>
            <a:endParaRPr lang="de-DE" sz="1500" dirty="0"/>
          </a:p>
        </p:txBody>
      </p:sp>
      <p:sp>
        <p:nvSpPr>
          <p:cNvPr id="25" name="Schritte Überschrift"/>
          <p:cNvSpPr txBox="1"/>
          <p:nvPr/>
        </p:nvSpPr>
        <p:spPr>
          <a:xfrm>
            <a:off x="6172200" y="1645920"/>
            <a:ext cx="5468112" cy="411480"/>
          </a:xfrm>
          <a:prstGeom prst="rect">
            <a:avLst/>
          </a:prstGeom>
          <a:noFill/>
          <a:ln/>
        </p:spPr>
        <p:txBody>
          <a:bodyPr wrap="square" lIns="0" tIns="0" rIns="0" bIns="0" rtlCol="0" anchor="ctr"/>
          <a:lstStyle/>
          <a:p>
            <a:pPr indent="0" marL="0">
              <a:buNone/>
            </a:pPr>
            <a:r>
              <a:rPr lang="de-DE" sz="2000" b="1" dirty="0">
                <a:solidFill>
                  <a:schemeClr val="tx1"/>
                </a:solidFill>
              </a:rPr>
              <a:t>Unsere nächsten Schritte</a:t>
            </a:r>
            <a:endParaRPr lang="de-DE" sz="2000" dirty="0"/>
          </a:p>
        </p:txBody>
      </p:sp>
      <p:sp>
        <p:nvSpPr>
          <p:cNvPr id="26" name="Schritt 1 Kreis"/>
          <p:cNvSpPr/>
          <p:nvPr/>
        </p:nvSpPr>
        <p:spPr>
          <a:xfrm>
            <a:off x="6172200" y="2240280"/>
            <a:ext cx="457200" cy="457200"/>
          </a:xfrm>
          <a:prstGeom prst="ellipse">
            <a:avLst/>
          </a:prstGeom>
          <a:solidFill>
            <a:schemeClr val="accent1"/>
          </a:solidFill>
          <a:ln/>
        </p:spPr>
      </p:sp>
      <p:sp>
        <p:nvSpPr>
          <p:cNvPr id="27" name="Schritt 1 Nummer"/>
          <p:cNvSpPr txBox="1"/>
          <p:nvPr/>
        </p:nvSpPr>
        <p:spPr>
          <a:xfrm>
            <a:off x="6172200" y="2240280"/>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1</a:t>
            </a:r>
            <a:endParaRPr lang="de-DE" sz="1600" dirty="0"/>
          </a:p>
        </p:txBody>
      </p:sp>
      <p:sp>
        <p:nvSpPr>
          <p:cNvPr id="28" name="Schritt 1 Titel"/>
          <p:cNvSpPr txBox="1"/>
          <p:nvPr/>
        </p:nvSpPr>
        <p:spPr>
          <a:xfrm>
            <a:off x="6812280" y="2194560"/>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Gründen</a:t>
            </a:r>
            <a:endParaRPr lang="de-DE" sz="1600" dirty="0"/>
          </a:p>
        </p:txBody>
      </p:sp>
      <p:sp>
        <p:nvSpPr>
          <p:cNvPr id="29" name="Schritt 1 Text"/>
          <p:cNvSpPr txBox="1"/>
          <p:nvPr/>
        </p:nvSpPr>
        <p:spPr>
          <a:xfrm>
            <a:off x="6812280" y="2496312"/>
            <a:ext cx="4828032" cy="384048"/>
          </a:xfrm>
          <a:prstGeom prst="rect">
            <a:avLst/>
          </a:prstGeom>
          <a:noFill/>
          <a:ln/>
        </p:spPr>
        <p:txBody>
          <a:bodyPr wrap="square" lIns="0" tIns="0" rIns="0" bIns="0" rtlCol="0" anchor="t"/>
          <a:lstStyle/>
          <a:p>
            <a:pPr indent="0" marL="0">
              <a:buNone/>
            </a:pPr>
            <a:r>
              <a:rPr lang="de-DE" sz="1250" dirty="0">
                <a:solidFill>
                  <a:schemeClr val="tx1"/>
                </a:solidFill>
              </a:rPr>
              <a:t>Gesellschaftsvertrag beim Notar, 1.000 € Stammkapital einzahlen</a:t>
            </a:r>
            <a:endParaRPr lang="de-DE" sz="1250" dirty="0"/>
          </a:p>
        </p:txBody>
      </p:sp>
      <p:sp>
        <p:nvSpPr>
          <p:cNvPr id="30" name="Schritt 2 Kreis"/>
          <p:cNvSpPr/>
          <p:nvPr/>
        </p:nvSpPr>
        <p:spPr>
          <a:xfrm>
            <a:off x="6172200" y="2898648"/>
            <a:ext cx="457200" cy="457200"/>
          </a:xfrm>
          <a:prstGeom prst="ellipse">
            <a:avLst/>
          </a:prstGeom>
          <a:solidFill>
            <a:schemeClr val="accent1"/>
          </a:solidFill>
          <a:ln/>
        </p:spPr>
      </p:sp>
      <p:sp>
        <p:nvSpPr>
          <p:cNvPr id="31" name="Schritt 2 Nummer"/>
          <p:cNvSpPr txBox="1"/>
          <p:nvPr/>
        </p:nvSpPr>
        <p:spPr>
          <a:xfrm>
            <a:off x="6172200" y="2898648"/>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2</a:t>
            </a:r>
            <a:endParaRPr lang="de-DE" sz="1600" dirty="0"/>
          </a:p>
        </p:txBody>
      </p:sp>
      <p:sp>
        <p:nvSpPr>
          <p:cNvPr id="32" name="Schritt 2 Titel"/>
          <p:cNvSpPr txBox="1"/>
          <p:nvPr/>
        </p:nvSpPr>
        <p:spPr>
          <a:xfrm>
            <a:off x="6812280" y="2852928"/>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Anmelden</a:t>
            </a:r>
            <a:endParaRPr lang="de-DE" sz="1600" dirty="0"/>
          </a:p>
        </p:txBody>
      </p:sp>
      <p:sp>
        <p:nvSpPr>
          <p:cNvPr id="33" name="Schritt 2 Text"/>
          <p:cNvSpPr txBox="1"/>
          <p:nvPr/>
        </p:nvSpPr>
        <p:spPr>
          <a:xfrm>
            <a:off x="6812280" y="3154680"/>
            <a:ext cx="4828032" cy="384048"/>
          </a:xfrm>
          <a:prstGeom prst="rect">
            <a:avLst/>
          </a:prstGeom>
          <a:noFill/>
          <a:ln/>
        </p:spPr>
        <p:txBody>
          <a:bodyPr wrap="square" lIns="0" tIns="0" rIns="0" bIns="0" rtlCol="0" anchor="t"/>
          <a:lstStyle/>
          <a:p>
            <a:pPr indent="0" marL="0">
              <a:buNone/>
            </a:pPr>
            <a:r>
              <a:rPr lang="de-DE" sz="1250" dirty="0">
                <a:solidFill>
                  <a:schemeClr val="tx1"/>
                </a:solidFill>
              </a:rPr>
              <a:t>Handelsregister, Gewerbeamt und Finanzamt</a:t>
            </a:r>
            <a:endParaRPr lang="de-DE" sz="1250" dirty="0"/>
          </a:p>
        </p:txBody>
      </p:sp>
      <p:sp>
        <p:nvSpPr>
          <p:cNvPr id="34" name="Schritt 3 Kreis"/>
          <p:cNvSpPr/>
          <p:nvPr/>
        </p:nvSpPr>
        <p:spPr>
          <a:xfrm>
            <a:off x="6172200" y="3557016"/>
            <a:ext cx="457200" cy="457200"/>
          </a:xfrm>
          <a:prstGeom prst="ellipse">
            <a:avLst/>
          </a:prstGeom>
          <a:solidFill>
            <a:schemeClr val="accent1"/>
          </a:solidFill>
          <a:ln/>
        </p:spPr>
      </p:sp>
      <p:sp>
        <p:nvSpPr>
          <p:cNvPr id="35" name="Schritt 3 Nummer"/>
          <p:cNvSpPr txBox="1"/>
          <p:nvPr/>
        </p:nvSpPr>
        <p:spPr>
          <a:xfrm>
            <a:off x="6172200" y="3557016"/>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3</a:t>
            </a:r>
            <a:endParaRPr lang="de-DE" sz="1600" dirty="0"/>
          </a:p>
        </p:txBody>
      </p:sp>
      <p:sp>
        <p:nvSpPr>
          <p:cNvPr id="36" name="Schritt 3 Titel"/>
          <p:cNvSpPr txBox="1"/>
          <p:nvPr/>
        </p:nvSpPr>
        <p:spPr>
          <a:xfrm>
            <a:off x="6812280" y="3511296"/>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Namen sichern</a:t>
            </a:r>
            <a:endParaRPr lang="de-DE" sz="1600" dirty="0"/>
          </a:p>
        </p:txBody>
      </p:sp>
      <p:sp>
        <p:nvSpPr>
          <p:cNvPr id="37" name="Schritt 3 Text"/>
          <p:cNvSpPr txBox="1"/>
          <p:nvPr/>
        </p:nvSpPr>
        <p:spPr>
          <a:xfrm>
            <a:off x="6812280" y="3813048"/>
            <a:ext cx="4828032" cy="384048"/>
          </a:xfrm>
          <a:prstGeom prst="rect">
            <a:avLst/>
          </a:prstGeom>
          <a:noFill/>
          <a:ln/>
        </p:spPr>
        <p:txBody>
          <a:bodyPr wrap="square" lIns="0" tIns="0" rIns="0" bIns="0" rtlCol="0" anchor="t"/>
          <a:lstStyle/>
          <a:p>
            <a:pPr indent="0" marL="0">
              <a:buNone/>
            </a:pPr>
            <a:r>
              <a:rPr lang="de-DE" sz="1250" dirty="0">
                <a:solidFill>
                  <a:schemeClr val="tx1"/>
                </a:solidFill>
              </a:rPr>
              <a:t>Domain lootlager.de und Marke LootLager beim DPMA anmelden</a:t>
            </a:r>
            <a:endParaRPr lang="de-DE" sz="1250" dirty="0"/>
          </a:p>
        </p:txBody>
      </p:sp>
      <p:sp>
        <p:nvSpPr>
          <p:cNvPr id="38" name="Schritt 4 Kreis"/>
          <p:cNvSpPr/>
          <p:nvPr/>
        </p:nvSpPr>
        <p:spPr>
          <a:xfrm>
            <a:off x="6172200" y="4215384"/>
            <a:ext cx="457200" cy="457200"/>
          </a:xfrm>
          <a:prstGeom prst="ellipse">
            <a:avLst/>
          </a:prstGeom>
          <a:solidFill>
            <a:schemeClr val="accent1"/>
          </a:solidFill>
          <a:ln/>
        </p:spPr>
      </p:sp>
      <p:sp>
        <p:nvSpPr>
          <p:cNvPr id="39" name="Schritt 4 Nummer"/>
          <p:cNvSpPr txBox="1"/>
          <p:nvPr/>
        </p:nvSpPr>
        <p:spPr>
          <a:xfrm>
            <a:off x="6172200" y="4215384"/>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4</a:t>
            </a:r>
            <a:endParaRPr lang="de-DE" sz="1600" dirty="0"/>
          </a:p>
        </p:txBody>
      </p:sp>
      <p:sp>
        <p:nvSpPr>
          <p:cNvPr id="40" name="Schritt 4 Titel"/>
          <p:cNvSpPr txBox="1"/>
          <p:nvPr/>
        </p:nvSpPr>
        <p:spPr>
          <a:xfrm>
            <a:off x="6812280" y="4169664"/>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Shop bauen</a:t>
            </a:r>
            <a:endParaRPr lang="de-DE" sz="1600" dirty="0"/>
          </a:p>
        </p:txBody>
      </p:sp>
      <p:sp>
        <p:nvSpPr>
          <p:cNvPr id="41" name="Schritt 4 Text"/>
          <p:cNvSpPr txBox="1"/>
          <p:nvPr/>
        </p:nvSpPr>
        <p:spPr>
          <a:xfrm>
            <a:off x="6812280" y="4471416"/>
            <a:ext cx="4828032" cy="384048"/>
          </a:xfrm>
          <a:prstGeom prst="rect">
            <a:avLst/>
          </a:prstGeom>
          <a:noFill/>
          <a:ln/>
        </p:spPr>
        <p:txBody>
          <a:bodyPr wrap="square" lIns="0" tIns="0" rIns="0" bIns="0" rtlCol="0" anchor="t"/>
          <a:lstStyle/>
          <a:p>
            <a:pPr indent="0" marL="0">
              <a:buNone/>
            </a:pPr>
            <a:r>
              <a:rPr lang="de-DE" sz="1250" dirty="0">
                <a:solidFill>
                  <a:schemeClr val="tx1"/>
                </a:solidFill>
              </a:rPr>
              <a:t>Shopify einrichten, Produkte und Rechtstexte anlegen</a:t>
            </a:r>
            <a:endParaRPr lang="de-DE" sz="1250" dirty="0"/>
          </a:p>
        </p:txBody>
      </p:sp>
      <p:sp>
        <p:nvSpPr>
          <p:cNvPr id="42" name="Schritt 5 Kreis"/>
          <p:cNvSpPr/>
          <p:nvPr/>
        </p:nvSpPr>
        <p:spPr>
          <a:xfrm>
            <a:off x="6172200" y="4873752"/>
            <a:ext cx="457200" cy="457200"/>
          </a:xfrm>
          <a:prstGeom prst="ellipse">
            <a:avLst/>
          </a:prstGeom>
          <a:solidFill>
            <a:schemeClr val="accent1"/>
          </a:solidFill>
          <a:ln/>
        </p:spPr>
      </p:sp>
      <p:sp>
        <p:nvSpPr>
          <p:cNvPr id="43" name="Schritt 5 Nummer"/>
          <p:cNvSpPr txBox="1"/>
          <p:nvPr/>
        </p:nvSpPr>
        <p:spPr>
          <a:xfrm>
            <a:off x="6172200" y="4873752"/>
            <a:ext cx="457200" cy="457200"/>
          </a:xfrm>
          <a:prstGeom prst="rect">
            <a:avLst/>
          </a:prstGeom>
          <a:noFill/>
          <a:ln/>
        </p:spPr>
        <p:txBody>
          <a:bodyPr wrap="square" lIns="0" tIns="0" rIns="0" bIns="0" rtlCol="0" anchor="ctr"/>
          <a:lstStyle/>
          <a:p>
            <a:pPr indent="0" marL="0" algn="ctr">
              <a:buNone/>
            </a:pPr>
            <a:r>
              <a:rPr lang="de-DE" sz="1600" b="1" dirty="0">
                <a:solidFill>
                  <a:schemeClr val="bg1"/>
                </a:solidFill>
              </a:rPr>
              <a:t>5</a:t>
            </a:r>
            <a:endParaRPr lang="de-DE" sz="1600" dirty="0"/>
          </a:p>
        </p:txBody>
      </p:sp>
      <p:sp>
        <p:nvSpPr>
          <p:cNvPr id="44" name="Schritt 5 Titel"/>
          <p:cNvSpPr txBox="1"/>
          <p:nvPr/>
        </p:nvSpPr>
        <p:spPr>
          <a:xfrm>
            <a:off x="6812280" y="4828032"/>
            <a:ext cx="4828032" cy="292608"/>
          </a:xfrm>
          <a:prstGeom prst="rect">
            <a:avLst/>
          </a:prstGeom>
          <a:noFill/>
          <a:ln/>
        </p:spPr>
        <p:txBody>
          <a:bodyPr wrap="square" lIns="0" tIns="0" rIns="0" bIns="0" rtlCol="0" anchor="ctr"/>
          <a:lstStyle/>
          <a:p>
            <a:pPr indent="0" marL="0">
              <a:buNone/>
            </a:pPr>
            <a:r>
              <a:rPr lang="de-DE" sz="1600" b="1" dirty="0">
                <a:solidFill>
                  <a:schemeClr val="tx1"/>
                </a:solidFill>
              </a:rPr>
              <a:t>Live gehen</a:t>
            </a:r>
            <a:endParaRPr lang="de-DE" sz="1600" dirty="0"/>
          </a:p>
        </p:txBody>
      </p:sp>
      <p:sp>
        <p:nvSpPr>
          <p:cNvPr id="45" name="Schritt 5 Text"/>
          <p:cNvSpPr txBox="1"/>
          <p:nvPr/>
        </p:nvSpPr>
        <p:spPr>
          <a:xfrm>
            <a:off x="6812280" y="5129784"/>
            <a:ext cx="4828032" cy="384048"/>
          </a:xfrm>
          <a:prstGeom prst="rect">
            <a:avLst/>
          </a:prstGeom>
          <a:noFill/>
          <a:ln/>
        </p:spPr>
        <p:txBody>
          <a:bodyPr wrap="square" lIns="0" tIns="0" rIns="0" bIns="0" rtlCol="0" anchor="t"/>
          <a:lstStyle/>
          <a:p>
            <a:pPr indent="0" marL="0">
              <a:buNone/>
            </a:pPr>
            <a:r>
              <a:rPr lang="de-DE" sz="1250" dirty="0">
                <a:solidFill>
                  <a:schemeClr val="tx1"/>
                </a:solidFill>
              </a:rPr>
              <a:t>Testbestellung machen, dann Start mit Werbung auf Instagram und TikTok</a:t>
            </a:r>
            <a:endParaRPr lang="de-DE" sz="1250" dirty="0"/>
          </a:p>
        </p:txBody>
      </p:sp>
      <p:sp>
        <p:nvSpPr>
          <p:cNvPr id="46" name="Quellen"/>
          <p:cNvSpPr txBox="1"/>
          <p:nvPr/>
        </p:nvSpPr>
        <p:spPr>
          <a:xfrm>
            <a:off x="548640" y="5559552"/>
            <a:ext cx="11091672" cy="457200"/>
          </a:xfrm>
          <a:prstGeom prst="rect">
            <a:avLst/>
          </a:prstGeom>
          <a:noFill/>
          <a:ln/>
        </p:spPr>
        <p:txBody>
          <a:bodyPr wrap="square" lIns="0" tIns="0" rIns="0" bIns="0" rtlCol="0" anchor="t"/>
          <a:lstStyle/>
          <a:p>
            <a:pPr indent="0" marL="0">
              <a:buNone/>
            </a:pPr>
            <a:r>
              <a:rPr lang="de-DE" sz="1000" b="1" dirty="0">
                <a:solidFill>
                  <a:schemeClr val="accent6"/>
                </a:solidFill>
              </a:rPr>
              <a:t>Quellen: </a:t>
            </a:r>
            <a:r>
              <a:rPr lang="de-DE" sz="1000" dirty="0">
                <a:solidFill>
                  <a:schemeClr val="accent6"/>
                </a:solidFill>
              </a:rPr>
              <a:t>HGB §§ 17–19, GmbHG §§ 4 und 5a, BGB § 312g · Preise und Funktionen der Shopsysteme: Preisvergleiche auf qualimero.com, l-iz.de und tooltester.com (abgerufen am 07.10.2026) · Logo: ChatGPT (KI)</a:t>
            </a:r>
            <a:endParaRPr lang="de-DE" sz="1000" dirty="0"/>
          </a:p>
        </p:txBody>
      </p:sp>
      <p:sp>
        <p:nvSpPr>
          <p:cNvPr id="47" name="Slide Number Placeholder 0"/>
          <p:cNvSpPr>
            <a:spLocks noGrp="1"/>
          </p:cNvSpPr>
          <p:nvPr>
            <p:ph type="sldNum" sz="quarter" idx="4294967295"/>
          </p:nvPr>
        </p:nvSpPr>
        <p:spPr>
          <a:xfrm>
            <a:off x="548640" y="6263640"/>
            <a:ext cx="548640" cy="365760"/>
          </a:xfrm>
          <a:prstGeom prst="rect">
            <a:avLst/>
          </a:prstGeom>
          <a:extLst>
            <a:ext uri="{C572A759-6A51-4108-AA02-DFA0A04FC94B}">
              <ma14:wrappingTextBoxFlag xmlns:ma14="http://schemas.microsoft.com/office/mac/drawingml/2011/main" val="0"/>
            </a:ext>
          </a:extLst>
        </p:spPr>
        <p:txBody>
          <a:bodyPr lIns="0" tIns="0" rIns="0" bIns="0"/>
          <a:lstStyle>
            <a:lvl1pPr>
              <a:defRPr sz="1100">
                <a:solidFill>
                  <a:schemeClr val="accent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LootLager">
  <a:themeElements>
    <a:clrScheme name="LootLager">
      <a:dk1>
        <a:srgbClr val="111827"/>
      </a:dk1>
      <a:lt1>
        <a:srgbClr val="FFFFFF"/>
      </a:lt1>
      <a:dk2>
        <a:srgbClr val="2E1065"/>
      </a:dk2>
      <a:lt2>
        <a:srgbClr val="F3EEFF"/>
      </a:lt2>
      <a:accent1>
        <a:srgbClr val="7C3AED"/>
      </a:accent1>
      <a:accent2>
        <a:srgbClr val="22D3EE"/>
      </a:accent2>
      <a:accent3>
        <a:srgbClr val="F5B82E"/>
      </a:accent3>
      <a:accent4>
        <a:srgbClr val="0E7490"/>
      </a:accent4>
      <a:accent5>
        <a:srgbClr val="C4B5FD"/>
      </a:accent5>
      <a:accent6>
        <a:srgbClr val="5B6472"/>
      </a:accent6>
      <a:hlink>
        <a:srgbClr val="7C3AED"/>
      </a:hlink>
      <a:folHlink>
        <a:srgbClr val="5B21B6"/>
      </a:folHlink>
    </a:clrScheme>
    <a:fontScheme name="LootLag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LootLager UG (haftungsbeschränkt)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LootLager – Präsentation</dc:title>
  <dc:subject>Gründung der LootLager UG (haftungsbeschränkt)</dc:subject>
  <dc:creator>Gruppe LootLager</dc:creator>
  <cp:lastModifiedBy>Gruppe LootLager</cp:lastModifiedBy>
  <cp:revision>1</cp:revision>
  <dcterms:created xsi:type="dcterms:W3CDTF">2026-10-06T12:57:31Z</dcterms:created>
  <dcterms:modified xsi:type="dcterms:W3CDTF">2026-10-06T12:57:31Z</dcterms:modified>
</cp:coreProperties>
</file>